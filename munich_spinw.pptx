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5"/>
  </p:notesMasterIdLst>
  <p:sldIdLst>
    <p:sldId id="257" r:id="rId5"/>
    <p:sldId id="520" r:id="rId6"/>
    <p:sldId id="466" r:id="rId7"/>
    <p:sldId id="467" r:id="rId8"/>
    <p:sldId id="468" r:id="rId9"/>
    <p:sldId id="472" r:id="rId10"/>
    <p:sldId id="470" r:id="rId11"/>
    <p:sldId id="473" r:id="rId12"/>
    <p:sldId id="474" r:id="rId13"/>
    <p:sldId id="475" r:id="rId14"/>
    <p:sldId id="480" r:id="rId15"/>
    <p:sldId id="481" r:id="rId16"/>
    <p:sldId id="482" r:id="rId17"/>
    <p:sldId id="486" r:id="rId18"/>
    <p:sldId id="517" r:id="rId19"/>
    <p:sldId id="518" r:id="rId20"/>
    <p:sldId id="376" r:id="rId21"/>
    <p:sldId id="483" r:id="rId22"/>
    <p:sldId id="490" r:id="rId23"/>
    <p:sldId id="484" r:id="rId24"/>
    <p:sldId id="506" r:id="rId25"/>
    <p:sldId id="507" r:id="rId26"/>
    <p:sldId id="492" r:id="rId27"/>
    <p:sldId id="380" r:id="rId28"/>
    <p:sldId id="519" r:id="rId29"/>
    <p:sldId id="476" r:id="rId30"/>
    <p:sldId id="477" r:id="rId31"/>
    <p:sldId id="515" r:id="rId32"/>
    <p:sldId id="516" r:id="rId33"/>
    <p:sldId id="487" r:id="rId34"/>
    <p:sldId id="488" r:id="rId35"/>
    <p:sldId id="489" r:id="rId36"/>
    <p:sldId id="491" r:id="rId37"/>
    <p:sldId id="493" r:id="rId38"/>
    <p:sldId id="392" r:id="rId39"/>
    <p:sldId id="494" r:id="rId40"/>
    <p:sldId id="478" r:id="rId41"/>
    <p:sldId id="521" r:id="rId42"/>
    <p:sldId id="501" r:id="rId43"/>
    <p:sldId id="504" r:id="rId44"/>
    <p:sldId id="505" r:id="rId45"/>
    <p:sldId id="508" r:id="rId46"/>
    <p:sldId id="479" r:id="rId47"/>
    <p:sldId id="522" r:id="rId48"/>
    <p:sldId id="346" r:id="rId49"/>
    <p:sldId id="509" r:id="rId50"/>
    <p:sldId id="511" r:id="rId51"/>
    <p:sldId id="513" r:id="rId52"/>
    <p:sldId id="514" r:id="rId53"/>
    <p:sldId id="496" r:id="rId54"/>
    <p:sldId id="523" r:id="rId55"/>
    <p:sldId id="495" r:id="rId56"/>
    <p:sldId id="502" r:id="rId57"/>
    <p:sldId id="503" r:id="rId58"/>
    <p:sldId id="419" r:id="rId59"/>
    <p:sldId id="398" r:id="rId60"/>
    <p:sldId id="512" r:id="rId61"/>
    <p:sldId id="498" r:id="rId62"/>
    <p:sldId id="499" r:id="rId63"/>
    <p:sldId id="500" r:id="rId6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4">
          <p15:clr>
            <a:srgbClr val="A4A3A4"/>
          </p15:clr>
        </p15:guide>
        <p15:guide id="2" pos="688">
          <p15:clr>
            <a:srgbClr val="A4A3A4"/>
          </p15:clr>
        </p15:guide>
        <p15:guide id="3" orient="horz" pos="3997">
          <p15:clr>
            <a:srgbClr val="A4A3A4"/>
          </p15:clr>
        </p15:guide>
        <p15:guide id="4" pos="7355">
          <p15:clr>
            <a:srgbClr val="A4A3A4"/>
          </p15:clr>
        </p15:guide>
        <p15:guide id="5" pos="3840">
          <p15:clr>
            <a:srgbClr val="A4A3A4"/>
          </p15:clr>
        </p15:guide>
        <p15:guide id="6" orient="horz" pos="4065">
          <p15:clr>
            <a:srgbClr val="A4A3A4"/>
          </p15:clr>
        </p15:guide>
        <p15:guide id="7" pos="1980">
          <p15:clr>
            <a:srgbClr val="A4A3A4"/>
          </p15:clr>
        </p15:guide>
        <p15:guide id="8" orient="horz" pos="686">
          <p15:clr>
            <a:srgbClr val="A4A3A4"/>
          </p15:clr>
        </p15:guide>
        <p15:guide id="9" orient="horz" pos="232">
          <p15:clr>
            <a:srgbClr val="A4A3A4"/>
          </p15:clr>
        </p15:guide>
        <p15:guide id="10" pos="2275">
          <p15:clr>
            <a:srgbClr val="A4A3A4"/>
          </p15:clr>
        </p15:guide>
        <p15:guide id="11" pos="5790">
          <p15:clr>
            <a:srgbClr val="A4A3A4"/>
          </p15:clr>
        </p15:guide>
        <p15:guide id="12" orient="horz" pos="4156">
          <p15:clr>
            <a:srgbClr val="A4A3A4"/>
          </p15:clr>
        </p15:guide>
        <p15:guide id="13" orient="horz" pos="3657">
          <p15:clr>
            <a:srgbClr val="A4A3A4"/>
          </p15:clr>
        </p15:guide>
        <p15:guide id="14" pos="234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66" roundtripDataSignature="AMtx7mhFeZ9bPB5pZ+vMpCVUqb0ZtJqU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DF8"/>
    <a:srgbClr val="626262"/>
    <a:srgbClr val="F08900"/>
    <a:srgbClr val="003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5FAEA-069B-9CDA-72C9-3E8029AAAF12}" v="1823" dt="2026-04-15T04:37:22.510"/>
    <p1510:client id="{28839BDE-CB31-19D1-35C6-101B6388A012}" v="2368" dt="2026-04-14T17:54:18.611"/>
    <p1510:client id="{4423874C-2565-622C-2617-08C18850C704}" v="65" dt="2026-04-14T17:55:58.301"/>
    <p1510:client id="{525C5E28-4B86-CEE4-11D8-944EE4E814AF}" v="33" dt="2026-04-15T09:10:48.197"/>
    <p1510:client id="{6CF0678D-CE35-0D4B-5C2A-A5C2D5CC9619}" v="177" dt="2026-04-14T18:27:57.347"/>
    <p1510:client id="{707FBB03-B791-9598-8591-3CF31CFCDFA3}" v="1412" dt="2026-04-14T20:54:55.775"/>
    <p1510:client id="{BD268F4A-24A1-5A0C-815C-E4069E044DA4}" v="3965" dt="2026-04-14T21:19:07.335"/>
    <p1510:client id="{D33088CF-69D0-266E-2F11-F4DD00F04A42}" v="1329" dt="2026-04-15T01:06:03.204"/>
    <p1510:client id="{FAFE3F4B-7DB4-4608-20AE-A1296E709D54}" v="196" dt="2026-04-14T18:02:18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954"/>
        <p:guide pos="688"/>
        <p:guide orient="horz" pos="3997"/>
        <p:guide pos="7355"/>
        <p:guide pos="3840"/>
        <p:guide orient="horz" pos="4065"/>
        <p:guide pos="1980"/>
        <p:guide orient="horz" pos="686"/>
        <p:guide orient="horz" pos="232"/>
        <p:guide pos="2275"/>
        <p:guide pos="5790"/>
        <p:guide orient="horz" pos="4156"/>
        <p:guide orient="horz" pos="3657"/>
        <p:guide pos="23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customschemas.google.com/relationships/presentationmetadata" Target="metadata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/>
              <a:t>The abstract pattern can be removed or repositioned if required. Be careful to ‘Send to Back’ so that it does not obscure any important information.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/>
              <a:t>The abstract pattern can be removed or repositioned if required. Be careful to ‘Send to Back’ so that it does not obscure any important information.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60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" name="Google Shape;30;p30"/>
          <p:cNvSpPr txBox="1">
            <a:spLocks noGrp="1"/>
          </p:cNvSpPr>
          <p:nvPr>
            <p:ph type="title"/>
          </p:nvPr>
        </p:nvSpPr>
        <p:spPr>
          <a:xfrm>
            <a:off x="403172" y="345182"/>
            <a:ext cx="10732602" cy="74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31;p30"/>
          <p:cNvSpPr txBox="1">
            <a:spLocks noGrp="1"/>
          </p:cNvSpPr>
          <p:nvPr>
            <p:ph type="body" idx="1"/>
          </p:nvPr>
        </p:nvSpPr>
        <p:spPr>
          <a:xfrm>
            <a:off x="416314" y="1387943"/>
            <a:ext cx="10719460" cy="401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defRPr sz="2400">
                <a:solidFill>
                  <a:srgbClr val="62626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C8C9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C8C9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C8C9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C8C9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C8C9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8C9C"/>
              </a:buClr>
              <a:buSzPts val="1600"/>
              <a:buNone/>
              <a:defRPr sz="1600">
                <a:solidFill>
                  <a:srgbClr val="8C8C9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8C9C"/>
              </a:buClr>
              <a:buSzPts val="1600"/>
              <a:buNone/>
              <a:defRPr sz="1600">
                <a:solidFill>
                  <a:srgbClr val="8C8C9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8C9C"/>
              </a:buClr>
              <a:buSzPts val="1600"/>
              <a:buNone/>
              <a:defRPr sz="1600">
                <a:solidFill>
                  <a:srgbClr val="8C8C9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8C9C"/>
              </a:buClr>
              <a:buSzPts val="1600"/>
              <a:buNone/>
              <a:defRPr sz="1600">
                <a:solidFill>
                  <a:srgbClr val="8C8C9C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▪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pPr lvl="0"/>
            <a:r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5468029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7200" y="5558685"/>
            <a:ext cx="2353242" cy="12132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pos="166">
          <p15:clr>
            <a:srgbClr val="F26B43"/>
          </p15:clr>
        </p15:guide>
        <p15:guide id="7" pos="778">
          <p15:clr>
            <a:srgbClr val="F26B43"/>
          </p15:clr>
        </p15:guide>
        <p15:guide id="8" pos="1504">
          <p15:clr>
            <a:srgbClr val="F26B43"/>
          </p15:clr>
        </p15:guide>
        <p15:guide id="9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402.6069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spinw/pySpinW/" TargetMode="External"/><Relationship Id="rId2" Type="http://schemas.openxmlformats.org/officeDocument/2006/relationships/hyperlink" Target="http://www.spinw.or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ithub.com/spinw/munich26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pinw/pyspinw/issue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hub.com/spinw/munich26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hub.com/spinw/munich26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hub.com/spinw/munich26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spinw.org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hub.com/spinw/munich26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spinw.org/RealWorldExample/matlab/prcasrmn2o7.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hub.com/spinw/munich26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4163568" y="-18288"/>
            <a:ext cx="8028432" cy="6876288"/>
          </a:xfrm>
          <a:custGeom>
            <a:avLst/>
            <a:gdLst>
              <a:gd name="connsiteX0" fmla="*/ 0 w 8028432"/>
              <a:gd name="connsiteY0" fmla="*/ 9144 h 6876288"/>
              <a:gd name="connsiteX1" fmla="*/ 5266944 w 8028432"/>
              <a:gd name="connsiteY1" fmla="*/ 6876288 h 6876288"/>
              <a:gd name="connsiteX2" fmla="*/ 5760720 w 8028432"/>
              <a:gd name="connsiteY2" fmla="*/ 6867144 h 6876288"/>
              <a:gd name="connsiteX3" fmla="*/ 5760720 w 8028432"/>
              <a:gd name="connsiteY3" fmla="*/ 1883664 h 6876288"/>
              <a:gd name="connsiteX4" fmla="*/ 8028432 w 8028432"/>
              <a:gd name="connsiteY4" fmla="*/ 1874520 h 6876288"/>
              <a:gd name="connsiteX5" fmla="*/ 8019288 w 8028432"/>
              <a:gd name="connsiteY5" fmla="*/ 0 h 6876288"/>
              <a:gd name="connsiteX6" fmla="*/ 0 w 8028432"/>
              <a:gd name="connsiteY6" fmla="*/ 9144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28432" h="6876288">
                <a:moveTo>
                  <a:pt x="0" y="9144"/>
                </a:moveTo>
                <a:lnTo>
                  <a:pt x="5266944" y="6876288"/>
                </a:lnTo>
                <a:lnTo>
                  <a:pt x="5760720" y="6867144"/>
                </a:lnTo>
                <a:lnTo>
                  <a:pt x="5760720" y="1883664"/>
                </a:lnTo>
                <a:lnTo>
                  <a:pt x="8028432" y="1874520"/>
                </a:lnTo>
                <a:lnTo>
                  <a:pt x="8019288" y="0"/>
                </a:lnTo>
                <a:lnTo>
                  <a:pt x="0" y="9144"/>
                </a:lnTo>
                <a:close/>
              </a:path>
            </a:pathLst>
          </a:custGeom>
          <a:solidFill>
            <a:srgbClr val="1E5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4" name="Google Shape;254;p2"/>
          <p:cNvSpPr txBox="1"/>
          <p:nvPr/>
        </p:nvSpPr>
        <p:spPr>
          <a:xfrm>
            <a:off x="970993" y="2339208"/>
            <a:ext cx="5468308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4800"/>
            </a:pPr>
            <a:r>
              <a:rPr lang="en-GB" sz="3600" b="1">
                <a:solidFill>
                  <a:srgbClr val="002060"/>
                </a:solidFill>
              </a:rPr>
              <a:t>Linear Spin Wave Calculations with SpinW</a:t>
            </a:r>
          </a:p>
        </p:txBody>
      </p:sp>
      <p:sp>
        <p:nvSpPr>
          <p:cNvPr id="255" name="Google Shape;255;p2"/>
          <p:cNvSpPr/>
          <p:nvPr/>
        </p:nvSpPr>
        <p:spPr>
          <a:xfrm>
            <a:off x="717767" y="5656636"/>
            <a:ext cx="859504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GB" sz="2400" b="1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rPr>
              <a:t>Duc Le</a:t>
            </a:r>
            <a:r>
              <a:rPr lang="en-GB" sz="2400" b="1">
                <a:solidFill>
                  <a:srgbClr val="626262"/>
                </a:solidFill>
              </a:rPr>
              <a:t> &amp; Lucas Wilkins</a:t>
            </a:r>
            <a:endParaRPr lang="en-GB" sz="2400">
              <a:solidFill>
                <a:srgbClr val="626262"/>
              </a:solidFill>
            </a:endParaRPr>
          </a:p>
          <a:p>
            <a:pPr lvl="0">
              <a:buSzPts val="2400"/>
            </a:pPr>
            <a:r>
              <a:rPr lang="en-GB" sz="2400">
                <a:solidFill>
                  <a:srgbClr val="626262"/>
                </a:solidFill>
              </a:rPr>
              <a:t>Magnetic Neutron Scattering Data Analysis Workshop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5460" y="0"/>
            <a:ext cx="328653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" y="138900"/>
            <a:ext cx="3626894" cy="186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C595-7C2E-0D0B-3382-0412E916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Before we begin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2EFA8-0E8D-1872-BF92-CCB31FA26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/>
              <a:t>Last night we fixed a bug related to today's tutorial...</a:t>
            </a:r>
          </a:p>
          <a:p>
            <a:pPr marL="114300" indent="0">
              <a:buNone/>
            </a:pPr>
            <a:endParaRPr lang="en-GB"/>
          </a:p>
          <a:p>
            <a:pPr marL="114300" indent="0">
              <a:buNone/>
            </a:pPr>
            <a:r>
              <a:rPr lang="en-GB"/>
              <a:t>Please run:</a:t>
            </a:r>
          </a:p>
          <a:p>
            <a:pPr marL="114300" indent="0">
              <a:buNone/>
            </a:pPr>
            <a:endParaRPr lang="en-GB"/>
          </a:p>
          <a:p>
            <a:pPr marL="114300" indent="0">
              <a:buNone/>
            </a:pPr>
            <a:r>
              <a:rPr lang="en-GB">
                <a:solidFill>
                  <a:srgbClr val="333333"/>
                </a:solidFill>
                <a:latin typeface="Consolas"/>
              </a:rPr>
              <a:t>pip</a:t>
            </a:r>
            <a:r>
              <a:rPr lang="en-GB">
                <a:solidFill>
                  <a:srgbClr val="BBBBBB"/>
                </a:solidFill>
                <a:latin typeface="Consolas"/>
              </a:rPr>
              <a:t> </a:t>
            </a:r>
            <a:r>
              <a:rPr lang="en-GB">
                <a:solidFill>
                  <a:srgbClr val="333333"/>
                </a:solidFill>
                <a:latin typeface="Consolas"/>
              </a:rPr>
              <a:t>install</a:t>
            </a:r>
            <a:r>
              <a:rPr lang="en-GB">
                <a:solidFill>
                  <a:srgbClr val="BBBBBB"/>
                </a:solidFill>
                <a:latin typeface="Consolas"/>
              </a:rPr>
              <a:t> </a:t>
            </a:r>
            <a:r>
              <a:rPr lang="en-GB">
                <a:solidFill>
                  <a:srgbClr val="333333"/>
                </a:solidFill>
                <a:latin typeface="Consolas"/>
              </a:rPr>
              <a:t>--upgrade</a:t>
            </a:r>
            <a:r>
              <a:rPr lang="en-GB">
                <a:solidFill>
                  <a:srgbClr val="BBBBBB"/>
                </a:solidFill>
                <a:latin typeface="Consolas"/>
              </a:rPr>
              <a:t> </a:t>
            </a:r>
            <a:r>
              <a:rPr lang="en-GB" err="1">
                <a:solidFill>
                  <a:srgbClr val="333333"/>
                </a:solidFill>
                <a:latin typeface="Consolas"/>
              </a:rPr>
              <a:t>spinw</a:t>
            </a:r>
            <a:r>
              <a:rPr lang="en-GB">
                <a:solidFill>
                  <a:srgbClr val="333333"/>
                </a:solidFill>
                <a:latin typeface="Consolas"/>
              </a:rPr>
              <a:t>-python</a:t>
            </a:r>
            <a:endParaRPr lang="en-GB"/>
          </a:p>
          <a:p>
            <a:pPr marL="114300" indent="0">
              <a:buNone/>
            </a:pPr>
            <a:endParaRPr lang="en-GB">
              <a:solidFill>
                <a:srgbClr val="333333"/>
              </a:solidFill>
              <a:latin typeface="Consolas"/>
            </a:endParaRPr>
          </a:p>
          <a:p>
            <a:pPr marL="114300" indent="0">
              <a:buNone/>
            </a:pPr>
            <a:r>
              <a:rPr lang="en-GB">
                <a:solidFill>
                  <a:srgbClr val="333333"/>
                </a:solidFill>
              </a:rPr>
              <a:t>in your virtual environment</a:t>
            </a:r>
            <a:endParaRPr lang="en-GB">
              <a:solidFill>
                <a:srgbClr val="333333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1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A0525-461B-20A6-73E1-C80728C2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61FA-C3A5-24CD-A890-FEBCB8CE4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GB"/>
              <a:t>Linear Spin Wave Theory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Magnetic Hamiltonian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Holstein-</a:t>
            </a:r>
            <a:r>
              <a:rPr lang="en-GB" sz="1600" err="1"/>
              <a:t>Primakoff</a:t>
            </a:r>
            <a:r>
              <a:rPr lang="en-GB" sz="1600"/>
              <a:t> expansion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Diagonalisation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Incommensurate single-k structure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GB" sz="1600"/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GB" err="1"/>
              <a:t>SpinW</a:t>
            </a:r>
            <a:endParaRPr lang="en-GB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Hamiltonian parameters (exchange, anisotropy) input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Magnetic structure input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Plotting the model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Structure refinement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1600"/>
              <a:t>Dispersion calculation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GB" sz="1600"/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GB" sz="1600"/>
          </a:p>
          <a:p>
            <a:pPr indent="-45720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19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ED97-D7FE-4878-05E2-BA409C60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Hamiltonian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E36F4-6CB2-13E4-6621-D5EFA74AE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314" y="1387942"/>
            <a:ext cx="10719460" cy="4422015"/>
          </a:xfrm>
        </p:spPr>
        <p:txBody>
          <a:bodyPr>
            <a:normAutofit fontScale="92500" lnSpcReduction="20000"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 err="1"/>
              <a:t>SpinW</a:t>
            </a:r>
            <a:r>
              <a:rPr lang="en-GB"/>
              <a:t> can solve the magnetic Hamiltonian: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It uses the convention that: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1600"/>
              <a:t>Positive values of the exchange J means an </a:t>
            </a:r>
            <a:r>
              <a:rPr lang="en-GB" sz="1600" b="1"/>
              <a:t>anti</a:t>
            </a:r>
            <a:r>
              <a:rPr lang="en-GB" sz="1600"/>
              <a:t>ferromagnetic interaction.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1600"/>
              <a:t>Positive values of the single ion anisotropy A means an </a:t>
            </a:r>
            <a:r>
              <a:rPr lang="en-GB" sz="1600" b="1"/>
              <a:t>easy-plane</a:t>
            </a:r>
            <a:r>
              <a:rPr lang="en-GB" sz="1600"/>
              <a:t> anisotropy.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 sz="1000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The Hamiltonian above usually leads to magnetic ordering below a critical temperature.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Spin waves are the collective excitations of this ordered state.</a:t>
            </a:r>
          </a:p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096" y="1931451"/>
            <a:ext cx="4123809" cy="47619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3835881" y="1831865"/>
            <a:ext cx="1699403" cy="1236145"/>
            <a:chOff x="2311880" y="1745604"/>
            <a:chExt cx="1699403" cy="1236145"/>
          </a:xfrm>
        </p:grpSpPr>
        <p:sp>
          <p:nvSpPr>
            <p:cNvPr id="11" name="TextBox 10"/>
            <p:cNvSpPr txBox="1"/>
            <p:nvPr/>
          </p:nvSpPr>
          <p:spPr>
            <a:xfrm>
              <a:off x="2311880" y="2458529"/>
              <a:ext cx="1556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rgbClr val="FF0000"/>
                  </a:solidFill>
                </a:rPr>
                <a:t>General bi-linear </a:t>
              </a:r>
            </a:p>
            <a:p>
              <a:r>
                <a:rPr lang="en-GB">
                  <a:solidFill>
                    <a:srgbClr val="FF0000"/>
                  </a:solidFill>
                </a:rPr>
                <a:t>interactions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889849" y="1745604"/>
              <a:ext cx="1121434" cy="6439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677354" y="1828990"/>
            <a:ext cx="1039748" cy="1239019"/>
            <a:chOff x="4153354" y="1742729"/>
            <a:chExt cx="1039748" cy="1239019"/>
          </a:xfrm>
        </p:grpSpPr>
        <p:sp>
          <p:nvSpPr>
            <p:cNvPr id="12" name="TextBox 11"/>
            <p:cNvSpPr txBox="1"/>
            <p:nvPr/>
          </p:nvSpPr>
          <p:spPr>
            <a:xfrm>
              <a:off x="4153354" y="2458528"/>
              <a:ext cx="9813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5"/>
                  </a:solidFill>
                </a:rPr>
                <a:t>Single-ion</a:t>
              </a:r>
            </a:p>
            <a:p>
              <a:r>
                <a:rPr lang="en-GB" err="1">
                  <a:solidFill>
                    <a:schemeClr val="accent5"/>
                  </a:solidFill>
                </a:rPr>
                <a:t>anistropy</a:t>
              </a:r>
              <a:endParaRPr lang="en-GB">
                <a:solidFill>
                  <a:schemeClr val="accent5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189557" y="1742729"/>
              <a:ext cx="1003545" cy="643913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944257" y="1826114"/>
            <a:ext cx="1628546" cy="1250520"/>
            <a:chOff x="5420257" y="1739854"/>
            <a:chExt cx="1628546" cy="1250520"/>
          </a:xfrm>
        </p:grpSpPr>
        <p:sp>
          <p:nvSpPr>
            <p:cNvPr id="13" name="TextBox 12"/>
            <p:cNvSpPr txBox="1"/>
            <p:nvPr/>
          </p:nvSpPr>
          <p:spPr>
            <a:xfrm>
              <a:off x="5490363" y="2467154"/>
              <a:ext cx="15584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6">
                      <a:lumMod val="75000"/>
                    </a:schemeClr>
                  </a:solidFill>
                </a:rPr>
                <a:t>Applied magnetic</a:t>
              </a:r>
            </a:p>
            <a:p>
              <a:r>
                <a:rPr lang="en-GB">
                  <a:solidFill>
                    <a:schemeClr val="accent6">
                      <a:lumMod val="75000"/>
                    </a:schemeClr>
                  </a:solidFill>
                </a:rPr>
                <a:t>field (Zeeman)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420257" y="1739854"/>
              <a:ext cx="1213647" cy="643913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9545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4041805" y="1578803"/>
            <a:ext cx="4399638" cy="991867"/>
            <a:chOff x="3782258" y="2154773"/>
            <a:chExt cx="4865722" cy="109694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2258" y="2154773"/>
              <a:ext cx="4865722" cy="1096942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10" name="Oval 9"/>
            <p:cNvSpPr/>
            <p:nvPr/>
          </p:nvSpPr>
          <p:spPr>
            <a:xfrm>
              <a:off x="3994030" y="2449900"/>
              <a:ext cx="467256" cy="218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/>
            <p:cNvSpPr/>
            <p:nvPr/>
          </p:nvSpPr>
          <p:spPr>
            <a:xfrm>
              <a:off x="4767524" y="2455654"/>
              <a:ext cx="457200" cy="218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/>
            <p:cNvSpPr/>
            <p:nvPr/>
          </p:nvSpPr>
          <p:spPr>
            <a:xfrm>
              <a:off x="5541018" y="2470034"/>
              <a:ext cx="457200" cy="218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/>
            <p:cNvSpPr/>
            <p:nvPr/>
          </p:nvSpPr>
          <p:spPr>
            <a:xfrm>
              <a:off x="6285774" y="2490157"/>
              <a:ext cx="467256" cy="218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/>
            <p:cNvSpPr/>
            <p:nvPr/>
          </p:nvSpPr>
          <p:spPr>
            <a:xfrm>
              <a:off x="7059268" y="2513163"/>
              <a:ext cx="457200" cy="218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/>
            <p:cNvSpPr/>
            <p:nvPr/>
          </p:nvSpPr>
          <p:spPr>
            <a:xfrm>
              <a:off x="7832762" y="2527543"/>
              <a:ext cx="457200" cy="218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025765-D1AF-4ABF-A5D4-EBB30070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Steps in a Spin Wave Calculation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4268E-FA7D-7495-5ACF-6BD759BF8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Spin waves arise from deviations of the ordered magnetic state.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We use the spin deviations as the basis states for calculating the magnetic Hamiltonian.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The Hamiltonian is then partly solved by a Fourier transform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1600"/>
              <a:t>For a ferromagnet the FT diagonalises the Hamiltonian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1600"/>
              <a:t>More generally another transformation is required to diagonalise </a:t>
            </a:r>
            <a:r>
              <a:rPr lang="en-GB" sz="1600" i="1"/>
              <a:t>H</a:t>
            </a:r>
            <a:r>
              <a:rPr lang="en-GB" sz="1600"/>
              <a:t>.</a:t>
            </a:r>
          </a:p>
          <a:p>
            <a:pPr marL="685800" lvl="1" indent="0">
              <a:buNone/>
            </a:pPr>
            <a:endParaRPr lang="en-GB" sz="1600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The eigenvalues of </a:t>
            </a:r>
            <a:r>
              <a:rPr lang="en-GB" i="1"/>
              <a:t>H</a:t>
            </a:r>
            <a:r>
              <a:rPr lang="en-GB"/>
              <a:t>(</a:t>
            </a:r>
            <a:r>
              <a:rPr lang="en-GB" b="1" i="1"/>
              <a:t>q</a:t>
            </a:r>
            <a:r>
              <a:rPr lang="en-GB"/>
              <a:t>) gives the magnon energies and the eigenvectors can be used to calculate the spin-spin correlation function and INS intensity.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44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F308-085E-82BA-AF65-CE993C52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Holstein-</a:t>
            </a:r>
            <a:r>
              <a:rPr lang="en-GB" err="1"/>
              <a:t>Primakoff</a:t>
            </a:r>
            <a:r>
              <a:rPr lang="en-GB"/>
              <a:t>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C2BB7-B990-33E9-3DD6-5ED3C557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314" y="1148786"/>
            <a:ext cx="7939895" cy="1242715"/>
          </a:xfrm>
        </p:spPr>
        <p:txBody>
          <a:bodyPr>
            <a:normAutofit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 sz="1800">
                <a:solidFill>
                  <a:schemeClr val="tx1"/>
                </a:solidFill>
              </a:rPr>
              <a:t>Express </a:t>
            </a:r>
            <a:r>
              <a:rPr lang="en-GB" sz="1800"/>
              <a:t>the spin operators                               as the ladder operators: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1800"/>
              <a:t>Map the raising / lowering operators to bosonic creation and annihilation operators            taking only terms linear in </a:t>
            </a:r>
          </a:p>
          <a:p>
            <a:endParaRPr lang="en-GB" sz="1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3384BF-708D-52E6-280D-3243DA96952B}"/>
              </a:ext>
            </a:extLst>
          </p:cNvPr>
          <p:cNvGrpSpPr/>
          <p:nvPr/>
        </p:nvGrpSpPr>
        <p:grpSpPr>
          <a:xfrm>
            <a:off x="3763177" y="1179713"/>
            <a:ext cx="5315395" cy="288157"/>
            <a:chOff x="3664701" y="934450"/>
            <a:chExt cx="5315395" cy="2881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82133D-DD9C-A635-D3F7-AEC28219A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4701" y="941160"/>
              <a:ext cx="1689761" cy="28144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8999795-B875-084E-B7C2-B929C58AC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1636" y="934450"/>
              <a:ext cx="1058460" cy="281447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620EB49-10E2-7371-AAD6-F6712FCA5D22}"/>
              </a:ext>
            </a:extLst>
          </p:cNvPr>
          <p:cNvGrpSpPr/>
          <p:nvPr/>
        </p:nvGrpSpPr>
        <p:grpSpPr>
          <a:xfrm>
            <a:off x="1962008" y="1878624"/>
            <a:ext cx="3807465" cy="243742"/>
            <a:chOff x="1997985" y="1591309"/>
            <a:chExt cx="3807465" cy="2437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695812-DDE3-4184-9A69-9E45EB110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97985" y="1591309"/>
              <a:ext cx="425303" cy="24374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C148E3-C5FF-C5AE-C541-82EAD3D92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0147" y="1591309"/>
              <a:ext cx="425303" cy="24374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2D34D66-011E-7BCC-9924-8D5A7A7C4916}"/>
              </a:ext>
            </a:extLst>
          </p:cNvPr>
          <p:cNvSpPr txBox="1"/>
          <p:nvPr/>
        </p:nvSpPr>
        <p:spPr>
          <a:xfrm>
            <a:off x="5152836" y="3252141"/>
            <a:ext cx="515795" cy="24468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vs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58EF9D-F956-7BCD-AF56-75A3ED0FA250}"/>
              </a:ext>
            </a:extLst>
          </p:cNvPr>
          <p:cNvGrpSpPr/>
          <p:nvPr/>
        </p:nvGrpSpPr>
        <p:grpSpPr>
          <a:xfrm>
            <a:off x="7742984" y="2628811"/>
            <a:ext cx="1804523" cy="161511"/>
            <a:chOff x="5816722" y="2553178"/>
            <a:chExt cx="1804523" cy="161511"/>
          </a:xfrm>
        </p:grpSpPr>
        <p:sp>
          <p:nvSpPr>
            <p:cNvPr id="12" name="Freeform 267">
              <a:extLst>
                <a:ext uri="{FF2B5EF4-FFF2-40B4-BE49-F238E27FC236}">
                  <a16:creationId xmlns:a16="http://schemas.microsoft.com/office/drawing/2014/main" id="{09E04FE7-26BE-927A-C192-577678207C92}"/>
                </a:ext>
              </a:extLst>
            </p:cNvPr>
            <p:cNvSpPr/>
            <p:nvPr/>
          </p:nvSpPr>
          <p:spPr>
            <a:xfrm>
              <a:off x="5816722" y="2557247"/>
              <a:ext cx="1804523" cy="15744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110" h="620">
                  <a:moveTo>
                    <a:pt x="3556" y="620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7110" y="0"/>
                  </a:lnTo>
                  <a:lnTo>
                    <a:pt x="7110" y="6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" name="Freeform 268">
              <a:extLst>
                <a:ext uri="{FF2B5EF4-FFF2-40B4-BE49-F238E27FC236}">
                  <a16:creationId xmlns:a16="http://schemas.microsoft.com/office/drawing/2014/main" id="{6164A1F3-24A1-61C5-8C41-836D2EC8CDA7}"/>
                </a:ext>
              </a:extLst>
            </p:cNvPr>
            <p:cNvSpPr/>
            <p:nvPr/>
          </p:nvSpPr>
          <p:spPr>
            <a:xfrm>
              <a:off x="5821798" y="2600487"/>
              <a:ext cx="146464" cy="811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8" h="320">
                  <a:moveTo>
                    <a:pt x="42" y="270"/>
                  </a:moveTo>
                  <a:cubicBezTo>
                    <a:pt x="40" y="282"/>
                    <a:pt x="36" y="298"/>
                    <a:pt x="36" y="302"/>
                  </a:cubicBezTo>
                  <a:cubicBezTo>
                    <a:pt x="36" y="314"/>
                    <a:pt x="46" y="320"/>
                    <a:pt x="56" y="320"/>
                  </a:cubicBezTo>
                  <a:cubicBezTo>
                    <a:pt x="64" y="320"/>
                    <a:pt x="76" y="314"/>
                    <a:pt x="82" y="300"/>
                  </a:cubicBezTo>
                  <a:cubicBezTo>
                    <a:pt x="82" y="300"/>
                    <a:pt x="90" y="266"/>
                    <a:pt x="96" y="248"/>
                  </a:cubicBezTo>
                  <a:lnTo>
                    <a:pt x="110" y="184"/>
                  </a:lnTo>
                  <a:cubicBezTo>
                    <a:pt x="114" y="170"/>
                    <a:pt x="120" y="154"/>
                    <a:pt x="122" y="138"/>
                  </a:cubicBezTo>
                  <a:cubicBezTo>
                    <a:pt x="126" y="126"/>
                    <a:pt x="132" y="104"/>
                    <a:pt x="132" y="102"/>
                  </a:cubicBezTo>
                  <a:cubicBezTo>
                    <a:pt x="142" y="80"/>
                    <a:pt x="180" y="16"/>
                    <a:pt x="246" y="16"/>
                  </a:cubicBezTo>
                  <a:cubicBezTo>
                    <a:pt x="278" y="16"/>
                    <a:pt x="284" y="42"/>
                    <a:pt x="284" y="66"/>
                  </a:cubicBezTo>
                  <a:cubicBezTo>
                    <a:pt x="284" y="82"/>
                    <a:pt x="280" y="102"/>
                    <a:pt x="274" y="124"/>
                  </a:cubicBezTo>
                  <a:lnTo>
                    <a:pt x="254" y="206"/>
                  </a:lnTo>
                  <a:lnTo>
                    <a:pt x="240" y="260"/>
                  </a:lnTo>
                  <a:cubicBezTo>
                    <a:pt x="238" y="274"/>
                    <a:pt x="232" y="298"/>
                    <a:pt x="232" y="302"/>
                  </a:cubicBezTo>
                  <a:cubicBezTo>
                    <a:pt x="232" y="314"/>
                    <a:pt x="242" y="320"/>
                    <a:pt x="252" y="320"/>
                  </a:cubicBezTo>
                  <a:cubicBezTo>
                    <a:pt x="274" y="320"/>
                    <a:pt x="278" y="302"/>
                    <a:pt x="284" y="280"/>
                  </a:cubicBezTo>
                  <a:cubicBezTo>
                    <a:pt x="294" y="240"/>
                    <a:pt x="320" y="138"/>
                    <a:pt x="326" y="110"/>
                  </a:cubicBezTo>
                  <a:cubicBezTo>
                    <a:pt x="328" y="100"/>
                    <a:pt x="366" y="16"/>
                    <a:pt x="442" y="16"/>
                  </a:cubicBezTo>
                  <a:cubicBezTo>
                    <a:pt x="472" y="16"/>
                    <a:pt x="480" y="40"/>
                    <a:pt x="480" y="66"/>
                  </a:cubicBezTo>
                  <a:cubicBezTo>
                    <a:pt x="480" y="106"/>
                    <a:pt x="450" y="186"/>
                    <a:pt x="436" y="224"/>
                  </a:cubicBezTo>
                  <a:cubicBezTo>
                    <a:pt x="430" y="240"/>
                    <a:pt x="428" y="248"/>
                    <a:pt x="428" y="262"/>
                  </a:cubicBezTo>
                  <a:cubicBezTo>
                    <a:pt x="428" y="296"/>
                    <a:pt x="452" y="320"/>
                    <a:pt x="486" y="320"/>
                  </a:cubicBezTo>
                  <a:cubicBezTo>
                    <a:pt x="552" y="320"/>
                    <a:pt x="578" y="218"/>
                    <a:pt x="578" y="212"/>
                  </a:cubicBezTo>
                  <a:cubicBezTo>
                    <a:pt x="578" y="204"/>
                    <a:pt x="572" y="204"/>
                    <a:pt x="570" y="204"/>
                  </a:cubicBezTo>
                  <a:cubicBezTo>
                    <a:pt x="562" y="204"/>
                    <a:pt x="562" y="206"/>
                    <a:pt x="558" y="218"/>
                  </a:cubicBezTo>
                  <a:cubicBezTo>
                    <a:pt x="548" y="254"/>
                    <a:pt x="526" y="304"/>
                    <a:pt x="486" y="304"/>
                  </a:cubicBezTo>
                  <a:cubicBezTo>
                    <a:pt x="474" y="304"/>
                    <a:pt x="470" y="298"/>
                    <a:pt x="470" y="282"/>
                  </a:cubicBezTo>
                  <a:cubicBezTo>
                    <a:pt x="470" y="264"/>
                    <a:pt x="476" y="246"/>
                    <a:pt x="482" y="232"/>
                  </a:cubicBezTo>
                  <a:cubicBezTo>
                    <a:pt x="496" y="194"/>
                    <a:pt x="526" y="116"/>
                    <a:pt x="526" y="76"/>
                  </a:cubicBezTo>
                  <a:cubicBezTo>
                    <a:pt x="526" y="30"/>
                    <a:pt x="498" y="0"/>
                    <a:pt x="444" y="0"/>
                  </a:cubicBezTo>
                  <a:cubicBezTo>
                    <a:pt x="392" y="0"/>
                    <a:pt x="356" y="32"/>
                    <a:pt x="330" y="68"/>
                  </a:cubicBezTo>
                  <a:cubicBezTo>
                    <a:pt x="328" y="60"/>
                    <a:pt x="326" y="36"/>
                    <a:pt x="306" y="18"/>
                  </a:cubicBezTo>
                  <a:cubicBezTo>
                    <a:pt x="290" y="4"/>
                    <a:pt x="266" y="0"/>
                    <a:pt x="248" y="0"/>
                  </a:cubicBezTo>
                  <a:cubicBezTo>
                    <a:pt x="186" y="0"/>
                    <a:pt x="150" y="46"/>
                    <a:pt x="138" y="62"/>
                  </a:cubicBezTo>
                  <a:cubicBezTo>
                    <a:pt x="136" y="22"/>
                    <a:pt x="106" y="0"/>
                    <a:pt x="74" y="0"/>
                  </a:cubicBezTo>
                  <a:cubicBezTo>
                    <a:pt x="42" y="0"/>
                    <a:pt x="28" y="28"/>
                    <a:pt x="22" y="40"/>
                  </a:cubicBezTo>
                  <a:cubicBezTo>
                    <a:pt x="10" y="66"/>
                    <a:pt x="0" y="106"/>
                    <a:pt x="0" y="108"/>
                  </a:cubicBezTo>
                  <a:cubicBezTo>
                    <a:pt x="0" y="116"/>
                    <a:pt x="8" y="116"/>
                    <a:pt x="8" y="116"/>
                  </a:cubicBezTo>
                  <a:cubicBezTo>
                    <a:pt x="16" y="116"/>
                    <a:pt x="16" y="116"/>
                    <a:pt x="20" y="100"/>
                  </a:cubicBezTo>
                  <a:cubicBezTo>
                    <a:pt x="32" y="50"/>
                    <a:pt x="46" y="16"/>
                    <a:pt x="72" y="16"/>
                  </a:cubicBezTo>
                  <a:cubicBezTo>
                    <a:pt x="84" y="16"/>
                    <a:pt x="94" y="22"/>
                    <a:pt x="94" y="48"/>
                  </a:cubicBezTo>
                  <a:cubicBezTo>
                    <a:pt x="94" y="62"/>
                    <a:pt x="92" y="70"/>
                    <a:pt x="82" y="1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" name="Freeform 269">
              <a:extLst>
                <a:ext uri="{FF2B5EF4-FFF2-40B4-BE49-F238E27FC236}">
                  <a16:creationId xmlns:a16="http://schemas.microsoft.com/office/drawing/2014/main" id="{68E10E41-00F6-525B-F72B-122A801A73DB}"/>
                </a:ext>
              </a:extLst>
            </p:cNvPr>
            <p:cNvSpPr/>
            <p:nvPr/>
          </p:nvSpPr>
          <p:spPr>
            <a:xfrm>
              <a:off x="6032990" y="2613713"/>
              <a:ext cx="119049" cy="419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0" h="166">
                  <a:moveTo>
                    <a:pt x="446" y="28"/>
                  </a:moveTo>
                  <a:cubicBezTo>
                    <a:pt x="456" y="28"/>
                    <a:pt x="470" y="28"/>
                    <a:pt x="470" y="14"/>
                  </a:cubicBezTo>
                  <a:cubicBezTo>
                    <a:pt x="470" y="0"/>
                    <a:pt x="456" y="0"/>
                    <a:pt x="446" y="0"/>
                  </a:cubicBezTo>
                  <a:lnTo>
                    <a:pt x="24" y="0"/>
                  </a:lnTo>
                  <a:cubicBezTo>
                    <a:pt x="14" y="0"/>
                    <a:pt x="0" y="0"/>
                    <a:pt x="0" y="14"/>
                  </a:cubicBezTo>
                  <a:cubicBezTo>
                    <a:pt x="0" y="28"/>
                    <a:pt x="14" y="28"/>
                    <a:pt x="24" y="28"/>
                  </a:cubicBezTo>
                  <a:close/>
                  <a:moveTo>
                    <a:pt x="446" y="166"/>
                  </a:moveTo>
                  <a:cubicBezTo>
                    <a:pt x="456" y="166"/>
                    <a:pt x="470" y="166"/>
                    <a:pt x="470" y="152"/>
                  </a:cubicBezTo>
                  <a:cubicBezTo>
                    <a:pt x="470" y="138"/>
                    <a:pt x="456" y="138"/>
                    <a:pt x="446" y="138"/>
                  </a:cubicBezTo>
                  <a:lnTo>
                    <a:pt x="24" y="138"/>
                  </a:lnTo>
                  <a:cubicBezTo>
                    <a:pt x="14" y="138"/>
                    <a:pt x="0" y="138"/>
                    <a:pt x="0" y="152"/>
                  </a:cubicBezTo>
                  <a:cubicBezTo>
                    <a:pt x="0" y="166"/>
                    <a:pt x="14" y="166"/>
                    <a:pt x="24" y="1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" name="Freeform 270">
              <a:extLst>
                <a:ext uri="{FF2B5EF4-FFF2-40B4-BE49-F238E27FC236}">
                  <a16:creationId xmlns:a16="http://schemas.microsoft.com/office/drawing/2014/main" id="{DEE83451-ED25-2046-76CC-39CB1FDBC81A}"/>
                </a:ext>
              </a:extLst>
            </p:cNvPr>
            <p:cNvSpPr/>
            <p:nvPr/>
          </p:nvSpPr>
          <p:spPr>
            <a:xfrm>
              <a:off x="6225905" y="2631008"/>
              <a:ext cx="109404" cy="73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2" h="30">
                  <a:moveTo>
                    <a:pt x="406" y="30"/>
                  </a:moveTo>
                  <a:cubicBezTo>
                    <a:pt x="418" y="30"/>
                    <a:pt x="432" y="30"/>
                    <a:pt x="432" y="16"/>
                  </a:cubicBezTo>
                  <a:cubicBezTo>
                    <a:pt x="432" y="0"/>
                    <a:pt x="418" y="0"/>
                    <a:pt x="406" y="0"/>
                  </a:cubicBezTo>
                  <a:lnTo>
                    <a:pt x="24" y="0"/>
                  </a:lnTo>
                  <a:cubicBezTo>
                    <a:pt x="12" y="0"/>
                    <a:pt x="0" y="0"/>
                    <a:pt x="0" y="16"/>
                  </a:cubicBezTo>
                  <a:cubicBezTo>
                    <a:pt x="0" y="30"/>
                    <a:pt x="12" y="30"/>
                    <a:pt x="24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" name="Freeform 271">
              <a:extLst>
                <a:ext uri="{FF2B5EF4-FFF2-40B4-BE49-F238E27FC236}">
                  <a16:creationId xmlns:a16="http://schemas.microsoft.com/office/drawing/2014/main" id="{D056AFCB-EEAF-945C-8196-13218ACDAD41}"/>
                </a:ext>
              </a:extLst>
            </p:cNvPr>
            <p:cNvSpPr/>
            <p:nvPr/>
          </p:nvSpPr>
          <p:spPr>
            <a:xfrm>
              <a:off x="6359423" y="2553178"/>
              <a:ext cx="105850" cy="13048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8" h="514">
                  <a:moveTo>
                    <a:pt x="418" y="8"/>
                  </a:moveTo>
                  <a:cubicBezTo>
                    <a:pt x="418" y="4"/>
                    <a:pt x="418" y="0"/>
                    <a:pt x="412" y="0"/>
                  </a:cubicBezTo>
                  <a:cubicBezTo>
                    <a:pt x="408" y="0"/>
                    <a:pt x="406" y="0"/>
                    <a:pt x="398" y="10"/>
                  </a:cubicBezTo>
                  <a:lnTo>
                    <a:pt x="364" y="50"/>
                  </a:lnTo>
                  <a:cubicBezTo>
                    <a:pt x="346" y="18"/>
                    <a:pt x="310" y="0"/>
                    <a:pt x="264" y="0"/>
                  </a:cubicBezTo>
                  <a:cubicBezTo>
                    <a:pt x="174" y="0"/>
                    <a:pt x="88" y="82"/>
                    <a:pt x="88" y="166"/>
                  </a:cubicBezTo>
                  <a:cubicBezTo>
                    <a:pt x="88" y="224"/>
                    <a:pt x="126" y="256"/>
                    <a:pt x="162" y="266"/>
                  </a:cubicBezTo>
                  <a:lnTo>
                    <a:pt x="238" y="286"/>
                  </a:lnTo>
                  <a:cubicBezTo>
                    <a:pt x="264" y="292"/>
                    <a:pt x="304" y="304"/>
                    <a:pt x="304" y="362"/>
                  </a:cubicBezTo>
                  <a:cubicBezTo>
                    <a:pt x="304" y="424"/>
                    <a:pt x="246" y="492"/>
                    <a:pt x="176" y="492"/>
                  </a:cubicBezTo>
                  <a:cubicBezTo>
                    <a:pt x="130" y="492"/>
                    <a:pt x="52" y="476"/>
                    <a:pt x="52" y="388"/>
                  </a:cubicBezTo>
                  <a:cubicBezTo>
                    <a:pt x="52" y="372"/>
                    <a:pt x="56" y="354"/>
                    <a:pt x="56" y="350"/>
                  </a:cubicBezTo>
                  <a:cubicBezTo>
                    <a:pt x="58" y="348"/>
                    <a:pt x="58" y="346"/>
                    <a:pt x="58" y="346"/>
                  </a:cubicBezTo>
                  <a:cubicBezTo>
                    <a:pt x="58" y="338"/>
                    <a:pt x="52" y="338"/>
                    <a:pt x="50" y="338"/>
                  </a:cubicBezTo>
                  <a:cubicBezTo>
                    <a:pt x="46" y="338"/>
                    <a:pt x="44" y="338"/>
                    <a:pt x="42" y="340"/>
                  </a:cubicBezTo>
                  <a:cubicBezTo>
                    <a:pt x="40" y="342"/>
                    <a:pt x="0" y="504"/>
                    <a:pt x="0" y="506"/>
                  </a:cubicBezTo>
                  <a:cubicBezTo>
                    <a:pt x="0" y="510"/>
                    <a:pt x="4" y="514"/>
                    <a:pt x="8" y="514"/>
                  </a:cubicBezTo>
                  <a:cubicBezTo>
                    <a:pt x="12" y="514"/>
                    <a:pt x="12" y="512"/>
                    <a:pt x="20" y="502"/>
                  </a:cubicBezTo>
                  <a:lnTo>
                    <a:pt x="56" y="462"/>
                  </a:lnTo>
                  <a:cubicBezTo>
                    <a:pt x="86" y="504"/>
                    <a:pt x="134" y="514"/>
                    <a:pt x="174" y="514"/>
                  </a:cubicBezTo>
                  <a:cubicBezTo>
                    <a:pt x="270" y="514"/>
                    <a:pt x="354" y="420"/>
                    <a:pt x="354" y="332"/>
                  </a:cubicBezTo>
                  <a:cubicBezTo>
                    <a:pt x="354" y="282"/>
                    <a:pt x="330" y="258"/>
                    <a:pt x="320" y="250"/>
                  </a:cubicBezTo>
                  <a:cubicBezTo>
                    <a:pt x="304" y="232"/>
                    <a:pt x="292" y="230"/>
                    <a:pt x="230" y="214"/>
                  </a:cubicBezTo>
                  <a:cubicBezTo>
                    <a:pt x="214" y="210"/>
                    <a:pt x="188" y="202"/>
                    <a:pt x="182" y="202"/>
                  </a:cubicBezTo>
                  <a:cubicBezTo>
                    <a:pt x="164" y="194"/>
                    <a:pt x="140" y="174"/>
                    <a:pt x="140" y="136"/>
                  </a:cubicBezTo>
                  <a:cubicBezTo>
                    <a:pt x="140" y="80"/>
                    <a:pt x="196" y="20"/>
                    <a:pt x="262" y="20"/>
                  </a:cubicBezTo>
                  <a:cubicBezTo>
                    <a:pt x="322" y="20"/>
                    <a:pt x="364" y="50"/>
                    <a:pt x="364" y="130"/>
                  </a:cubicBezTo>
                  <a:cubicBezTo>
                    <a:pt x="364" y="152"/>
                    <a:pt x="362" y="164"/>
                    <a:pt x="362" y="168"/>
                  </a:cubicBezTo>
                  <a:cubicBezTo>
                    <a:pt x="362" y="170"/>
                    <a:pt x="362" y="176"/>
                    <a:pt x="370" y="176"/>
                  </a:cubicBezTo>
                  <a:cubicBezTo>
                    <a:pt x="378" y="176"/>
                    <a:pt x="378" y="174"/>
                    <a:pt x="380" y="1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" name="Freeform 272">
              <a:extLst>
                <a:ext uri="{FF2B5EF4-FFF2-40B4-BE49-F238E27FC236}">
                  <a16:creationId xmlns:a16="http://schemas.microsoft.com/office/drawing/2014/main" id="{F423E731-1FE4-C7C3-8EAE-BAFFD68FD0E0}"/>
                </a:ext>
              </a:extLst>
            </p:cNvPr>
            <p:cNvSpPr/>
            <p:nvPr/>
          </p:nvSpPr>
          <p:spPr>
            <a:xfrm>
              <a:off x="6475173" y="2660513"/>
              <a:ext cx="21068" cy="536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" h="212">
                  <a:moveTo>
                    <a:pt x="84" y="74"/>
                  </a:moveTo>
                  <a:cubicBezTo>
                    <a:pt x="84" y="28"/>
                    <a:pt x="66" y="0"/>
                    <a:pt x="38" y="0"/>
                  </a:cubicBezTo>
                  <a:cubicBezTo>
                    <a:pt x="14" y="0"/>
                    <a:pt x="0" y="18"/>
                    <a:pt x="0" y="38"/>
                  </a:cubicBezTo>
                  <a:cubicBezTo>
                    <a:pt x="0" y="56"/>
                    <a:pt x="14" y="76"/>
                    <a:pt x="38" y="76"/>
                  </a:cubicBezTo>
                  <a:cubicBezTo>
                    <a:pt x="46" y="76"/>
                    <a:pt x="56" y="72"/>
                    <a:pt x="64" y="66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8" y="64"/>
                    <a:pt x="68" y="64"/>
                    <a:pt x="68" y="74"/>
                  </a:cubicBezTo>
                  <a:cubicBezTo>
                    <a:pt x="68" y="128"/>
                    <a:pt x="44" y="170"/>
                    <a:pt x="20" y="194"/>
                  </a:cubicBezTo>
                  <a:cubicBezTo>
                    <a:pt x="12" y="200"/>
                    <a:pt x="12" y="202"/>
                    <a:pt x="12" y="204"/>
                  </a:cubicBezTo>
                  <a:cubicBezTo>
                    <a:pt x="12" y="210"/>
                    <a:pt x="16" y="212"/>
                    <a:pt x="18" y="212"/>
                  </a:cubicBezTo>
                  <a:cubicBezTo>
                    <a:pt x="26" y="212"/>
                    <a:pt x="84" y="158"/>
                    <a:pt x="84" y="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" name="Freeform 273">
              <a:extLst>
                <a:ext uri="{FF2B5EF4-FFF2-40B4-BE49-F238E27FC236}">
                  <a16:creationId xmlns:a16="http://schemas.microsoft.com/office/drawing/2014/main" id="{0065AD87-1D5E-80A9-59AC-9C46C0FBF686}"/>
                </a:ext>
              </a:extLst>
            </p:cNvPr>
            <p:cNvSpPr/>
            <p:nvPr/>
          </p:nvSpPr>
          <p:spPr>
            <a:xfrm>
              <a:off x="6553863" y="2631008"/>
              <a:ext cx="109404" cy="73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2" h="30">
                  <a:moveTo>
                    <a:pt x="406" y="30"/>
                  </a:moveTo>
                  <a:cubicBezTo>
                    <a:pt x="418" y="30"/>
                    <a:pt x="432" y="30"/>
                    <a:pt x="432" y="16"/>
                  </a:cubicBezTo>
                  <a:cubicBezTo>
                    <a:pt x="432" y="0"/>
                    <a:pt x="418" y="0"/>
                    <a:pt x="406" y="0"/>
                  </a:cubicBezTo>
                  <a:lnTo>
                    <a:pt x="24" y="0"/>
                  </a:lnTo>
                  <a:cubicBezTo>
                    <a:pt x="12" y="0"/>
                    <a:pt x="0" y="0"/>
                    <a:pt x="0" y="16"/>
                  </a:cubicBezTo>
                  <a:cubicBezTo>
                    <a:pt x="0" y="30"/>
                    <a:pt x="12" y="30"/>
                    <a:pt x="24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" name="Freeform 274">
              <a:extLst>
                <a:ext uri="{FF2B5EF4-FFF2-40B4-BE49-F238E27FC236}">
                  <a16:creationId xmlns:a16="http://schemas.microsoft.com/office/drawing/2014/main" id="{D332D7C9-5C3B-506D-32CF-83D0C7EEF64A}"/>
                </a:ext>
              </a:extLst>
            </p:cNvPr>
            <p:cNvSpPr/>
            <p:nvPr/>
          </p:nvSpPr>
          <p:spPr>
            <a:xfrm>
              <a:off x="6687381" y="2553178"/>
              <a:ext cx="105850" cy="13048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8" h="514">
                  <a:moveTo>
                    <a:pt x="418" y="8"/>
                  </a:moveTo>
                  <a:cubicBezTo>
                    <a:pt x="418" y="4"/>
                    <a:pt x="418" y="0"/>
                    <a:pt x="412" y="0"/>
                  </a:cubicBezTo>
                  <a:cubicBezTo>
                    <a:pt x="408" y="0"/>
                    <a:pt x="406" y="0"/>
                    <a:pt x="398" y="10"/>
                  </a:cubicBezTo>
                  <a:lnTo>
                    <a:pt x="364" y="50"/>
                  </a:lnTo>
                  <a:cubicBezTo>
                    <a:pt x="346" y="18"/>
                    <a:pt x="310" y="0"/>
                    <a:pt x="264" y="0"/>
                  </a:cubicBezTo>
                  <a:cubicBezTo>
                    <a:pt x="174" y="0"/>
                    <a:pt x="88" y="82"/>
                    <a:pt x="88" y="166"/>
                  </a:cubicBezTo>
                  <a:cubicBezTo>
                    <a:pt x="88" y="224"/>
                    <a:pt x="126" y="256"/>
                    <a:pt x="162" y="266"/>
                  </a:cubicBezTo>
                  <a:lnTo>
                    <a:pt x="238" y="286"/>
                  </a:lnTo>
                  <a:cubicBezTo>
                    <a:pt x="264" y="292"/>
                    <a:pt x="304" y="304"/>
                    <a:pt x="304" y="362"/>
                  </a:cubicBezTo>
                  <a:cubicBezTo>
                    <a:pt x="304" y="424"/>
                    <a:pt x="246" y="492"/>
                    <a:pt x="176" y="492"/>
                  </a:cubicBezTo>
                  <a:cubicBezTo>
                    <a:pt x="130" y="492"/>
                    <a:pt x="52" y="476"/>
                    <a:pt x="52" y="388"/>
                  </a:cubicBezTo>
                  <a:cubicBezTo>
                    <a:pt x="52" y="372"/>
                    <a:pt x="56" y="354"/>
                    <a:pt x="56" y="350"/>
                  </a:cubicBezTo>
                  <a:cubicBezTo>
                    <a:pt x="58" y="348"/>
                    <a:pt x="58" y="346"/>
                    <a:pt x="58" y="346"/>
                  </a:cubicBezTo>
                  <a:cubicBezTo>
                    <a:pt x="58" y="338"/>
                    <a:pt x="52" y="338"/>
                    <a:pt x="50" y="338"/>
                  </a:cubicBezTo>
                  <a:cubicBezTo>
                    <a:pt x="46" y="338"/>
                    <a:pt x="44" y="338"/>
                    <a:pt x="42" y="340"/>
                  </a:cubicBezTo>
                  <a:cubicBezTo>
                    <a:pt x="40" y="342"/>
                    <a:pt x="0" y="504"/>
                    <a:pt x="0" y="506"/>
                  </a:cubicBezTo>
                  <a:cubicBezTo>
                    <a:pt x="0" y="510"/>
                    <a:pt x="4" y="514"/>
                    <a:pt x="8" y="514"/>
                  </a:cubicBezTo>
                  <a:cubicBezTo>
                    <a:pt x="12" y="514"/>
                    <a:pt x="12" y="512"/>
                    <a:pt x="20" y="502"/>
                  </a:cubicBezTo>
                  <a:lnTo>
                    <a:pt x="56" y="462"/>
                  </a:lnTo>
                  <a:cubicBezTo>
                    <a:pt x="86" y="504"/>
                    <a:pt x="134" y="514"/>
                    <a:pt x="174" y="514"/>
                  </a:cubicBezTo>
                  <a:cubicBezTo>
                    <a:pt x="270" y="514"/>
                    <a:pt x="354" y="420"/>
                    <a:pt x="354" y="332"/>
                  </a:cubicBezTo>
                  <a:cubicBezTo>
                    <a:pt x="354" y="282"/>
                    <a:pt x="330" y="258"/>
                    <a:pt x="320" y="250"/>
                  </a:cubicBezTo>
                  <a:cubicBezTo>
                    <a:pt x="304" y="232"/>
                    <a:pt x="292" y="230"/>
                    <a:pt x="230" y="214"/>
                  </a:cubicBezTo>
                  <a:cubicBezTo>
                    <a:pt x="214" y="210"/>
                    <a:pt x="188" y="202"/>
                    <a:pt x="182" y="202"/>
                  </a:cubicBezTo>
                  <a:cubicBezTo>
                    <a:pt x="164" y="194"/>
                    <a:pt x="140" y="174"/>
                    <a:pt x="140" y="136"/>
                  </a:cubicBezTo>
                  <a:cubicBezTo>
                    <a:pt x="140" y="80"/>
                    <a:pt x="196" y="20"/>
                    <a:pt x="262" y="20"/>
                  </a:cubicBezTo>
                  <a:cubicBezTo>
                    <a:pt x="322" y="20"/>
                    <a:pt x="364" y="50"/>
                    <a:pt x="364" y="130"/>
                  </a:cubicBezTo>
                  <a:cubicBezTo>
                    <a:pt x="364" y="152"/>
                    <a:pt x="362" y="164"/>
                    <a:pt x="362" y="168"/>
                  </a:cubicBezTo>
                  <a:cubicBezTo>
                    <a:pt x="362" y="170"/>
                    <a:pt x="362" y="176"/>
                    <a:pt x="370" y="176"/>
                  </a:cubicBezTo>
                  <a:cubicBezTo>
                    <a:pt x="378" y="176"/>
                    <a:pt x="378" y="174"/>
                    <a:pt x="380" y="1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" name="Freeform 275">
              <a:extLst>
                <a:ext uri="{FF2B5EF4-FFF2-40B4-BE49-F238E27FC236}">
                  <a16:creationId xmlns:a16="http://schemas.microsoft.com/office/drawing/2014/main" id="{D41FF2AB-DDEB-1052-B864-2029EBDAEBAC}"/>
                </a:ext>
              </a:extLst>
            </p:cNvPr>
            <p:cNvSpPr/>
            <p:nvPr/>
          </p:nvSpPr>
          <p:spPr>
            <a:xfrm>
              <a:off x="6847298" y="2575052"/>
              <a:ext cx="119049" cy="11929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0" h="470">
                  <a:moveTo>
                    <a:pt x="250" y="250"/>
                  </a:moveTo>
                  <a:lnTo>
                    <a:pt x="446" y="250"/>
                  </a:lnTo>
                  <a:cubicBezTo>
                    <a:pt x="456" y="250"/>
                    <a:pt x="470" y="250"/>
                    <a:pt x="470" y="236"/>
                  </a:cubicBezTo>
                  <a:cubicBezTo>
                    <a:pt x="470" y="220"/>
                    <a:pt x="456" y="220"/>
                    <a:pt x="446" y="220"/>
                  </a:cubicBezTo>
                  <a:lnTo>
                    <a:pt x="250" y="220"/>
                  </a:lnTo>
                  <a:lnTo>
                    <a:pt x="250" y="24"/>
                  </a:lnTo>
                  <a:cubicBezTo>
                    <a:pt x="250" y="14"/>
                    <a:pt x="250" y="0"/>
                    <a:pt x="236" y="0"/>
                  </a:cubicBezTo>
                  <a:cubicBezTo>
                    <a:pt x="220" y="0"/>
                    <a:pt x="220" y="14"/>
                    <a:pt x="220" y="24"/>
                  </a:cubicBezTo>
                  <a:lnTo>
                    <a:pt x="220" y="220"/>
                  </a:lnTo>
                  <a:lnTo>
                    <a:pt x="24" y="220"/>
                  </a:lnTo>
                  <a:cubicBezTo>
                    <a:pt x="14" y="220"/>
                    <a:pt x="0" y="220"/>
                    <a:pt x="0" y="236"/>
                  </a:cubicBezTo>
                  <a:cubicBezTo>
                    <a:pt x="0" y="250"/>
                    <a:pt x="14" y="250"/>
                    <a:pt x="24" y="250"/>
                  </a:cubicBezTo>
                  <a:lnTo>
                    <a:pt x="220" y="250"/>
                  </a:lnTo>
                  <a:lnTo>
                    <a:pt x="220" y="446"/>
                  </a:lnTo>
                  <a:cubicBezTo>
                    <a:pt x="220" y="456"/>
                    <a:pt x="220" y="470"/>
                    <a:pt x="236" y="470"/>
                  </a:cubicBezTo>
                  <a:cubicBezTo>
                    <a:pt x="250" y="470"/>
                    <a:pt x="250" y="456"/>
                    <a:pt x="250" y="44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" name="Freeform 276">
              <a:extLst>
                <a:ext uri="{FF2B5EF4-FFF2-40B4-BE49-F238E27FC236}">
                  <a16:creationId xmlns:a16="http://schemas.microsoft.com/office/drawing/2014/main" id="{89024F93-3276-0D0D-1D4B-CCEB897CC2FF}"/>
                </a:ext>
              </a:extLst>
            </p:cNvPr>
            <p:cNvSpPr/>
            <p:nvPr/>
          </p:nvSpPr>
          <p:spPr>
            <a:xfrm>
              <a:off x="7031583" y="2560300"/>
              <a:ext cx="59144" cy="11929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4" h="470">
                  <a:moveTo>
                    <a:pt x="146" y="18"/>
                  </a:moveTo>
                  <a:cubicBezTo>
                    <a:pt x="146" y="2"/>
                    <a:pt x="146" y="0"/>
                    <a:pt x="130" y="0"/>
                  </a:cubicBezTo>
                  <a:cubicBezTo>
                    <a:pt x="86" y="46"/>
                    <a:pt x="22" y="46"/>
                    <a:pt x="0" y="46"/>
                  </a:cubicBezTo>
                  <a:lnTo>
                    <a:pt x="0" y="68"/>
                  </a:lnTo>
                  <a:cubicBezTo>
                    <a:pt x="14" y="68"/>
                    <a:pt x="56" y="68"/>
                    <a:pt x="92" y="48"/>
                  </a:cubicBezTo>
                  <a:lnTo>
                    <a:pt x="92" y="414"/>
                  </a:lnTo>
                  <a:cubicBezTo>
                    <a:pt x="92" y="440"/>
                    <a:pt x="90" y="448"/>
                    <a:pt x="26" y="448"/>
                  </a:cubicBezTo>
                  <a:lnTo>
                    <a:pt x="4" y="448"/>
                  </a:lnTo>
                  <a:lnTo>
                    <a:pt x="4" y="470"/>
                  </a:lnTo>
                  <a:cubicBezTo>
                    <a:pt x="30" y="468"/>
                    <a:pt x="90" y="468"/>
                    <a:pt x="120" y="468"/>
                  </a:cubicBezTo>
                  <a:cubicBezTo>
                    <a:pt x="148" y="468"/>
                    <a:pt x="210" y="468"/>
                    <a:pt x="234" y="470"/>
                  </a:cubicBezTo>
                  <a:lnTo>
                    <a:pt x="234" y="448"/>
                  </a:lnTo>
                  <a:lnTo>
                    <a:pt x="212" y="448"/>
                  </a:lnTo>
                  <a:cubicBezTo>
                    <a:pt x="148" y="448"/>
                    <a:pt x="146" y="440"/>
                    <a:pt x="146" y="4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" name="Freeform 277">
              <a:extLst>
                <a:ext uri="{FF2B5EF4-FFF2-40B4-BE49-F238E27FC236}">
                  <a16:creationId xmlns:a16="http://schemas.microsoft.com/office/drawing/2014/main" id="{83F4360F-5423-5821-E72F-43D3E20BC55A}"/>
                </a:ext>
              </a:extLst>
            </p:cNvPr>
            <p:cNvSpPr/>
            <p:nvPr/>
          </p:nvSpPr>
          <p:spPr>
            <a:xfrm>
              <a:off x="7120426" y="2660513"/>
              <a:ext cx="21068" cy="536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" h="212">
                  <a:moveTo>
                    <a:pt x="84" y="74"/>
                  </a:moveTo>
                  <a:cubicBezTo>
                    <a:pt x="84" y="28"/>
                    <a:pt x="66" y="0"/>
                    <a:pt x="38" y="0"/>
                  </a:cubicBezTo>
                  <a:cubicBezTo>
                    <a:pt x="14" y="0"/>
                    <a:pt x="0" y="18"/>
                    <a:pt x="0" y="38"/>
                  </a:cubicBezTo>
                  <a:cubicBezTo>
                    <a:pt x="0" y="56"/>
                    <a:pt x="14" y="76"/>
                    <a:pt x="38" y="76"/>
                  </a:cubicBezTo>
                  <a:cubicBezTo>
                    <a:pt x="46" y="76"/>
                    <a:pt x="56" y="72"/>
                    <a:pt x="64" y="66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8" y="64"/>
                    <a:pt x="68" y="64"/>
                    <a:pt x="68" y="74"/>
                  </a:cubicBezTo>
                  <a:cubicBezTo>
                    <a:pt x="68" y="128"/>
                    <a:pt x="44" y="170"/>
                    <a:pt x="20" y="194"/>
                  </a:cubicBezTo>
                  <a:cubicBezTo>
                    <a:pt x="12" y="200"/>
                    <a:pt x="12" y="202"/>
                    <a:pt x="12" y="204"/>
                  </a:cubicBezTo>
                  <a:cubicBezTo>
                    <a:pt x="12" y="210"/>
                    <a:pt x="16" y="212"/>
                    <a:pt x="18" y="212"/>
                  </a:cubicBezTo>
                  <a:cubicBezTo>
                    <a:pt x="26" y="212"/>
                    <a:pt x="84" y="158"/>
                    <a:pt x="84" y="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" name="Freeform 278">
              <a:extLst>
                <a:ext uri="{FF2B5EF4-FFF2-40B4-BE49-F238E27FC236}">
                  <a16:creationId xmlns:a16="http://schemas.microsoft.com/office/drawing/2014/main" id="{F85EFA2C-BAA2-6868-8B05-15A50B422665}"/>
                </a:ext>
              </a:extLst>
            </p:cNvPr>
            <p:cNvSpPr/>
            <p:nvPr/>
          </p:nvSpPr>
          <p:spPr>
            <a:xfrm>
              <a:off x="7199622" y="2660513"/>
              <a:ext cx="19038" cy="190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" h="76">
                  <a:moveTo>
                    <a:pt x="76" y="38"/>
                  </a:moveTo>
                  <a:cubicBezTo>
                    <a:pt x="76" y="18"/>
                    <a:pt x="60" y="0"/>
                    <a:pt x="38" y="0"/>
                  </a:cubicBezTo>
                  <a:cubicBezTo>
                    <a:pt x="18" y="0"/>
                    <a:pt x="0" y="18"/>
                    <a:pt x="0" y="38"/>
                  </a:cubicBezTo>
                  <a:cubicBezTo>
                    <a:pt x="0" y="60"/>
                    <a:pt x="18" y="76"/>
                    <a:pt x="38" y="76"/>
                  </a:cubicBezTo>
                  <a:cubicBezTo>
                    <a:pt x="60" y="76"/>
                    <a:pt x="76" y="60"/>
                    <a:pt x="76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4" name="Freeform 279">
              <a:extLst>
                <a:ext uri="{FF2B5EF4-FFF2-40B4-BE49-F238E27FC236}">
                  <a16:creationId xmlns:a16="http://schemas.microsoft.com/office/drawing/2014/main" id="{06037261-2FA8-5231-EF6F-6209B6069D0F}"/>
                </a:ext>
              </a:extLst>
            </p:cNvPr>
            <p:cNvSpPr/>
            <p:nvPr/>
          </p:nvSpPr>
          <p:spPr>
            <a:xfrm>
              <a:off x="7278820" y="2660513"/>
              <a:ext cx="19038" cy="190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" h="76">
                  <a:moveTo>
                    <a:pt x="76" y="38"/>
                  </a:moveTo>
                  <a:cubicBezTo>
                    <a:pt x="76" y="18"/>
                    <a:pt x="60" y="0"/>
                    <a:pt x="38" y="0"/>
                  </a:cubicBezTo>
                  <a:cubicBezTo>
                    <a:pt x="18" y="0"/>
                    <a:pt x="0" y="18"/>
                    <a:pt x="0" y="38"/>
                  </a:cubicBezTo>
                  <a:cubicBezTo>
                    <a:pt x="0" y="60"/>
                    <a:pt x="18" y="76"/>
                    <a:pt x="38" y="76"/>
                  </a:cubicBezTo>
                  <a:cubicBezTo>
                    <a:pt x="60" y="76"/>
                    <a:pt x="76" y="60"/>
                    <a:pt x="76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5" name="Freeform 280">
              <a:extLst>
                <a:ext uri="{FF2B5EF4-FFF2-40B4-BE49-F238E27FC236}">
                  <a16:creationId xmlns:a16="http://schemas.microsoft.com/office/drawing/2014/main" id="{906F18D7-4D3B-1E9D-333F-9D06F262A95E}"/>
                </a:ext>
              </a:extLst>
            </p:cNvPr>
            <p:cNvSpPr/>
            <p:nvPr/>
          </p:nvSpPr>
          <p:spPr>
            <a:xfrm>
              <a:off x="7358017" y="2660513"/>
              <a:ext cx="19038" cy="190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" h="76">
                  <a:moveTo>
                    <a:pt x="76" y="38"/>
                  </a:moveTo>
                  <a:cubicBezTo>
                    <a:pt x="76" y="18"/>
                    <a:pt x="60" y="0"/>
                    <a:pt x="38" y="0"/>
                  </a:cubicBezTo>
                  <a:cubicBezTo>
                    <a:pt x="18" y="0"/>
                    <a:pt x="0" y="18"/>
                    <a:pt x="0" y="38"/>
                  </a:cubicBezTo>
                  <a:cubicBezTo>
                    <a:pt x="0" y="60"/>
                    <a:pt x="18" y="76"/>
                    <a:pt x="38" y="76"/>
                  </a:cubicBezTo>
                  <a:cubicBezTo>
                    <a:pt x="60" y="76"/>
                    <a:pt x="76" y="60"/>
                    <a:pt x="76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6" name="Freeform 281">
              <a:extLst>
                <a:ext uri="{FF2B5EF4-FFF2-40B4-BE49-F238E27FC236}">
                  <a16:creationId xmlns:a16="http://schemas.microsoft.com/office/drawing/2014/main" id="{384B5B0E-447C-5A9A-0E92-644B0655CC03}"/>
                </a:ext>
              </a:extLst>
            </p:cNvPr>
            <p:cNvSpPr/>
            <p:nvPr/>
          </p:nvSpPr>
          <p:spPr>
            <a:xfrm>
              <a:off x="7437214" y="2660513"/>
              <a:ext cx="21068" cy="536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" h="212">
                  <a:moveTo>
                    <a:pt x="84" y="74"/>
                  </a:moveTo>
                  <a:cubicBezTo>
                    <a:pt x="84" y="28"/>
                    <a:pt x="66" y="0"/>
                    <a:pt x="38" y="0"/>
                  </a:cubicBezTo>
                  <a:cubicBezTo>
                    <a:pt x="14" y="0"/>
                    <a:pt x="0" y="18"/>
                    <a:pt x="0" y="38"/>
                  </a:cubicBezTo>
                  <a:cubicBezTo>
                    <a:pt x="0" y="56"/>
                    <a:pt x="14" y="76"/>
                    <a:pt x="38" y="76"/>
                  </a:cubicBezTo>
                  <a:cubicBezTo>
                    <a:pt x="46" y="76"/>
                    <a:pt x="56" y="72"/>
                    <a:pt x="64" y="66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8" y="64"/>
                    <a:pt x="68" y="64"/>
                    <a:pt x="68" y="74"/>
                  </a:cubicBezTo>
                  <a:cubicBezTo>
                    <a:pt x="68" y="128"/>
                    <a:pt x="44" y="170"/>
                    <a:pt x="20" y="194"/>
                  </a:cubicBezTo>
                  <a:cubicBezTo>
                    <a:pt x="12" y="200"/>
                    <a:pt x="12" y="202"/>
                    <a:pt x="12" y="204"/>
                  </a:cubicBezTo>
                  <a:cubicBezTo>
                    <a:pt x="12" y="210"/>
                    <a:pt x="16" y="212"/>
                    <a:pt x="18" y="212"/>
                  </a:cubicBezTo>
                  <a:cubicBezTo>
                    <a:pt x="26" y="212"/>
                    <a:pt x="84" y="158"/>
                    <a:pt x="84" y="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7" name="Freeform 282">
              <a:extLst>
                <a:ext uri="{FF2B5EF4-FFF2-40B4-BE49-F238E27FC236}">
                  <a16:creationId xmlns:a16="http://schemas.microsoft.com/office/drawing/2014/main" id="{9474FEAE-A269-9EB8-A83C-5536AA90AB2E}"/>
                </a:ext>
              </a:extLst>
            </p:cNvPr>
            <p:cNvSpPr/>
            <p:nvPr/>
          </p:nvSpPr>
          <p:spPr>
            <a:xfrm>
              <a:off x="7510826" y="2553178"/>
              <a:ext cx="105850" cy="13048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8" h="514">
                  <a:moveTo>
                    <a:pt x="418" y="8"/>
                  </a:moveTo>
                  <a:cubicBezTo>
                    <a:pt x="418" y="4"/>
                    <a:pt x="418" y="0"/>
                    <a:pt x="412" y="0"/>
                  </a:cubicBezTo>
                  <a:cubicBezTo>
                    <a:pt x="408" y="0"/>
                    <a:pt x="406" y="0"/>
                    <a:pt x="398" y="10"/>
                  </a:cubicBezTo>
                  <a:lnTo>
                    <a:pt x="364" y="50"/>
                  </a:lnTo>
                  <a:cubicBezTo>
                    <a:pt x="346" y="18"/>
                    <a:pt x="310" y="0"/>
                    <a:pt x="264" y="0"/>
                  </a:cubicBezTo>
                  <a:cubicBezTo>
                    <a:pt x="174" y="0"/>
                    <a:pt x="88" y="82"/>
                    <a:pt x="88" y="166"/>
                  </a:cubicBezTo>
                  <a:cubicBezTo>
                    <a:pt x="88" y="224"/>
                    <a:pt x="126" y="256"/>
                    <a:pt x="162" y="266"/>
                  </a:cubicBezTo>
                  <a:lnTo>
                    <a:pt x="238" y="286"/>
                  </a:lnTo>
                  <a:cubicBezTo>
                    <a:pt x="264" y="292"/>
                    <a:pt x="304" y="304"/>
                    <a:pt x="304" y="362"/>
                  </a:cubicBezTo>
                  <a:cubicBezTo>
                    <a:pt x="304" y="424"/>
                    <a:pt x="246" y="492"/>
                    <a:pt x="176" y="492"/>
                  </a:cubicBezTo>
                  <a:cubicBezTo>
                    <a:pt x="130" y="492"/>
                    <a:pt x="52" y="476"/>
                    <a:pt x="52" y="388"/>
                  </a:cubicBezTo>
                  <a:cubicBezTo>
                    <a:pt x="52" y="372"/>
                    <a:pt x="56" y="354"/>
                    <a:pt x="56" y="350"/>
                  </a:cubicBezTo>
                  <a:cubicBezTo>
                    <a:pt x="58" y="348"/>
                    <a:pt x="58" y="346"/>
                    <a:pt x="58" y="346"/>
                  </a:cubicBezTo>
                  <a:cubicBezTo>
                    <a:pt x="58" y="338"/>
                    <a:pt x="52" y="338"/>
                    <a:pt x="50" y="338"/>
                  </a:cubicBezTo>
                  <a:cubicBezTo>
                    <a:pt x="46" y="338"/>
                    <a:pt x="44" y="338"/>
                    <a:pt x="42" y="340"/>
                  </a:cubicBezTo>
                  <a:cubicBezTo>
                    <a:pt x="40" y="342"/>
                    <a:pt x="0" y="504"/>
                    <a:pt x="0" y="506"/>
                  </a:cubicBezTo>
                  <a:cubicBezTo>
                    <a:pt x="0" y="510"/>
                    <a:pt x="4" y="514"/>
                    <a:pt x="8" y="514"/>
                  </a:cubicBezTo>
                  <a:cubicBezTo>
                    <a:pt x="12" y="514"/>
                    <a:pt x="12" y="512"/>
                    <a:pt x="20" y="502"/>
                  </a:cubicBezTo>
                  <a:lnTo>
                    <a:pt x="56" y="462"/>
                  </a:lnTo>
                  <a:cubicBezTo>
                    <a:pt x="86" y="504"/>
                    <a:pt x="134" y="514"/>
                    <a:pt x="174" y="514"/>
                  </a:cubicBezTo>
                  <a:cubicBezTo>
                    <a:pt x="270" y="514"/>
                    <a:pt x="354" y="420"/>
                    <a:pt x="354" y="332"/>
                  </a:cubicBezTo>
                  <a:cubicBezTo>
                    <a:pt x="354" y="282"/>
                    <a:pt x="330" y="258"/>
                    <a:pt x="320" y="250"/>
                  </a:cubicBezTo>
                  <a:cubicBezTo>
                    <a:pt x="304" y="232"/>
                    <a:pt x="292" y="230"/>
                    <a:pt x="230" y="214"/>
                  </a:cubicBezTo>
                  <a:cubicBezTo>
                    <a:pt x="214" y="210"/>
                    <a:pt x="188" y="202"/>
                    <a:pt x="182" y="202"/>
                  </a:cubicBezTo>
                  <a:cubicBezTo>
                    <a:pt x="164" y="194"/>
                    <a:pt x="140" y="174"/>
                    <a:pt x="140" y="136"/>
                  </a:cubicBezTo>
                  <a:cubicBezTo>
                    <a:pt x="140" y="80"/>
                    <a:pt x="196" y="20"/>
                    <a:pt x="262" y="20"/>
                  </a:cubicBezTo>
                  <a:cubicBezTo>
                    <a:pt x="322" y="20"/>
                    <a:pt x="364" y="50"/>
                    <a:pt x="364" y="130"/>
                  </a:cubicBezTo>
                  <a:cubicBezTo>
                    <a:pt x="364" y="152"/>
                    <a:pt x="362" y="164"/>
                    <a:pt x="362" y="168"/>
                  </a:cubicBezTo>
                  <a:cubicBezTo>
                    <a:pt x="362" y="170"/>
                    <a:pt x="362" y="176"/>
                    <a:pt x="370" y="176"/>
                  </a:cubicBezTo>
                  <a:cubicBezTo>
                    <a:pt x="378" y="176"/>
                    <a:pt x="378" y="174"/>
                    <a:pt x="380" y="1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E5D9E2-9AEE-9ECD-ADE4-D4057EB29323}"/>
              </a:ext>
            </a:extLst>
          </p:cNvPr>
          <p:cNvGrpSpPr/>
          <p:nvPr/>
        </p:nvGrpSpPr>
        <p:grpSpPr>
          <a:xfrm>
            <a:off x="7709053" y="4053165"/>
            <a:ext cx="1201832" cy="155336"/>
            <a:chOff x="5782791" y="3977532"/>
            <a:chExt cx="1201832" cy="155336"/>
          </a:xfrm>
        </p:grpSpPr>
        <p:sp>
          <p:nvSpPr>
            <p:cNvPr id="29" name="Freeform 283">
              <a:extLst>
                <a:ext uri="{FF2B5EF4-FFF2-40B4-BE49-F238E27FC236}">
                  <a16:creationId xmlns:a16="http://schemas.microsoft.com/office/drawing/2014/main" id="{31DC0CA8-B10A-90C6-563F-692AF5192CEC}"/>
                </a:ext>
              </a:extLst>
            </p:cNvPr>
            <p:cNvSpPr/>
            <p:nvPr/>
          </p:nvSpPr>
          <p:spPr>
            <a:xfrm>
              <a:off x="5782791" y="3982548"/>
              <a:ext cx="1178055" cy="150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42" h="592">
                  <a:moveTo>
                    <a:pt x="2320" y="592"/>
                  </a:moveTo>
                  <a:lnTo>
                    <a:pt x="0" y="592"/>
                  </a:lnTo>
                  <a:lnTo>
                    <a:pt x="0" y="0"/>
                  </a:lnTo>
                  <a:lnTo>
                    <a:pt x="4642" y="0"/>
                  </a:lnTo>
                  <a:lnTo>
                    <a:pt x="4642" y="5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0" name="Freeform 284">
              <a:extLst>
                <a:ext uri="{FF2B5EF4-FFF2-40B4-BE49-F238E27FC236}">
                  <a16:creationId xmlns:a16="http://schemas.microsoft.com/office/drawing/2014/main" id="{EDD6663C-82D6-3904-7E5F-2412C0394D6E}"/>
                </a:ext>
              </a:extLst>
            </p:cNvPr>
            <p:cNvSpPr/>
            <p:nvPr/>
          </p:nvSpPr>
          <p:spPr>
            <a:xfrm>
              <a:off x="5821798" y="4017719"/>
              <a:ext cx="96712" cy="811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2" h="320">
                  <a:moveTo>
                    <a:pt x="42" y="270"/>
                  </a:moveTo>
                  <a:cubicBezTo>
                    <a:pt x="40" y="282"/>
                    <a:pt x="36" y="298"/>
                    <a:pt x="36" y="302"/>
                  </a:cubicBezTo>
                  <a:cubicBezTo>
                    <a:pt x="36" y="314"/>
                    <a:pt x="46" y="320"/>
                    <a:pt x="56" y="320"/>
                  </a:cubicBezTo>
                  <a:cubicBezTo>
                    <a:pt x="64" y="320"/>
                    <a:pt x="78" y="314"/>
                    <a:pt x="82" y="300"/>
                  </a:cubicBezTo>
                  <a:cubicBezTo>
                    <a:pt x="82" y="300"/>
                    <a:pt x="92" y="266"/>
                    <a:pt x="96" y="248"/>
                  </a:cubicBezTo>
                  <a:lnTo>
                    <a:pt x="110" y="184"/>
                  </a:lnTo>
                  <a:cubicBezTo>
                    <a:pt x="116" y="170"/>
                    <a:pt x="120" y="154"/>
                    <a:pt x="122" y="138"/>
                  </a:cubicBezTo>
                  <a:cubicBezTo>
                    <a:pt x="126" y="126"/>
                    <a:pt x="132" y="104"/>
                    <a:pt x="132" y="102"/>
                  </a:cubicBezTo>
                  <a:cubicBezTo>
                    <a:pt x="142" y="80"/>
                    <a:pt x="180" y="16"/>
                    <a:pt x="248" y="16"/>
                  </a:cubicBezTo>
                  <a:cubicBezTo>
                    <a:pt x="280" y="16"/>
                    <a:pt x="286" y="42"/>
                    <a:pt x="286" y="66"/>
                  </a:cubicBezTo>
                  <a:cubicBezTo>
                    <a:pt x="286" y="108"/>
                    <a:pt x="250" y="200"/>
                    <a:pt x="240" y="230"/>
                  </a:cubicBezTo>
                  <a:cubicBezTo>
                    <a:pt x="234" y="246"/>
                    <a:pt x="232" y="254"/>
                    <a:pt x="232" y="262"/>
                  </a:cubicBezTo>
                  <a:cubicBezTo>
                    <a:pt x="232" y="296"/>
                    <a:pt x="258" y="320"/>
                    <a:pt x="290" y="320"/>
                  </a:cubicBezTo>
                  <a:cubicBezTo>
                    <a:pt x="356" y="320"/>
                    <a:pt x="382" y="218"/>
                    <a:pt x="382" y="212"/>
                  </a:cubicBezTo>
                  <a:cubicBezTo>
                    <a:pt x="382" y="204"/>
                    <a:pt x="376" y="204"/>
                    <a:pt x="374" y="204"/>
                  </a:cubicBezTo>
                  <a:cubicBezTo>
                    <a:pt x="368" y="204"/>
                    <a:pt x="368" y="206"/>
                    <a:pt x="364" y="218"/>
                  </a:cubicBezTo>
                  <a:cubicBezTo>
                    <a:pt x="350" y="266"/>
                    <a:pt x="326" y="304"/>
                    <a:pt x="292" y="304"/>
                  </a:cubicBezTo>
                  <a:cubicBezTo>
                    <a:pt x="280" y="304"/>
                    <a:pt x="274" y="298"/>
                    <a:pt x="274" y="282"/>
                  </a:cubicBezTo>
                  <a:cubicBezTo>
                    <a:pt x="274" y="264"/>
                    <a:pt x="282" y="246"/>
                    <a:pt x="288" y="232"/>
                  </a:cubicBezTo>
                  <a:cubicBezTo>
                    <a:pt x="302" y="194"/>
                    <a:pt x="330" y="116"/>
                    <a:pt x="330" y="76"/>
                  </a:cubicBezTo>
                  <a:cubicBezTo>
                    <a:pt x="330" y="28"/>
                    <a:pt x="300" y="0"/>
                    <a:pt x="250" y="0"/>
                  </a:cubicBezTo>
                  <a:cubicBezTo>
                    <a:pt x="186" y="0"/>
                    <a:pt x="152" y="46"/>
                    <a:pt x="140" y="62"/>
                  </a:cubicBezTo>
                  <a:cubicBezTo>
                    <a:pt x="136" y="22"/>
                    <a:pt x="106" y="0"/>
                    <a:pt x="74" y="0"/>
                  </a:cubicBezTo>
                  <a:cubicBezTo>
                    <a:pt x="42" y="0"/>
                    <a:pt x="28" y="28"/>
                    <a:pt x="22" y="40"/>
                  </a:cubicBezTo>
                  <a:cubicBezTo>
                    <a:pt x="10" y="64"/>
                    <a:pt x="0" y="106"/>
                    <a:pt x="0" y="108"/>
                  </a:cubicBezTo>
                  <a:cubicBezTo>
                    <a:pt x="0" y="116"/>
                    <a:pt x="8" y="116"/>
                    <a:pt x="8" y="116"/>
                  </a:cubicBezTo>
                  <a:cubicBezTo>
                    <a:pt x="16" y="116"/>
                    <a:pt x="16" y="116"/>
                    <a:pt x="20" y="100"/>
                  </a:cubicBezTo>
                  <a:cubicBezTo>
                    <a:pt x="32" y="50"/>
                    <a:pt x="46" y="16"/>
                    <a:pt x="72" y="16"/>
                  </a:cubicBezTo>
                  <a:cubicBezTo>
                    <a:pt x="86" y="16"/>
                    <a:pt x="94" y="24"/>
                    <a:pt x="94" y="48"/>
                  </a:cubicBezTo>
                  <a:cubicBezTo>
                    <a:pt x="94" y="62"/>
                    <a:pt x="92" y="70"/>
                    <a:pt x="82" y="1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1" name="Freeform 285">
              <a:extLst>
                <a:ext uri="{FF2B5EF4-FFF2-40B4-BE49-F238E27FC236}">
                  <a16:creationId xmlns:a16="http://schemas.microsoft.com/office/drawing/2014/main" id="{AC65D828-4003-1220-FF91-1E6C4429133C}"/>
                </a:ext>
              </a:extLst>
            </p:cNvPr>
            <p:cNvSpPr/>
            <p:nvPr/>
          </p:nvSpPr>
          <p:spPr>
            <a:xfrm>
              <a:off x="5983238" y="4031453"/>
              <a:ext cx="119049" cy="419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0" h="166">
                  <a:moveTo>
                    <a:pt x="446" y="28"/>
                  </a:moveTo>
                  <a:cubicBezTo>
                    <a:pt x="456" y="28"/>
                    <a:pt x="470" y="28"/>
                    <a:pt x="470" y="14"/>
                  </a:cubicBezTo>
                  <a:cubicBezTo>
                    <a:pt x="470" y="0"/>
                    <a:pt x="456" y="0"/>
                    <a:pt x="446" y="0"/>
                  </a:cubicBezTo>
                  <a:lnTo>
                    <a:pt x="24" y="0"/>
                  </a:lnTo>
                  <a:cubicBezTo>
                    <a:pt x="14" y="0"/>
                    <a:pt x="0" y="0"/>
                    <a:pt x="0" y="14"/>
                  </a:cubicBezTo>
                  <a:cubicBezTo>
                    <a:pt x="0" y="28"/>
                    <a:pt x="14" y="28"/>
                    <a:pt x="24" y="28"/>
                  </a:cubicBezTo>
                  <a:close/>
                  <a:moveTo>
                    <a:pt x="446" y="166"/>
                  </a:moveTo>
                  <a:cubicBezTo>
                    <a:pt x="456" y="166"/>
                    <a:pt x="470" y="166"/>
                    <a:pt x="470" y="152"/>
                  </a:cubicBezTo>
                  <a:cubicBezTo>
                    <a:pt x="470" y="138"/>
                    <a:pt x="456" y="138"/>
                    <a:pt x="446" y="138"/>
                  </a:cubicBezTo>
                  <a:lnTo>
                    <a:pt x="24" y="138"/>
                  </a:lnTo>
                  <a:cubicBezTo>
                    <a:pt x="14" y="138"/>
                    <a:pt x="0" y="138"/>
                    <a:pt x="0" y="152"/>
                  </a:cubicBezTo>
                  <a:cubicBezTo>
                    <a:pt x="0" y="166"/>
                    <a:pt x="14" y="166"/>
                    <a:pt x="24" y="1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2" name="Freeform 286">
              <a:extLst>
                <a:ext uri="{FF2B5EF4-FFF2-40B4-BE49-F238E27FC236}">
                  <a16:creationId xmlns:a16="http://schemas.microsoft.com/office/drawing/2014/main" id="{242C20B7-46FC-028D-A76E-C390C33F5DB4}"/>
                </a:ext>
              </a:extLst>
            </p:cNvPr>
            <p:cNvSpPr/>
            <p:nvPr/>
          </p:nvSpPr>
          <p:spPr>
            <a:xfrm>
              <a:off x="6168539" y="3977532"/>
              <a:ext cx="75389" cy="12335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8" h="486">
                  <a:moveTo>
                    <a:pt x="298" y="244"/>
                  </a:moveTo>
                  <a:cubicBezTo>
                    <a:pt x="298" y="188"/>
                    <a:pt x="294" y="132"/>
                    <a:pt x="270" y="80"/>
                  </a:cubicBezTo>
                  <a:cubicBezTo>
                    <a:pt x="238" y="12"/>
                    <a:pt x="180" y="0"/>
                    <a:pt x="150" y="0"/>
                  </a:cubicBezTo>
                  <a:cubicBezTo>
                    <a:pt x="106" y="0"/>
                    <a:pt x="56" y="18"/>
                    <a:pt x="26" y="84"/>
                  </a:cubicBezTo>
                  <a:cubicBezTo>
                    <a:pt x="4" y="132"/>
                    <a:pt x="0" y="188"/>
                    <a:pt x="0" y="244"/>
                  </a:cubicBezTo>
                  <a:cubicBezTo>
                    <a:pt x="0" y="298"/>
                    <a:pt x="2" y="360"/>
                    <a:pt x="32" y="414"/>
                  </a:cubicBezTo>
                  <a:cubicBezTo>
                    <a:pt x="62" y="472"/>
                    <a:pt x="114" y="486"/>
                    <a:pt x="148" y="486"/>
                  </a:cubicBezTo>
                  <a:cubicBezTo>
                    <a:pt x="186" y="486"/>
                    <a:pt x="240" y="470"/>
                    <a:pt x="272" y="404"/>
                  </a:cubicBezTo>
                  <a:cubicBezTo>
                    <a:pt x="294" y="356"/>
                    <a:pt x="298" y="300"/>
                    <a:pt x="298" y="244"/>
                  </a:cubicBezTo>
                  <a:close/>
                  <a:moveTo>
                    <a:pt x="148" y="470"/>
                  </a:moveTo>
                  <a:cubicBezTo>
                    <a:pt x="122" y="470"/>
                    <a:pt x="80" y="452"/>
                    <a:pt x="66" y="384"/>
                  </a:cubicBezTo>
                  <a:cubicBezTo>
                    <a:pt x="58" y="342"/>
                    <a:pt x="58" y="278"/>
                    <a:pt x="58" y="236"/>
                  </a:cubicBezTo>
                  <a:cubicBezTo>
                    <a:pt x="58" y="190"/>
                    <a:pt x="58" y="144"/>
                    <a:pt x="64" y="106"/>
                  </a:cubicBezTo>
                  <a:cubicBezTo>
                    <a:pt x="78" y="22"/>
                    <a:pt x="130" y="16"/>
                    <a:pt x="148" y="16"/>
                  </a:cubicBezTo>
                  <a:cubicBezTo>
                    <a:pt x="172" y="16"/>
                    <a:pt x="218" y="28"/>
                    <a:pt x="232" y="98"/>
                  </a:cubicBezTo>
                  <a:cubicBezTo>
                    <a:pt x="240" y="138"/>
                    <a:pt x="240" y="192"/>
                    <a:pt x="240" y="236"/>
                  </a:cubicBezTo>
                  <a:cubicBezTo>
                    <a:pt x="240" y="288"/>
                    <a:pt x="240" y="336"/>
                    <a:pt x="232" y="382"/>
                  </a:cubicBezTo>
                  <a:cubicBezTo>
                    <a:pt x="220" y="448"/>
                    <a:pt x="180" y="470"/>
                    <a:pt x="148" y="4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3" name="Freeform 287">
              <a:extLst>
                <a:ext uri="{FF2B5EF4-FFF2-40B4-BE49-F238E27FC236}">
                  <a16:creationId xmlns:a16="http://schemas.microsoft.com/office/drawing/2014/main" id="{A0B5E5E4-C789-7C69-A1A8-0BDB691EBD28}"/>
                </a:ext>
              </a:extLst>
            </p:cNvPr>
            <p:cNvSpPr/>
            <p:nvPr/>
          </p:nvSpPr>
          <p:spPr>
            <a:xfrm>
              <a:off x="6266520" y="4077745"/>
              <a:ext cx="21068" cy="536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" h="212">
                  <a:moveTo>
                    <a:pt x="84" y="74"/>
                  </a:moveTo>
                  <a:cubicBezTo>
                    <a:pt x="84" y="28"/>
                    <a:pt x="66" y="0"/>
                    <a:pt x="38" y="0"/>
                  </a:cubicBezTo>
                  <a:cubicBezTo>
                    <a:pt x="14" y="0"/>
                    <a:pt x="0" y="18"/>
                    <a:pt x="0" y="38"/>
                  </a:cubicBezTo>
                  <a:cubicBezTo>
                    <a:pt x="0" y="56"/>
                    <a:pt x="14" y="76"/>
                    <a:pt x="38" y="76"/>
                  </a:cubicBezTo>
                  <a:cubicBezTo>
                    <a:pt x="46" y="76"/>
                    <a:pt x="56" y="72"/>
                    <a:pt x="64" y="66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8" y="64"/>
                    <a:pt x="68" y="64"/>
                    <a:pt x="68" y="74"/>
                  </a:cubicBezTo>
                  <a:cubicBezTo>
                    <a:pt x="68" y="128"/>
                    <a:pt x="44" y="170"/>
                    <a:pt x="20" y="194"/>
                  </a:cubicBezTo>
                  <a:cubicBezTo>
                    <a:pt x="12" y="200"/>
                    <a:pt x="12" y="202"/>
                    <a:pt x="12" y="204"/>
                  </a:cubicBezTo>
                  <a:cubicBezTo>
                    <a:pt x="12" y="210"/>
                    <a:pt x="16" y="212"/>
                    <a:pt x="18" y="212"/>
                  </a:cubicBezTo>
                  <a:cubicBezTo>
                    <a:pt x="26" y="212"/>
                    <a:pt x="84" y="158"/>
                    <a:pt x="84" y="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4" name="Freeform 288">
              <a:extLst>
                <a:ext uri="{FF2B5EF4-FFF2-40B4-BE49-F238E27FC236}">
                  <a16:creationId xmlns:a16="http://schemas.microsoft.com/office/drawing/2014/main" id="{AC8DAEFB-BD53-ABCE-B7DD-490C33564587}"/>
                </a:ext>
              </a:extLst>
            </p:cNvPr>
            <p:cNvSpPr/>
            <p:nvPr/>
          </p:nvSpPr>
          <p:spPr>
            <a:xfrm>
              <a:off x="6346225" y="3977532"/>
              <a:ext cx="59144" cy="11929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4" h="470">
                  <a:moveTo>
                    <a:pt x="146" y="18"/>
                  </a:moveTo>
                  <a:cubicBezTo>
                    <a:pt x="146" y="2"/>
                    <a:pt x="146" y="0"/>
                    <a:pt x="130" y="0"/>
                  </a:cubicBezTo>
                  <a:cubicBezTo>
                    <a:pt x="86" y="46"/>
                    <a:pt x="22" y="46"/>
                    <a:pt x="0" y="46"/>
                  </a:cubicBezTo>
                  <a:lnTo>
                    <a:pt x="0" y="68"/>
                  </a:lnTo>
                  <a:cubicBezTo>
                    <a:pt x="14" y="68"/>
                    <a:pt x="56" y="68"/>
                    <a:pt x="92" y="48"/>
                  </a:cubicBezTo>
                  <a:lnTo>
                    <a:pt x="92" y="414"/>
                  </a:lnTo>
                  <a:cubicBezTo>
                    <a:pt x="92" y="440"/>
                    <a:pt x="90" y="448"/>
                    <a:pt x="26" y="448"/>
                  </a:cubicBezTo>
                  <a:lnTo>
                    <a:pt x="4" y="448"/>
                  </a:lnTo>
                  <a:lnTo>
                    <a:pt x="4" y="470"/>
                  </a:lnTo>
                  <a:cubicBezTo>
                    <a:pt x="30" y="468"/>
                    <a:pt x="90" y="468"/>
                    <a:pt x="120" y="468"/>
                  </a:cubicBezTo>
                  <a:cubicBezTo>
                    <a:pt x="148" y="468"/>
                    <a:pt x="210" y="468"/>
                    <a:pt x="234" y="470"/>
                  </a:cubicBezTo>
                  <a:lnTo>
                    <a:pt x="234" y="448"/>
                  </a:lnTo>
                  <a:lnTo>
                    <a:pt x="212" y="448"/>
                  </a:lnTo>
                  <a:cubicBezTo>
                    <a:pt x="148" y="448"/>
                    <a:pt x="146" y="440"/>
                    <a:pt x="146" y="4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5" name="Freeform 289">
              <a:extLst>
                <a:ext uri="{FF2B5EF4-FFF2-40B4-BE49-F238E27FC236}">
                  <a16:creationId xmlns:a16="http://schemas.microsoft.com/office/drawing/2014/main" id="{4FA28AA4-1E58-0759-75A1-0586ECDC7D62}"/>
                </a:ext>
              </a:extLst>
            </p:cNvPr>
            <p:cNvSpPr/>
            <p:nvPr/>
          </p:nvSpPr>
          <p:spPr>
            <a:xfrm>
              <a:off x="6434560" y="4077745"/>
              <a:ext cx="21068" cy="536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" h="212">
                  <a:moveTo>
                    <a:pt x="84" y="74"/>
                  </a:moveTo>
                  <a:cubicBezTo>
                    <a:pt x="84" y="28"/>
                    <a:pt x="66" y="0"/>
                    <a:pt x="38" y="0"/>
                  </a:cubicBezTo>
                  <a:cubicBezTo>
                    <a:pt x="14" y="0"/>
                    <a:pt x="0" y="18"/>
                    <a:pt x="0" y="38"/>
                  </a:cubicBezTo>
                  <a:cubicBezTo>
                    <a:pt x="0" y="56"/>
                    <a:pt x="14" y="76"/>
                    <a:pt x="38" y="76"/>
                  </a:cubicBezTo>
                  <a:cubicBezTo>
                    <a:pt x="46" y="76"/>
                    <a:pt x="56" y="72"/>
                    <a:pt x="64" y="66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8" y="64"/>
                    <a:pt x="68" y="64"/>
                    <a:pt x="68" y="74"/>
                  </a:cubicBezTo>
                  <a:cubicBezTo>
                    <a:pt x="68" y="128"/>
                    <a:pt x="44" y="170"/>
                    <a:pt x="20" y="194"/>
                  </a:cubicBezTo>
                  <a:cubicBezTo>
                    <a:pt x="12" y="200"/>
                    <a:pt x="12" y="202"/>
                    <a:pt x="12" y="204"/>
                  </a:cubicBezTo>
                  <a:cubicBezTo>
                    <a:pt x="12" y="210"/>
                    <a:pt x="16" y="212"/>
                    <a:pt x="18" y="212"/>
                  </a:cubicBezTo>
                  <a:cubicBezTo>
                    <a:pt x="26" y="212"/>
                    <a:pt x="84" y="158"/>
                    <a:pt x="84" y="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6" name="Freeform 290">
              <a:extLst>
                <a:ext uri="{FF2B5EF4-FFF2-40B4-BE49-F238E27FC236}">
                  <a16:creationId xmlns:a16="http://schemas.microsoft.com/office/drawing/2014/main" id="{82FC5A17-DDCC-D5DB-7110-8D40D2957742}"/>
                </a:ext>
              </a:extLst>
            </p:cNvPr>
            <p:cNvSpPr/>
            <p:nvPr/>
          </p:nvSpPr>
          <p:spPr>
            <a:xfrm>
              <a:off x="6514264" y="4077745"/>
              <a:ext cx="19038" cy="190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" h="76">
                  <a:moveTo>
                    <a:pt x="76" y="38"/>
                  </a:moveTo>
                  <a:cubicBezTo>
                    <a:pt x="76" y="18"/>
                    <a:pt x="60" y="0"/>
                    <a:pt x="38" y="0"/>
                  </a:cubicBezTo>
                  <a:cubicBezTo>
                    <a:pt x="18" y="0"/>
                    <a:pt x="0" y="18"/>
                    <a:pt x="0" y="38"/>
                  </a:cubicBezTo>
                  <a:cubicBezTo>
                    <a:pt x="0" y="60"/>
                    <a:pt x="18" y="76"/>
                    <a:pt x="38" y="76"/>
                  </a:cubicBezTo>
                  <a:cubicBezTo>
                    <a:pt x="60" y="76"/>
                    <a:pt x="76" y="60"/>
                    <a:pt x="76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7" name="Freeform 291">
              <a:extLst>
                <a:ext uri="{FF2B5EF4-FFF2-40B4-BE49-F238E27FC236}">
                  <a16:creationId xmlns:a16="http://schemas.microsoft.com/office/drawing/2014/main" id="{3388E1AD-5D0A-6C75-605C-7DA04178732C}"/>
                </a:ext>
              </a:extLst>
            </p:cNvPr>
            <p:cNvSpPr/>
            <p:nvPr/>
          </p:nvSpPr>
          <p:spPr>
            <a:xfrm>
              <a:off x="6593461" y="4077745"/>
              <a:ext cx="19038" cy="190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" h="76">
                  <a:moveTo>
                    <a:pt x="76" y="38"/>
                  </a:moveTo>
                  <a:cubicBezTo>
                    <a:pt x="76" y="18"/>
                    <a:pt x="60" y="0"/>
                    <a:pt x="38" y="0"/>
                  </a:cubicBezTo>
                  <a:cubicBezTo>
                    <a:pt x="18" y="0"/>
                    <a:pt x="0" y="18"/>
                    <a:pt x="0" y="38"/>
                  </a:cubicBezTo>
                  <a:cubicBezTo>
                    <a:pt x="0" y="60"/>
                    <a:pt x="18" y="76"/>
                    <a:pt x="38" y="76"/>
                  </a:cubicBezTo>
                  <a:cubicBezTo>
                    <a:pt x="60" y="76"/>
                    <a:pt x="76" y="60"/>
                    <a:pt x="76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8" name="Freeform 292">
              <a:extLst>
                <a:ext uri="{FF2B5EF4-FFF2-40B4-BE49-F238E27FC236}">
                  <a16:creationId xmlns:a16="http://schemas.microsoft.com/office/drawing/2014/main" id="{6AD3756B-C24A-DE20-4E0D-89D850E25277}"/>
                </a:ext>
              </a:extLst>
            </p:cNvPr>
            <p:cNvSpPr/>
            <p:nvPr/>
          </p:nvSpPr>
          <p:spPr>
            <a:xfrm>
              <a:off x="6672658" y="4077745"/>
              <a:ext cx="19038" cy="190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" h="76">
                  <a:moveTo>
                    <a:pt x="76" y="38"/>
                  </a:moveTo>
                  <a:cubicBezTo>
                    <a:pt x="76" y="18"/>
                    <a:pt x="60" y="0"/>
                    <a:pt x="38" y="0"/>
                  </a:cubicBezTo>
                  <a:cubicBezTo>
                    <a:pt x="18" y="0"/>
                    <a:pt x="0" y="18"/>
                    <a:pt x="0" y="38"/>
                  </a:cubicBezTo>
                  <a:cubicBezTo>
                    <a:pt x="0" y="60"/>
                    <a:pt x="18" y="76"/>
                    <a:pt x="38" y="76"/>
                  </a:cubicBezTo>
                  <a:cubicBezTo>
                    <a:pt x="60" y="76"/>
                    <a:pt x="76" y="60"/>
                    <a:pt x="76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39" name="Freeform 293">
              <a:extLst>
                <a:ext uri="{FF2B5EF4-FFF2-40B4-BE49-F238E27FC236}">
                  <a16:creationId xmlns:a16="http://schemas.microsoft.com/office/drawing/2014/main" id="{86032658-AF9A-01A7-DB27-05AC07D7636C}"/>
                </a:ext>
              </a:extLst>
            </p:cNvPr>
            <p:cNvSpPr/>
            <p:nvPr/>
          </p:nvSpPr>
          <p:spPr>
            <a:xfrm>
              <a:off x="6751855" y="4077745"/>
              <a:ext cx="21068" cy="536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" h="212">
                  <a:moveTo>
                    <a:pt x="84" y="74"/>
                  </a:moveTo>
                  <a:cubicBezTo>
                    <a:pt x="84" y="28"/>
                    <a:pt x="66" y="0"/>
                    <a:pt x="38" y="0"/>
                  </a:cubicBezTo>
                  <a:cubicBezTo>
                    <a:pt x="14" y="0"/>
                    <a:pt x="0" y="18"/>
                    <a:pt x="0" y="38"/>
                  </a:cubicBezTo>
                  <a:cubicBezTo>
                    <a:pt x="0" y="56"/>
                    <a:pt x="14" y="76"/>
                    <a:pt x="38" y="76"/>
                  </a:cubicBezTo>
                  <a:cubicBezTo>
                    <a:pt x="46" y="76"/>
                    <a:pt x="56" y="72"/>
                    <a:pt x="64" y="66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8" y="64"/>
                    <a:pt x="68" y="64"/>
                    <a:pt x="68" y="74"/>
                  </a:cubicBezTo>
                  <a:cubicBezTo>
                    <a:pt x="68" y="128"/>
                    <a:pt x="44" y="170"/>
                    <a:pt x="20" y="194"/>
                  </a:cubicBezTo>
                  <a:cubicBezTo>
                    <a:pt x="12" y="200"/>
                    <a:pt x="12" y="202"/>
                    <a:pt x="12" y="204"/>
                  </a:cubicBezTo>
                  <a:cubicBezTo>
                    <a:pt x="12" y="210"/>
                    <a:pt x="16" y="212"/>
                    <a:pt x="18" y="212"/>
                  </a:cubicBezTo>
                  <a:cubicBezTo>
                    <a:pt x="26" y="212"/>
                    <a:pt x="84" y="158"/>
                    <a:pt x="84" y="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40" name="Freeform 294">
              <a:extLst>
                <a:ext uri="{FF2B5EF4-FFF2-40B4-BE49-F238E27FC236}">
                  <a16:creationId xmlns:a16="http://schemas.microsoft.com/office/drawing/2014/main" id="{B81E13ED-0F70-F5C4-99D2-CB3DC8B5FECC}"/>
                </a:ext>
              </a:extLst>
            </p:cNvPr>
            <p:cNvSpPr/>
            <p:nvPr/>
          </p:nvSpPr>
          <p:spPr>
            <a:xfrm>
              <a:off x="6825975" y="4017719"/>
              <a:ext cx="158648" cy="811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26" h="320">
                  <a:moveTo>
                    <a:pt x="320" y="120"/>
                  </a:moveTo>
                  <a:cubicBezTo>
                    <a:pt x="282" y="72"/>
                    <a:pt x="272" y="62"/>
                    <a:pt x="252" y="44"/>
                  </a:cubicBezTo>
                  <a:cubicBezTo>
                    <a:pt x="212" y="12"/>
                    <a:pt x="172" y="0"/>
                    <a:pt x="136" y="0"/>
                  </a:cubicBezTo>
                  <a:cubicBezTo>
                    <a:pt x="54" y="0"/>
                    <a:pt x="0" y="78"/>
                    <a:pt x="0" y="160"/>
                  </a:cubicBezTo>
                  <a:cubicBezTo>
                    <a:pt x="0" y="242"/>
                    <a:pt x="52" y="320"/>
                    <a:pt x="134" y="320"/>
                  </a:cubicBezTo>
                  <a:cubicBezTo>
                    <a:pt x="214" y="320"/>
                    <a:pt x="272" y="256"/>
                    <a:pt x="308" y="200"/>
                  </a:cubicBezTo>
                  <a:cubicBezTo>
                    <a:pt x="346" y="248"/>
                    <a:pt x="354" y="258"/>
                    <a:pt x="376" y="276"/>
                  </a:cubicBezTo>
                  <a:cubicBezTo>
                    <a:pt x="416" y="308"/>
                    <a:pt x="454" y="320"/>
                    <a:pt x="490" y="320"/>
                  </a:cubicBezTo>
                  <a:cubicBezTo>
                    <a:pt x="574" y="320"/>
                    <a:pt x="626" y="242"/>
                    <a:pt x="626" y="160"/>
                  </a:cubicBezTo>
                  <a:cubicBezTo>
                    <a:pt x="626" y="78"/>
                    <a:pt x="574" y="0"/>
                    <a:pt x="494" y="0"/>
                  </a:cubicBezTo>
                  <a:cubicBezTo>
                    <a:pt x="412" y="0"/>
                    <a:pt x="354" y="64"/>
                    <a:pt x="320" y="120"/>
                  </a:cubicBezTo>
                  <a:close/>
                  <a:moveTo>
                    <a:pt x="338" y="146"/>
                  </a:moveTo>
                  <a:cubicBezTo>
                    <a:pt x="366" y="94"/>
                    <a:pt x="418" y="22"/>
                    <a:pt x="498" y="22"/>
                  </a:cubicBezTo>
                  <a:cubicBezTo>
                    <a:pt x="574" y="22"/>
                    <a:pt x="612" y="96"/>
                    <a:pt x="612" y="160"/>
                  </a:cubicBezTo>
                  <a:cubicBezTo>
                    <a:pt x="612" y="230"/>
                    <a:pt x="564" y="286"/>
                    <a:pt x="502" y="286"/>
                  </a:cubicBezTo>
                  <a:cubicBezTo>
                    <a:pt x="462" y="286"/>
                    <a:pt x="430" y="256"/>
                    <a:pt x="414" y="242"/>
                  </a:cubicBezTo>
                  <a:cubicBezTo>
                    <a:pt x="398" y="222"/>
                    <a:pt x="380" y="200"/>
                    <a:pt x="338" y="146"/>
                  </a:cubicBezTo>
                  <a:close/>
                  <a:moveTo>
                    <a:pt x="290" y="176"/>
                  </a:moveTo>
                  <a:cubicBezTo>
                    <a:pt x="260" y="226"/>
                    <a:pt x="208" y="298"/>
                    <a:pt x="128" y="298"/>
                  </a:cubicBezTo>
                  <a:cubicBezTo>
                    <a:pt x="54" y="298"/>
                    <a:pt x="16" y="224"/>
                    <a:pt x="16" y="160"/>
                  </a:cubicBezTo>
                  <a:cubicBezTo>
                    <a:pt x="16" y="92"/>
                    <a:pt x="62" y="34"/>
                    <a:pt x="124" y="34"/>
                  </a:cubicBezTo>
                  <a:cubicBezTo>
                    <a:pt x="166" y="34"/>
                    <a:pt x="198" y="64"/>
                    <a:pt x="212" y="78"/>
                  </a:cubicBezTo>
                  <a:cubicBezTo>
                    <a:pt x="230" y="98"/>
                    <a:pt x="246" y="120"/>
                    <a:pt x="290" y="1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</p:grpSp>
      <p:sp>
        <p:nvSpPr>
          <p:cNvPr id="41" name="Freeform 295">
            <a:extLst>
              <a:ext uri="{FF2B5EF4-FFF2-40B4-BE49-F238E27FC236}">
                <a16:creationId xmlns:a16="http://schemas.microsoft.com/office/drawing/2014/main" id="{17303FA0-81DF-A01B-61D7-5255AFA94959}"/>
              </a:ext>
            </a:extLst>
          </p:cNvPr>
          <p:cNvSpPr/>
          <p:nvPr/>
        </p:nvSpPr>
        <p:spPr>
          <a:xfrm>
            <a:off x="8120946" y="2813977"/>
            <a:ext cx="1368940" cy="117585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94" h="4624">
                <a:moveTo>
                  <a:pt x="5394" y="0"/>
                </a:moveTo>
                <a:cubicBezTo>
                  <a:pt x="5394" y="3391"/>
                  <a:pt x="0" y="1234"/>
                  <a:pt x="0" y="4624"/>
                </a:cubicBezTo>
              </a:path>
            </a:pathLst>
          </a:custGeom>
          <a:noFill/>
          <a:ln w="12600">
            <a:solidFill>
              <a:srgbClr val="000000"/>
            </a:solidFill>
            <a:prstDash val="solid"/>
            <a:tailEnd type="arrow"/>
          </a:ln>
        </p:spPr>
        <p:txBody>
          <a:bodyPr vert="horz" wrap="none" lIns="6120" tIns="6120" rIns="6120" bIns="6120" anchor="ctr" compatLnSpc="0"/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2" name="Freeform 296">
            <a:extLst>
              <a:ext uri="{FF2B5EF4-FFF2-40B4-BE49-F238E27FC236}">
                <a16:creationId xmlns:a16="http://schemas.microsoft.com/office/drawing/2014/main" id="{D96428FA-3610-B5A1-5527-DC7067858179}"/>
              </a:ext>
            </a:extLst>
          </p:cNvPr>
          <p:cNvSpPr/>
          <p:nvPr/>
        </p:nvSpPr>
        <p:spPr>
          <a:xfrm>
            <a:off x="7033765" y="4297085"/>
            <a:ext cx="1106473" cy="11420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60" h="4491">
                <a:moveTo>
                  <a:pt x="4360" y="0"/>
                </a:moveTo>
                <a:cubicBezTo>
                  <a:pt x="4360" y="4335"/>
                  <a:pt x="4360" y="4491"/>
                  <a:pt x="0" y="4491"/>
                </a:cubicBezTo>
              </a:path>
            </a:pathLst>
          </a:custGeom>
          <a:noFill/>
          <a:ln w="12600">
            <a:solidFill>
              <a:srgbClr val="000000"/>
            </a:solidFill>
            <a:prstDash val="solid"/>
            <a:tailEnd type="arrow"/>
          </a:ln>
        </p:spPr>
        <p:txBody>
          <a:bodyPr vert="horz" wrap="none" lIns="6120" tIns="6120" rIns="6120" bIns="6120" anchor="ctr" compatLnSpc="0"/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755F0D1-26CF-5E3F-69BE-CEFD0AF38DCD}"/>
              </a:ext>
            </a:extLst>
          </p:cNvPr>
          <p:cNvGrpSpPr/>
          <p:nvPr/>
        </p:nvGrpSpPr>
        <p:grpSpPr>
          <a:xfrm>
            <a:off x="7033765" y="5180947"/>
            <a:ext cx="839437" cy="141164"/>
            <a:chOff x="5107503" y="5105314"/>
            <a:chExt cx="839437" cy="141164"/>
          </a:xfrm>
        </p:grpSpPr>
        <p:sp>
          <p:nvSpPr>
            <p:cNvPr id="44" name="Freeform 297">
              <a:extLst>
                <a:ext uri="{FF2B5EF4-FFF2-40B4-BE49-F238E27FC236}">
                  <a16:creationId xmlns:a16="http://schemas.microsoft.com/office/drawing/2014/main" id="{A4E717EF-2AF7-37FC-B4D9-771E6E19505A}"/>
                </a:ext>
              </a:extLst>
            </p:cNvPr>
            <p:cNvSpPr/>
            <p:nvPr/>
          </p:nvSpPr>
          <p:spPr>
            <a:xfrm>
              <a:off x="5107503" y="5109384"/>
              <a:ext cx="839437" cy="1370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08" h="540">
                  <a:moveTo>
                    <a:pt x="1654" y="540"/>
                  </a:moveTo>
                  <a:lnTo>
                    <a:pt x="0" y="540"/>
                  </a:lnTo>
                  <a:lnTo>
                    <a:pt x="0" y="0"/>
                  </a:lnTo>
                  <a:lnTo>
                    <a:pt x="3308" y="0"/>
                  </a:lnTo>
                  <a:lnTo>
                    <a:pt x="3308" y="5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45" name="Freeform 298">
              <a:extLst>
                <a:ext uri="{FF2B5EF4-FFF2-40B4-BE49-F238E27FC236}">
                  <a16:creationId xmlns:a16="http://schemas.microsoft.com/office/drawing/2014/main" id="{E6512FF9-E9D7-AF67-8E27-718F99C245C0}"/>
                </a:ext>
              </a:extLst>
            </p:cNvPr>
            <p:cNvSpPr/>
            <p:nvPr/>
          </p:nvSpPr>
          <p:spPr>
            <a:xfrm>
              <a:off x="5112579" y="5152624"/>
              <a:ext cx="146464" cy="811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8" h="320">
                  <a:moveTo>
                    <a:pt x="42" y="270"/>
                  </a:moveTo>
                  <a:cubicBezTo>
                    <a:pt x="40" y="282"/>
                    <a:pt x="36" y="298"/>
                    <a:pt x="36" y="302"/>
                  </a:cubicBezTo>
                  <a:cubicBezTo>
                    <a:pt x="36" y="314"/>
                    <a:pt x="46" y="320"/>
                    <a:pt x="56" y="320"/>
                  </a:cubicBezTo>
                  <a:cubicBezTo>
                    <a:pt x="64" y="320"/>
                    <a:pt x="76" y="314"/>
                    <a:pt x="82" y="300"/>
                  </a:cubicBezTo>
                  <a:cubicBezTo>
                    <a:pt x="82" y="300"/>
                    <a:pt x="90" y="266"/>
                    <a:pt x="96" y="248"/>
                  </a:cubicBezTo>
                  <a:lnTo>
                    <a:pt x="110" y="184"/>
                  </a:lnTo>
                  <a:cubicBezTo>
                    <a:pt x="114" y="170"/>
                    <a:pt x="120" y="154"/>
                    <a:pt x="122" y="138"/>
                  </a:cubicBezTo>
                  <a:cubicBezTo>
                    <a:pt x="126" y="126"/>
                    <a:pt x="132" y="104"/>
                    <a:pt x="132" y="102"/>
                  </a:cubicBezTo>
                  <a:cubicBezTo>
                    <a:pt x="142" y="80"/>
                    <a:pt x="180" y="16"/>
                    <a:pt x="246" y="16"/>
                  </a:cubicBezTo>
                  <a:cubicBezTo>
                    <a:pt x="278" y="16"/>
                    <a:pt x="284" y="42"/>
                    <a:pt x="284" y="66"/>
                  </a:cubicBezTo>
                  <a:cubicBezTo>
                    <a:pt x="284" y="82"/>
                    <a:pt x="280" y="102"/>
                    <a:pt x="274" y="124"/>
                  </a:cubicBezTo>
                  <a:lnTo>
                    <a:pt x="254" y="206"/>
                  </a:lnTo>
                  <a:lnTo>
                    <a:pt x="240" y="260"/>
                  </a:lnTo>
                  <a:cubicBezTo>
                    <a:pt x="238" y="274"/>
                    <a:pt x="232" y="298"/>
                    <a:pt x="232" y="302"/>
                  </a:cubicBezTo>
                  <a:cubicBezTo>
                    <a:pt x="232" y="314"/>
                    <a:pt x="242" y="320"/>
                    <a:pt x="252" y="320"/>
                  </a:cubicBezTo>
                  <a:cubicBezTo>
                    <a:pt x="274" y="320"/>
                    <a:pt x="278" y="302"/>
                    <a:pt x="284" y="280"/>
                  </a:cubicBezTo>
                  <a:cubicBezTo>
                    <a:pt x="294" y="240"/>
                    <a:pt x="320" y="138"/>
                    <a:pt x="326" y="110"/>
                  </a:cubicBezTo>
                  <a:cubicBezTo>
                    <a:pt x="328" y="100"/>
                    <a:pt x="366" y="16"/>
                    <a:pt x="442" y="16"/>
                  </a:cubicBezTo>
                  <a:cubicBezTo>
                    <a:pt x="472" y="16"/>
                    <a:pt x="480" y="40"/>
                    <a:pt x="480" y="66"/>
                  </a:cubicBezTo>
                  <a:cubicBezTo>
                    <a:pt x="480" y="106"/>
                    <a:pt x="450" y="186"/>
                    <a:pt x="436" y="224"/>
                  </a:cubicBezTo>
                  <a:cubicBezTo>
                    <a:pt x="430" y="240"/>
                    <a:pt x="428" y="248"/>
                    <a:pt x="428" y="262"/>
                  </a:cubicBezTo>
                  <a:cubicBezTo>
                    <a:pt x="428" y="296"/>
                    <a:pt x="452" y="320"/>
                    <a:pt x="486" y="320"/>
                  </a:cubicBezTo>
                  <a:cubicBezTo>
                    <a:pt x="552" y="320"/>
                    <a:pt x="578" y="218"/>
                    <a:pt x="578" y="212"/>
                  </a:cubicBezTo>
                  <a:cubicBezTo>
                    <a:pt x="578" y="204"/>
                    <a:pt x="572" y="204"/>
                    <a:pt x="570" y="204"/>
                  </a:cubicBezTo>
                  <a:cubicBezTo>
                    <a:pt x="562" y="204"/>
                    <a:pt x="562" y="206"/>
                    <a:pt x="558" y="218"/>
                  </a:cubicBezTo>
                  <a:cubicBezTo>
                    <a:pt x="548" y="254"/>
                    <a:pt x="526" y="304"/>
                    <a:pt x="486" y="304"/>
                  </a:cubicBezTo>
                  <a:cubicBezTo>
                    <a:pt x="474" y="304"/>
                    <a:pt x="470" y="298"/>
                    <a:pt x="470" y="282"/>
                  </a:cubicBezTo>
                  <a:cubicBezTo>
                    <a:pt x="470" y="264"/>
                    <a:pt x="476" y="246"/>
                    <a:pt x="482" y="232"/>
                  </a:cubicBezTo>
                  <a:cubicBezTo>
                    <a:pt x="496" y="194"/>
                    <a:pt x="526" y="116"/>
                    <a:pt x="526" y="76"/>
                  </a:cubicBezTo>
                  <a:cubicBezTo>
                    <a:pt x="526" y="30"/>
                    <a:pt x="498" y="0"/>
                    <a:pt x="444" y="0"/>
                  </a:cubicBezTo>
                  <a:cubicBezTo>
                    <a:pt x="392" y="0"/>
                    <a:pt x="356" y="32"/>
                    <a:pt x="330" y="68"/>
                  </a:cubicBezTo>
                  <a:cubicBezTo>
                    <a:pt x="328" y="60"/>
                    <a:pt x="326" y="36"/>
                    <a:pt x="306" y="18"/>
                  </a:cubicBezTo>
                  <a:cubicBezTo>
                    <a:pt x="290" y="4"/>
                    <a:pt x="266" y="0"/>
                    <a:pt x="248" y="0"/>
                  </a:cubicBezTo>
                  <a:cubicBezTo>
                    <a:pt x="186" y="0"/>
                    <a:pt x="150" y="46"/>
                    <a:pt x="138" y="62"/>
                  </a:cubicBezTo>
                  <a:cubicBezTo>
                    <a:pt x="136" y="22"/>
                    <a:pt x="106" y="0"/>
                    <a:pt x="74" y="0"/>
                  </a:cubicBezTo>
                  <a:cubicBezTo>
                    <a:pt x="42" y="0"/>
                    <a:pt x="28" y="28"/>
                    <a:pt x="22" y="40"/>
                  </a:cubicBezTo>
                  <a:cubicBezTo>
                    <a:pt x="10" y="66"/>
                    <a:pt x="0" y="106"/>
                    <a:pt x="0" y="108"/>
                  </a:cubicBezTo>
                  <a:cubicBezTo>
                    <a:pt x="0" y="116"/>
                    <a:pt x="8" y="116"/>
                    <a:pt x="8" y="116"/>
                  </a:cubicBezTo>
                  <a:cubicBezTo>
                    <a:pt x="16" y="116"/>
                    <a:pt x="16" y="116"/>
                    <a:pt x="20" y="100"/>
                  </a:cubicBezTo>
                  <a:cubicBezTo>
                    <a:pt x="32" y="50"/>
                    <a:pt x="46" y="16"/>
                    <a:pt x="72" y="16"/>
                  </a:cubicBezTo>
                  <a:cubicBezTo>
                    <a:pt x="84" y="16"/>
                    <a:pt x="94" y="22"/>
                    <a:pt x="94" y="48"/>
                  </a:cubicBezTo>
                  <a:cubicBezTo>
                    <a:pt x="94" y="62"/>
                    <a:pt x="92" y="70"/>
                    <a:pt x="82" y="1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46" name="Freeform 299">
              <a:extLst>
                <a:ext uri="{FF2B5EF4-FFF2-40B4-BE49-F238E27FC236}">
                  <a16:creationId xmlns:a16="http://schemas.microsoft.com/office/drawing/2014/main" id="{8C64C1A0-2FFA-D659-34BF-BEF2745512A8}"/>
                </a:ext>
              </a:extLst>
            </p:cNvPr>
            <p:cNvSpPr/>
            <p:nvPr/>
          </p:nvSpPr>
          <p:spPr>
            <a:xfrm>
              <a:off x="5323771" y="5165850"/>
              <a:ext cx="119049" cy="4196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0" h="166">
                  <a:moveTo>
                    <a:pt x="446" y="28"/>
                  </a:moveTo>
                  <a:cubicBezTo>
                    <a:pt x="456" y="28"/>
                    <a:pt x="470" y="28"/>
                    <a:pt x="470" y="14"/>
                  </a:cubicBezTo>
                  <a:cubicBezTo>
                    <a:pt x="470" y="0"/>
                    <a:pt x="456" y="0"/>
                    <a:pt x="446" y="0"/>
                  </a:cubicBezTo>
                  <a:lnTo>
                    <a:pt x="24" y="0"/>
                  </a:lnTo>
                  <a:cubicBezTo>
                    <a:pt x="14" y="0"/>
                    <a:pt x="0" y="0"/>
                    <a:pt x="0" y="14"/>
                  </a:cubicBezTo>
                  <a:cubicBezTo>
                    <a:pt x="0" y="28"/>
                    <a:pt x="14" y="28"/>
                    <a:pt x="24" y="28"/>
                  </a:cubicBezTo>
                  <a:close/>
                  <a:moveTo>
                    <a:pt x="446" y="166"/>
                  </a:moveTo>
                  <a:cubicBezTo>
                    <a:pt x="456" y="166"/>
                    <a:pt x="470" y="166"/>
                    <a:pt x="470" y="152"/>
                  </a:cubicBezTo>
                  <a:cubicBezTo>
                    <a:pt x="470" y="138"/>
                    <a:pt x="456" y="138"/>
                    <a:pt x="446" y="138"/>
                  </a:cubicBezTo>
                  <a:lnTo>
                    <a:pt x="24" y="138"/>
                  </a:lnTo>
                  <a:cubicBezTo>
                    <a:pt x="14" y="138"/>
                    <a:pt x="0" y="138"/>
                    <a:pt x="0" y="152"/>
                  </a:cubicBezTo>
                  <a:cubicBezTo>
                    <a:pt x="0" y="166"/>
                    <a:pt x="14" y="166"/>
                    <a:pt x="24" y="1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47" name="Freeform 300">
              <a:extLst>
                <a:ext uri="{FF2B5EF4-FFF2-40B4-BE49-F238E27FC236}">
                  <a16:creationId xmlns:a16="http://schemas.microsoft.com/office/drawing/2014/main" id="{71B40539-D8CC-2A49-84E0-50C6A57E7BD6}"/>
                </a:ext>
              </a:extLst>
            </p:cNvPr>
            <p:cNvSpPr/>
            <p:nvPr/>
          </p:nvSpPr>
          <p:spPr>
            <a:xfrm>
              <a:off x="5511103" y="5105314"/>
              <a:ext cx="105850" cy="13048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8" h="514">
                  <a:moveTo>
                    <a:pt x="418" y="8"/>
                  </a:moveTo>
                  <a:cubicBezTo>
                    <a:pt x="418" y="4"/>
                    <a:pt x="418" y="0"/>
                    <a:pt x="412" y="0"/>
                  </a:cubicBezTo>
                  <a:cubicBezTo>
                    <a:pt x="408" y="0"/>
                    <a:pt x="406" y="0"/>
                    <a:pt x="398" y="10"/>
                  </a:cubicBezTo>
                  <a:lnTo>
                    <a:pt x="364" y="50"/>
                  </a:lnTo>
                  <a:cubicBezTo>
                    <a:pt x="346" y="18"/>
                    <a:pt x="310" y="0"/>
                    <a:pt x="264" y="0"/>
                  </a:cubicBezTo>
                  <a:cubicBezTo>
                    <a:pt x="174" y="0"/>
                    <a:pt x="88" y="82"/>
                    <a:pt x="88" y="166"/>
                  </a:cubicBezTo>
                  <a:cubicBezTo>
                    <a:pt x="88" y="224"/>
                    <a:pt x="126" y="256"/>
                    <a:pt x="162" y="266"/>
                  </a:cubicBezTo>
                  <a:lnTo>
                    <a:pt x="238" y="286"/>
                  </a:lnTo>
                  <a:cubicBezTo>
                    <a:pt x="264" y="292"/>
                    <a:pt x="302" y="304"/>
                    <a:pt x="302" y="362"/>
                  </a:cubicBezTo>
                  <a:cubicBezTo>
                    <a:pt x="302" y="424"/>
                    <a:pt x="246" y="492"/>
                    <a:pt x="176" y="492"/>
                  </a:cubicBezTo>
                  <a:cubicBezTo>
                    <a:pt x="130" y="492"/>
                    <a:pt x="52" y="476"/>
                    <a:pt x="52" y="388"/>
                  </a:cubicBezTo>
                  <a:cubicBezTo>
                    <a:pt x="52" y="372"/>
                    <a:pt x="56" y="354"/>
                    <a:pt x="56" y="350"/>
                  </a:cubicBezTo>
                  <a:cubicBezTo>
                    <a:pt x="58" y="348"/>
                    <a:pt x="58" y="346"/>
                    <a:pt x="58" y="346"/>
                  </a:cubicBezTo>
                  <a:cubicBezTo>
                    <a:pt x="58" y="338"/>
                    <a:pt x="52" y="338"/>
                    <a:pt x="50" y="338"/>
                  </a:cubicBezTo>
                  <a:cubicBezTo>
                    <a:pt x="46" y="338"/>
                    <a:pt x="44" y="338"/>
                    <a:pt x="42" y="340"/>
                  </a:cubicBezTo>
                  <a:cubicBezTo>
                    <a:pt x="40" y="342"/>
                    <a:pt x="0" y="504"/>
                    <a:pt x="0" y="506"/>
                  </a:cubicBezTo>
                  <a:cubicBezTo>
                    <a:pt x="0" y="510"/>
                    <a:pt x="4" y="514"/>
                    <a:pt x="8" y="514"/>
                  </a:cubicBezTo>
                  <a:cubicBezTo>
                    <a:pt x="12" y="514"/>
                    <a:pt x="12" y="512"/>
                    <a:pt x="20" y="502"/>
                  </a:cubicBezTo>
                  <a:lnTo>
                    <a:pt x="56" y="462"/>
                  </a:lnTo>
                  <a:cubicBezTo>
                    <a:pt x="86" y="504"/>
                    <a:pt x="134" y="514"/>
                    <a:pt x="174" y="514"/>
                  </a:cubicBezTo>
                  <a:cubicBezTo>
                    <a:pt x="270" y="514"/>
                    <a:pt x="354" y="420"/>
                    <a:pt x="354" y="332"/>
                  </a:cubicBezTo>
                  <a:cubicBezTo>
                    <a:pt x="354" y="282"/>
                    <a:pt x="330" y="258"/>
                    <a:pt x="320" y="250"/>
                  </a:cubicBezTo>
                  <a:cubicBezTo>
                    <a:pt x="302" y="232"/>
                    <a:pt x="292" y="230"/>
                    <a:pt x="230" y="214"/>
                  </a:cubicBezTo>
                  <a:cubicBezTo>
                    <a:pt x="214" y="210"/>
                    <a:pt x="188" y="202"/>
                    <a:pt x="182" y="202"/>
                  </a:cubicBezTo>
                  <a:cubicBezTo>
                    <a:pt x="164" y="194"/>
                    <a:pt x="140" y="174"/>
                    <a:pt x="140" y="136"/>
                  </a:cubicBezTo>
                  <a:cubicBezTo>
                    <a:pt x="140" y="80"/>
                    <a:pt x="196" y="20"/>
                    <a:pt x="262" y="20"/>
                  </a:cubicBezTo>
                  <a:cubicBezTo>
                    <a:pt x="322" y="20"/>
                    <a:pt x="364" y="50"/>
                    <a:pt x="364" y="130"/>
                  </a:cubicBezTo>
                  <a:cubicBezTo>
                    <a:pt x="364" y="152"/>
                    <a:pt x="362" y="164"/>
                    <a:pt x="362" y="168"/>
                  </a:cubicBezTo>
                  <a:cubicBezTo>
                    <a:pt x="362" y="170"/>
                    <a:pt x="362" y="176"/>
                    <a:pt x="370" y="176"/>
                  </a:cubicBezTo>
                  <a:cubicBezTo>
                    <a:pt x="378" y="176"/>
                    <a:pt x="378" y="174"/>
                    <a:pt x="380" y="1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48" name="Freeform 301">
              <a:extLst>
                <a:ext uri="{FF2B5EF4-FFF2-40B4-BE49-F238E27FC236}">
                  <a16:creationId xmlns:a16="http://schemas.microsoft.com/office/drawing/2014/main" id="{5A351715-1C38-9157-BFB4-B24233799C4C}"/>
                </a:ext>
              </a:extLst>
            </p:cNvPr>
            <p:cNvSpPr/>
            <p:nvPr/>
          </p:nvSpPr>
          <p:spPr>
            <a:xfrm>
              <a:off x="5676096" y="5183145"/>
              <a:ext cx="109404" cy="73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2" h="30">
                  <a:moveTo>
                    <a:pt x="406" y="30"/>
                  </a:moveTo>
                  <a:cubicBezTo>
                    <a:pt x="418" y="30"/>
                    <a:pt x="432" y="30"/>
                    <a:pt x="432" y="16"/>
                  </a:cubicBezTo>
                  <a:cubicBezTo>
                    <a:pt x="432" y="0"/>
                    <a:pt x="418" y="0"/>
                    <a:pt x="406" y="0"/>
                  </a:cubicBezTo>
                  <a:lnTo>
                    <a:pt x="24" y="0"/>
                  </a:lnTo>
                  <a:cubicBezTo>
                    <a:pt x="12" y="0"/>
                    <a:pt x="0" y="0"/>
                    <a:pt x="0" y="16"/>
                  </a:cubicBezTo>
                  <a:cubicBezTo>
                    <a:pt x="0" y="30"/>
                    <a:pt x="12" y="30"/>
                    <a:pt x="24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49" name="Freeform 302">
              <a:extLst>
                <a:ext uri="{FF2B5EF4-FFF2-40B4-BE49-F238E27FC236}">
                  <a16:creationId xmlns:a16="http://schemas.microsoft.com/office/drawing/2014/main" id="{3C1DFD68-57E8-DEF9-54B0-E6A330BBA343}"/>
                </a:ext>
              </a:extLst>
            </p:cNvPr>
            <p:cNvSpPr/>
            <p:nvPr/>
          </p:nvSpPr>
          <p:spPr>
            <a:xfrm>
              <a:off x="5845151" y="5152624"/>
              <a:ext cx="96712" cy="811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2" h="320">
                  <a:moveTo>
                    <a:pt x="42" y="270"/>
                  </a:moveTo>
                  <a:cubicBezTo>
                    <a:pt x="40" y="282"/>
                    <a:pt x="36" y="298"/>
                    <a:pt x="36" y="302"/>
                  </a:cubicBezTo>
                  <a:cubicBezTo>
                    <a:pt x="36" y="314"/>
                    <a:pt x="46" y="320"/>
                    <a:pt x="56" y="320"/>
                  </a:cubicBezTo>
                  <a:cubicBezTo>
                    <a:pt x="64" y="320"/>
                    <a:pt x="78" y="314"/>
                    <a:pt x="82" y="300"/>
                  </a:cubicBezTo>
                  <a:cubicBezTo>
                    <a:pt x="82" y="300"/>
                    <a:pt x="92" y="266"/>
                    <a:pt x="96" y="248"/>
                  </a:cubicBezTo>
                  <a:lnTo>
                    <a:pt x="110" y="184"/>
                  </a:lnTo>
                  <a:cubicBezTo>
                    <a:pt x="116" y="170"/>
                    <a:pt x="120" y="154"/>
                    <a:pt x="122" y="138"/>
                  </a:cubicBezTo>
                  <a:cubicBezTo>
                    <a:pt x="126" y="126"/>
                    <a:pt x="132" y="104"/>
                    <a:pt x="132" y="102"/>
                  </a:cubicBezTo>
                  <a:cubicBezTo>
                    <a:pt x="142" y="80"/>
                    <a:pt x="180" y="16"/>
                    <a:pt x="248" y="16"/>
                  </a:cubicBezTo>
                  <a:cubicBezTo>
                    <a:pt x="280" y="16"/>
                    <a:pt x="286" y="42"/>
                    <a:pt x="286" y="66"/>
                  </a:cubicBezTo>
                  <a:cubicBezTo>
                    <a:pt x="286" y="108"/>
                    <a:pt x="250" y="200"/>
                    <a:pt x="240" y="230"/>
                  </a:cubicBezTo>
                  <a:cubicBezTo>
                    <a:pt x="234" y="246"/>
                    <a:pt x="232" y="254"/>
                    <a:pt x="232" y="262"/>
                  </a:cubicBezTo>
                  <a:cubicBezTo>
                    <a:pt x="232" y="296"/>
                    <a:pt x="258" y="320"/>
                    <a:pt x="290" y="320"/>
                  </a:cubicBezTo>
                  <a:cubicBezTo>
                    <a:pt x="356" y="320"/>
                    <a:pt x="382" y="218"/>
                    <a:pt x="382" y="212"/>
                  </a:cubicBezTo>
                  <a:cubicBezTo>
                    <a:pt x="382" y="204"/>
                    <a:pt x="376" y="204"/>
                    <a:pt x="374" y="204"/>
                  </a:cubicBezTo>
                  <a:cubicBezTo>
                    <a:pt x="368" y="204"/>
                    <a:pt x="368" y="206"/>
                    <a:pt x="364" y="218"/>
                  </a:cubicBezTo>
                  <a:cubicBezTo>
                    <a:pt x="350" y="266"/>
                    <a:pt x="326" y="304"/>
                    <a:pt x="292" y="304"/>
                  </a:cubicBezTo>
                  <a:cubicBezTo>
                    <a:pt x="280" y="304"/>
                    <a:pt x="274" y="298"/>
                    <a:pt x="274" y="282"/>
                  </a:cubicBezTo>
                  <a:cubicBezTo>
                    <a:pt x="274" y="264"/>
                    <a:pt x="282" y="246"/>
                    <a:pt x="288" y="232"/>
                  </a:cubicBezTo>
                  <a:cubicBezTo>
                    <a:pt x="302" y="194"/>
                    <a:pt x="330" y="116"/>
                    <a:pt x="330" y="76"/>
                  </a:cubicBezTo>
                  <a:cubicBezTo>
                    <a:pt x="330" y="28"/>
                    <a:pt x="300" y="0"/>
                    <a:pt x="250" y="0"/>
                  </a:cubicBezTo>
                  <a:cubicBezTo>
                    <a:pt x="186" y="0"/>
                    <a:pt x="152" y="46"/>
                    <a:pt x="140" y="62"/>
                  </a:cubicBezTo>
                  <a:cubicBezTo>
                    <a:pt x="136" y="22"/>
                    <a:pt x="106" y="0"/>
                    <a:pt x="74" y="0"/>
                  </a:cubicBezTo>
                  <a:cubicBezTo>
                    <a:pt x="42" y="0"/>
                    <a:pt x="28" y="28"/>
                    <a:pt x="22" y="40"/>
                  </a:cubicBezTo>
                  <a:cubicBezTo>
                    <a:pt x="10" y="64"/>
                    <a:pt x="0" y="106"/>
                    <a:pt x="0" y="108"/>
                  </a:cubicBezTo>
                  <a:cubicBezTo>
                    <a:pt x="0" y="116"/>
                    <a:pt x="8" y="116"/>
                    <a:pt x="8" y="116"/>
                  </a:cubicBezTo>
                  <a:cubicBezTo>
                    <a:pt x="16" y="116"/>
                    <a:pt x="16" y="116"/>
                    <a:pt x="20" y="100"/>
                  </a:cubicBezTo>
                  <a:cubicBezTo>
                    <a:pt x="32" y="50"/>
                    <a:pt x="46" y="16"/>
                    <a:pt x="72" y="16"/>
                  </a:cubicBezTo>
                  <a:cubicBezTo>
                    <a:pt x="86" y="16"/>
                    <a:pt x="94" y="24"/>
                    <a:pt x="94" y="48"/>
                  </a:cubicBezTo>
                  <a:cubicBezTo>
                    <a:pt x="94" y="62"/>
                    <a:pt x="92" y="70"/>
                    <a:pt x="82" y="1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BA5A424-6935-71A1-4034-2E75E48D9C55}"/>
              </a:ext>
            </a:extLst>
          </p:cNvPr>
          <p:cNvSpPr txBox="1"/>
          <p:nvPr/>
        </p:nvSpPr>
        <p:spPr>
          <a:xfrm>
            <a:off x="8000881" y="2918501"/>
            <a:ext cx="1720705" cy="97573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ground state is fully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saturated state.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2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1" u="none" strike="noStrike" kern="1200" cap="none" baseline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</a:t>
            </a:r>
            <a:r>
              <a:rPr lang="en-US" sz="1200" i="1">
                <a:latin typeface="Liberation Sans" pitchFamily="18"/>
                <a:ea typeface="Droid Sans Fallback" pitchFamily="2"/>
                <a:cs typeface="FreeSans" pitchFamily="2"/>
              </a:rPr>
              <a:t>     </a:t>
            </a:r>
            <a:r>
              <a:rPr lang="en-US" sz="1200" b="0" i="1" u="none" strike="noStrike" kern="1200" cap="none" baseline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n</a:t>
            </a:r>
            <a:r>
              <a:rPr lang="en-US" sz="1200" b="0" i="1" u="none" strike="noStrike" kern="1200" cap="none" baseline="3300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 </a:t>
            </a: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magnon is </a:t>
            </a:r>
            <a:r>
              <a:rPr lang="en-US" sz="1200" b="0" i="1" u="none" strike="noStrike" kern="1200" cap="none" baseline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n</a:t>
            </a:r>
            <a:r>
              <a:rPr lang="en-US" sz="1200" b="0" i="1" u="none" strike="noStrike" kern="1200" cap="none" baseline="3300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i="1" baseline="33000">
                <a:latin typeface="Liberation Sans" pitchFamily="18"/>
                <a:ea typeface="Droid Sans Fallback" pitchFamily="2"/>
                <a:cs typeface="FreeSans" pitchFamily="2"/>
              </a:rPr>
              <a:t> </a:t>
            </a:r>
            <a:r>
              <a:rPr lang="en-US" sz="1200" i="1">
                <a:latin typeface="Liberation Sans" pitchFamily="18"/>
                <a:ea typeface="Droid Sans Fallback" pitchFamily="2"/>
                <a:cs typeface="FreeSans" pitchFamily="2"/>
              </a:rPr>
              <a:t>        </a:t>
            </a:r>
            <a:r>
              <a:rPr lang="en-US" sz="12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deviation </a:t>
            </a: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from this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EC2A3D2-6F84-67E5-EAD0-8C09CC1BDFED}"/>
              </a:ext>
            </a:extLst>
          </p:cNvPr>
          <p:cNvGrpSpPr/>
          <p:nvPr/>
        </p:nvGrpSpPr>
        <p:grpSpPr>
          <a:xfrm>
            <a:off x="2831756" y="2239912"/>
            <a:ext cx="4835076" cy="956097"/>
            <a:chOff x="905494" y="2164279"/>
            <a:chExt cx="4835076" cy="956097"/>
          </a:xfrm>
        </p:grpSpPr>
        <p:sp>
          <p:nvSpPr>
            <p:cNvPr id="52" name="Freeform 321">
              <a:extLst>
                <a:ext uri="{FF2B5EF4-FFF2-40B4-BE49-F238E27FC236}">
                  <a16:creationId xmlns:a16="http://schemas.microsoft.com/office/drawing/2014/main" id="{A6745A6B-BC02-7598-4A4B-C624D14C986D}"/>
                </a:ext>
              </a:extLst>
            </p:cNvPr>
            <p:cNvSpPr/>
            <p:nvPr/>
          </p:nvSpPr>
          <p:spPr>
            <a:xfrm>
              <a:off x="1205782" y="2746737"/>
              <a:ext cx="4324612" cy="30165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38" h="1187">
                  <a:moveTo>
                    <a:pt x="8520" y="1187"/>
                  </a:moveTo>
                  <a:lnTo>
                    <a:pt x="0" y="1187"/>
                  </a:lnTo>
                  <a:lnTo>
                    <a:pt x="0" y="0"/>
                  </a:lnTo>
                  <a:lnTo>
                    <a:pt x="17038" y="0"/>
                  </a:lnTo>
                  <a:lnTo>
                    <a:pt x="17038" y="1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53" name="Freeform 322">
              <a:extLst>
                <a:ext uri="{FF2B5EF4-FFF2-40B4-BE49-F238E27FC236}">
                  <a16:creationId xmlns:a16="http://schemas.microsoft.com/office/drawing/2014/main" id="{72DECF7A-947B-2643-8756-86B2AA1205A6}"/>
                </a:ext>
              </a:extLst>
            </p:cNvPr>
            <p:cNvSpPr/>
            <p:nvPr/>
          </p:nvSpPr>
          <p:spPr>
            <a:xfrm>
              <a:off x="1276856" y="2746737"/>
              <a:ext cx="67267" cy="389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6" h="154">
                  <a:moveTo>
                    <a:pt x="134" y="0"/>
                  </a:moveTo>
                  <a:lnTo>
                    <a:pt x="0" y="137"/>
                  </a:lnTo>
                  <a:lnTo>
                    <a:pt x="17" y="154"/>
                  </a:lnTo>
                  <a:lnTo>
                    <a:pt x="134" y="53"/>
                  </a:lnTo>
                  <a:lnTo>
                    <a:pt x="246" y="154"/>
                  </a:lnTo>
                  <a:lnTo>
                    <a:pt x="266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54" name="Freeform 323">
              <a:extLst>
                <a:ext uri="{FF2B5EF4-FFF2-40B4-BE49-F238E27FC236}">
                  <a16:creationId xmlns:a16="http://schemas.microsoft.com/office/drawing/2014/main" id="{B59A99C1-7CEB-B043-4B3A-7956A516C329}"/>
                </a:ext>
              </a:extLst>
            </p:cNvPr>
            <p:cNvSpPr/>
            <p:nvPr/>
          </p:nvSpPr>
          <p:spPr>
            <a:xfrm>
              <a:off x="1218474" y="2807273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4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6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6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300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55" name="Freeform 324">
              <a:extLst>
                <a:ext uri="{FF2B5EF4-FFF2-40B4-BE49-F238E27FC236}">
                  <a16:creationId xmlns:a16="http://schemas.microsoft.com/office/drawing/2014/main" id="{E400EB51-178C-AE40-E0A4-E675FDB79BEC}"/>
                </a:ext>
              </a:extLst>
            </p:cNvPr>
            <p:cNvSpPr/>
            <p:nvPr/>
          </p:nvSpPr>
          <p:spPr>
            <a:xfrm>
              <a:off x="1387021" y="2755894"/>
              <a:ext cx="129710" cy="12946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2" h="510">
                  <a:moveTo>
                    <a:pt x="272" y="272"/>
                  </a:moveTo>
                  <a:lnTo>
                    <a:pt x="484" y="272"/>
                  </a:lnTo>
                  <a:cubicBezTo>
                    <a:pt x="496" y="272"/>
                    <a:pt x="512" y="272"/>
                    <a:pt x="512" y="255"/>
                  </a:cubicBezTo>
                  <a:cubicBezTo>
                    <a:pt x="512" y="238"/>
                    <a:pt x="496" y="238"/>
                    <a:pt x="484" y="238"/>
                  </a:cubicBezTo>
                  <a:lnTo>
                    <a:pt x="272" y="238"/>
                  </a:lnTo>
                  <a:lnTo>
                    <a:pt x="272" y="31"/>
                  </a:lnTo>
                  <a:cubicBezTo>
                    <a:pt x="272" y="17"/>
                    <a:pt x="272" y="0"/>
                    <a:pt x="255" y="0"/>
                  </a:cubicBezTo>
                  <a:cubicBezTo>
                    <a:pt x="238" y="0"/>
                    <a:pt x="238" y="17"/>
                    <a:pt x="238" y="25"/>
                  </a:cubicBezTo>
                  <a:lnTo>
                    <a:pt x="238" y="238"/>
                  </a:lnTo>
                  <a:lnTo>
                    <a:pt x="28" y="238"/>
                  </a:lnTo>
                  <a:cubicBezTo>
                    <a:pt x="17" y="238"/>
                    <a:pt x="0" y="238"/>
                    <a:pt x="0" y="255"/>
                  </a:cubicBezTo>
                  <a:cubicBezTo>
                    <a:pt x="0" y="272"/>
                    <a:pt x="17" y="272"/>
                    <a:pt x="28" y="272"/>
                  </a:cubicBezTo>
                  <a:lnTo>
                    <a:pt x="238" y="272"/>
                  </a:lnTo>
                  <a:lnTo>
                    <a:pt x="238" y="476"/>
                  </a:lnTo>
                  <a:lnTo>
                    <a:pt x="28" y="476"/>
                  </a:lnTo>
                  <a:cubicBezTo>
                    <a:pt x="17" y="476"/>
                    <a:pt x="0" y="476"/>
                    <a:pt x="0" y="493"/>
                  </a:cubicBezTo>
                  <a:cubicBezTo>
                    <a:pt x="0" y="510"/>
                    <a:pt x="17" y="510"/>
                    <a:pt x="28" y="510"/>
                  </a:cubicBezTo>
                  <a:lnTo>
                    <a:pt x="484" y="510"/>
                  </a:lnTo>
                  <a:cubicBezTo>
                    <a:pt x="496" y="510"/>
                    <a:pt x="512" y="510"/>
                    <a:pt x="512" y="493"/>
                  </a:cubicBezTo>
                  <a:cubicBezTo>
                    <a:pt x="512" y="476"/>
                    <a:pt x="496" y="476"/>
                    <a:pt x="484" y="476"/>
                  </a:cubicBezTo>
                  <a:lnTo>
                    <a:pt x="272" y="4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56" name="Freeform 325">
              <a:extLst>
                <a:ext uri="{FF2B5EF4-FFF2-40B4-BE49-F238E27FC236}">
                  <a16:creationId xmlns:a16="http://schemas.microsoft.com/office/drawing/2014/main" id="{BFA37F92-D2F0-AAD8-E43D-FAA0EC7180E1}"/>
                </a:ext>
              </a:extLst>
            </p:cNvPr>
            <p:cNvSpPr/>
            <p:nvPr/>
          </p:nvSpPr>
          <p:spPr>
            <a:xfrm>
              <a:off x="1571814" y="2795826"/>
              <a:ext cx="10407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" h="985">
                  <a:moveTo>
                    <a:pt x="42" y="36"/>
                  </a:moveTo>
                  <a:cubicBezTo>
                    <a:pt x="42" y="17"/>
                    <a:pt x="42" y="0"/>
                    <a:pt x="22" y="0"/>
                  </a:cubicBezTo>
                  <a:cubicBezTo>
                    <a:pt x="0" y="0"/>
                    <a:pt x="0" y="17"/>
                    <a:pt x="0" y="36"/>
                  </a:cubicBezTo>
                  <a:lnTo>
                    <a:pt x="0" y="952"/>
                  </a:lnTo>
                  <a:cubicBezTo>
                    <a:pt x="0" y="969"/>
                    <a:pt x="0" y="985"/>
                    <a:pt x="22" y="985"/>
                  </a:cubicBezTo>
                  <a:cubicBezTo>
                    <a:pt x="42" y="985"/>
                    <a:pt x="42" y="969"/>
                    <a:pt x="42" y="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57" name="Freeform 326">
              <a:extLst>
                <a:ext uri="{FF2B5EF4-FFF2-40B4-BE49-F238E27FC236}">
                  <a16:creationId xmlns:a16="http://schemas.microsoft.com/office/drawing/2014/main" id="{EE82A87A-D073-AC41-19B1-8469AC524FE2}"/>
                </a:ext>
              </a:extLst>
            </p:cNvPr>
            <p:cNvSpPr/>
            <p:nvPr/>
          </p:nvSpPr>
          <p:spPr>
            <a:xfrm>
              <a:off x="1618774" y="2873404"/>
              <a:ext cx="205100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9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6" y="440"/>
                    <a:pt x="115" y="420"/>
                  </a:cubicBezTo>
                  <a:cubicBezTo>
                    <a:pt x="115" y="420"/>
                    <a:pt x="126" y="372"/>
                    <a:pt x="134" y="347"/>
                  </a:cubicBezTo>
                  <a:lnTo>
                    <a:pt x="154" y="258"/>
                  </a:lnTo>
                  <a:cubicBezTo>
                    <a:pt x="160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4" y="22"/>
                  </a:cubicBezTo>
                  <a:cubicBezTo>
                    <a:pt x="389" y="22"/>
                    <a:pt x="398" y="59"/>
                    <a:pt x="398" y="92"/>
                  </a:cubicBezTo>
                  <a:cubicBezTo>
                    <a:pt x="398" y="115"/>
                    <a:pt x="392" y="143"/>
                    <a:pt x="384" y="174"/>
                  </a:cubicBezTo>
                  <a:lnTo>
                    <a:pt x="356" y="288"/>
                  </a:lnTo>
                  <a:lnTo>
                    <a:pt x="336" y="364"/>
                  </a:lnTo>
                  <a:cubicBezTo>
                    <a:pt x="333" y="384"/>
                    <a:pt x="325" y="417"/>
                    <a:pt x="325" y="423"/>
                  </a:cubicBezTo>
                  <a:cubicBezTo>
                    <a:pt x="325" y="440"/>
                    <a:pt x="339" y="448"/>
                    <a:pt x="353" y="448"/>
                  </a:cubicBezTo>
                  <a:cubicBezTo>
                    <a:pt x="384" y="448"/>
                    <a:pt x="389" y="423"/>
                    <a:pt x="398" y="392"/>
                  </a:cubicBezTo>
                  <a:cubicBezTo>
                    <a:pt x="412" y="336"/>
                    <a:pt x="448" y="193"/>
                    <a:pt x="456" y="154"/>
                  </a:cubicBezTo>
                  <a:cubicBezTo>
                    <a:pt x="459" y="140"/>
                    <a:pt x="512" y="22"/>
                    <a:pt x="619" y="22"/>
                  </a:cubicBezTo>
                  <a:cubicBezTo>
                    <a:pt x="661" y="22"/>
                    <a:pt x="672" y="56"/>
                    <a:pt x="672" y="92"/>
                  </a:cubicBezTo>
                  <a:cubicBezTo>
                    <a:pt x="672" y="148"/>
                    <a:pt x="630" y="260"/>
                    <a:pt x="610" y="314"/>
                  </a:cubicBezTo>
                  <a:cubicBezTo>
                    <a:pt x="602" y="336"/>
                    <a:pt x="599" y="347"/>
                    <a:pt x="599" y="367"/>
                  </a:cubicBezTo>
                  <a:cubicBezTo>
                    <a:pt x="599" y="414"/>
                    <a:pt x="633" y="448"/>
                    <a:pt x="680" y="448"/>
                  </a:cubicBezTo>
                  <a:cubicBezTo>
                    <a:pt x="773" y="448"/>
                    <a:pt x="809" y="305"/>
                    <a:pt x="809" y="297"/>
                  </a:cubicBezTo>
                  <a:cubicBezTo>
                    <a:pt x="809" y="286"/>
                    <a:pt x="801" y="286"/>
                    <a:pt x="798" y="286"/>
                  </a:cubicBezTo>
                  <a:cubicBezTo>
                    <a:pt x="787" y="286"/>
                    <a:pt x="787" y="288"/>
                    <a:pt x="781" y="305"/>
                  </a:cubicBezTo>
                  <a:cubicBezTo>
                    <a:pt x="767" y="356"/>
                    <a:pt x="736" y="426"/>
                    <a:pt x="680" y="426"/>
                  </a:cubicBezTo>
                  <a:cubicBezTo>
                    <a:pt x="664" y="426"/>
                    <a:pt x="658" y="417"/>
                    <a:pt x="658" y="395"/>
                  </a:cubicBezTo>
                  <a:cubicBezTo>
                    <a:pt x="658" y="370"/>
                    <a:pt x="666" y="344"/>
                    <a:pt x="675" y="325"/>
                  </a:cubicBezTo>
                  <a:cubicBezTo>
                    <a:pt x="694" y="272"/>
                    <a:pt x="736" y="162"/>
                    <a:pt x="736" y="106"/>
                  </a:cubicBezTo>
                  <a:cubicBezTo>
                    <a:pt x="736" y="42"/>
                    <a:pt x="697" y="0"/>
                    <a:pt x="622" y="0"/>
                  </a:cubicBezTo>
                  <a:cubicBezTo>
                    <a:pt x="549" y="0"/>
                    <a:pt x="498" y="45"/>
                    <a:pt x="462" y="95"/>
                  </a:cubicBezTo>
                  <a:cubicBezTo>
                    <a:pt x="459" y="84"/>
                    <a:pt x="456" y="50"/>
                    <a:pt x="428" y="25"/>
                  </a:cubicBezTo>
                  <a:cubicBezTo>
                    <a:pt x="406" y="6"/>
                    <a:pt x="372" y="0"/>
                    <a:pt x="347" y="0"/>
                  </a:cubicBezTo>
                  <a:cubicBezTo>
                    <a:pt x="260" y="0"/>
                    <a:pt x="210" y="64"/>
                    <a:pt x="193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2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18" y="22"/>
                    <a:pt x="132" y="31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58" name="Freeform 327">
              <a:extLst>
                <a:ext uri="{FF2B5EF4-FFF2-40B4-BE49-F238E27FC236}">
                  <a16:creationId xmlns:a16="http://schemas.microsoft.com/office/drawing/2014/main" id="{27AF597F-C4F6-022E-A315-E3C729247A73}"/>
                </a:ext>
              </a:extLst>
            </p:cNvPr>
            <p:cNvSpPr/>
            <p:nvPr/>
          </p:nvSpPr>
          <p:spPr>
            <a:xfrm>
              <a:off x="1844689" y="2795826"/>
              <a:ext cx="55844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21" h="985">
                  <a:moveTo>
                    <a:pt x="218" y="510"/>
                  </a:moveTo>
                  <a:cubicBezTo>
                    <a:pt x="221" y="498"/>
                    <a:pt x="221" y="496"/>
                    <a:pt x="221" y="493"/>
                  </a:cubicBezTo>
                  <a:cubicBezTo>
                    <a:pt x="221" y="490"/>
                    <a:pt x="221" y="487"/>
                    <a:pt x="218" y="476"/>
                  </a:cubicBezTo>
                  <a:lnTo>
                    <a:pt x="42" y="22"/>
                  </a:lnTo>
                  <a:cubicBezTo>
                    <a:pt x="36" y="6"/>
                    <a:pt x="31" y="0"/>
                    <a:pt x="20" y="0"/>
                  </a:cubicBezTo>
                  <a:cubicBezTo>
                    <a:pt x="8" y="0"/>
                    <a:pt x="0" y="8"/>
                    <a:pt x="0" y="20"/>
                  </a:cubicBezTo>
                  <a:cubicBezTo>
                    <a:pt x="0" y="22"/>
                    <a:pt x="0" y="25"/>
                    <a:pt x="6" y="36"/>
                  </a:cubicBezTo>
                  <a:lnTo>
                    <a:pt x="182" y="493"/>
                  </a:lnTo>
                  <a:lnTo>
                    <a:pt x="6" y="949"/>
                  </a:lnTo>
                  <a:cubicBezTo>
                    <a:pt x="0" y="960"/>
                    <a:pt x="0" y="963"/>
                    <a:pt x="0" y="966"/>
                  </a:cubicBezTo>
                  <a:cubicBezTo>
                    <a:pt x="0" y="977"/>
                    <a:pt x="8" y="985"/>
                    <a:pt x="20" y="985"/>
                  </a:cubicBezTo>
                  <a:cubicBezTo>
                    <a:pt x="34" y="985"/>
                    <a:pt x="36" y="977"/>
                    <a:pt x="42" y="9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59" name="Freeform 328">
              <a:extLst>
                <a:ext uri="{FF2B5EF4-FFF2-40B4-BE49-F238E27FC236}">
                  <a16:creationId xmlns:a16="http://schemas.microsoft.com/office/drawing/2014/main" id="{F2C28063-AB20-C9B4-01CB-0235B0AEF34C}"/>
                </a:ext>
              </a:extLst>
            </p:cNvPr>
            <p:cNvSpPr/>
            <p:nvPr/>
          </p:nvSpPr>
          <p:spPr>
            <a:xfrm>
              <a:off x="2010951" y="2891971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0" name="Freeform 329">
              <a:extLst>
                <a:ext uri="{FF2B5EF4-FFF2-40B4-BE49-F238E27FC236}">
                  <a16:creationId xmlns:a16="http://schemas.microsoft.com/office/drawing/2014/main" id="{CAF78BB8-6B45-5962-3C44-6093E47243E7}"/>
                </a:ext>
              </a:extLst>
            </p:cNvPr>
            <p:cNvSpPr/>
            <p:nvPr/>
          </p:nvSpPr>
          <p:spPr>
            <a:xfrm>
              <a:off x="2288141" y="2747501"/>
              <a:ext cx="227945" cy="30089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9" h="1184">
                  <a:moveTo>
                    <a:pt x="311" y="1184"/>
                  </a:moveTo>
                  <a:cubicBezTo>
                    <a:pt x="342" y="1184"/>
                    <a:pt x="342" y="1181"/>
                    <a:pt x="353" y="1165"/>
                  </a:cubicBezTo>
                  <a:lnTo>
                    <a:pt x="890" y="36"/>
                  </a:lnTo>
                  <a:cubicBezTo>
                    <a:pt x="899" y="25"/>
                    <a:pt x="899" y="22"/>
                    <a:pt x="899" y="20"/>
                  </a:cubicBezTo>
                  <a:cubicBezTo>
                    <a:pt x="899" y="8"/>
                    <a:pt x="890" y="0"/>
                    <a:pt x="879" y="0"/>
                  </a:cubicBezTo>
                  <a:cubicBezTo>
                    <a:pt x="865" y="0"/>
                    <a:pt x="862" y="8"/>
                    <a:pt x="857" y="20"/>
                  </a:cubicBezTo>
                  <a:lnTo>
                    <a:pt x="347" y="1081"/>
                  </a:lnTo>
                  <a:lnTo>
                    <a:pt x="137" y="591"/>
                  </a:lnTo>
                  <a:lnTo>
                    <a:pt x="0" y="697"/>
                  </a:lnTo>
                  <a:lnTo>
                    <a:pt x="14" y="714"/>
                  </a:lnTo>
                  <a:lnTo>
                    <a:pt x="84" y="6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1" name="Freeform 330">
              <a:extLst>
                <a:ext uri="{FF2B5EF4-FFF2-40B4-BE49-F238E27FC236}">
                  <a16:creationId xmlns:a16="http://schemas.microsoft.com/office/drawing/2014/main" id="{FA36F0FE-F30D-FFC4-35A6-FB6D1EAB9BB7}"/>
                </a:ext>
              </a:extLst>
            </p:cNvPr>
            <p:cNvSpPr/>
            <p:nvPr/>
          </p:nvSpPr>
          <p:spPr>
            <a:xfrm>
              <a:off x="2510756" y="2747501"/>
              <a:ext cx="2203808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683" h="42">
                  <a:moveTo>
                    <a:pt x="4340" y="42"/>
                  </a:moveTo>
                  <a:lnTo>
                    <a:pt x="0" y="42"/>
                  </a:lnTo>
                  <a:lnTo>
                    <a:pt x="0" y="0"/>
                  </a:lnTo>
                  <a:lnTo>
                    <a:pt x="8683" y="0"/>
                  </a:lnTo>
                  <a:lnTo>
                    <a:pt x="86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2" name="Freeform 331">
              <a:extLst>
                <a:ext uri="{FF2B5EF4-FFF2-40B4-BE49-F238E27FC236}">
                  <a16:creationId xmlns:a16="http://schemas.microsoft.com/office/drawing/2014/main" id="{EA9ABC84-2699-0435-1E21-940ACB50577F}"/>
                </a:ext>
              </a:extLst>
            </p:cNvPr>
            <p:cNvSpPr/>
            <p:nvPr/>
          </p:nvSpPr>
          <p:spPr>
            <a:xfrm>
              <a:off x="2535631" y="2795826"/>
              <a:ext cx="58636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977"/>
                  </a:moveTo>
                  <a:cubicBezTo>
                    <a:pt x="232" y="974"/>
                    <a:pt x="232" y="971"/>
                    <a:pt x="213" y="955"/>
                  </a:cubicBezTo>
                  <a:cubicBezTo>
                    <a:pt x="90" y="831"/>
                    <a:pt x="59" y="644"/>
                    <a:pt x="59" y="493"/>
                  </a:cubicBezTo>
                  <a:cubicBezTo>
                    <a:pt x="59" y="322"/>
                    <a:pt x="95" y="151"/>
                    <a:pt x="218" y="28"/>
                  </a:cubicBezTo>
                  <a:cubicBezTo>
                    <a:pt x="232" y="14"/>
                    <a:pt x="232" y="14"/>
                    <a:pt x="232" y="11"/>
                  </a:cubicBezTo>
                  <a:cubicBezTo>
                    <a:pt x="232" y="3"/>
                    <a:pt x="227" y="0"/>
                    <a:pt x="221" y="0"/>
                  </a:cubicBezTo>
                  <a:cubicBezTo>
                    <a:pt x="210" y="0"/>
                    <a:pt x="120" y="67"/>
                    <a:pt x="62" y="193"/>
                  </a:cubicBezTo>
                  <a:cubicBezTo>
                    <a:pt x="11" y="302"/>
                    <a:pt x="0" y="412"/>
                    <a:pt x="0" y="493"/>
                  </a:cubicBezTo>
                  <a:cubicBezTo>
                    <a:pt x="0" y="571"/>
                    <a:pt x="11" y="689"/>
                    <a:pt x="64" y="801"/>
                  </a:cubicBezTo>
                  <a:cubicBezTo>
                    <a:pt x="126" y="924"/>
                    <a:pt x="210" y="985"/>
                    <a:pt x="221" y="985"/>
                  </a:cubicBezTo>
                  <a:cubicBezTo>
                    <a:pt x="227" y="985"/>
                    <a:pt x="232" y="983"/>
                    <a:pt x="232" y="9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3" name="Freeform 332">
              <a:extLst>
                <a:ext uri="{FF2B5EF4-FFF2-40B4-BE49-F238E27FC236}">
                  <a16:creationId xmlns:a16="http://schemas.microsoft.com/office/drawing/2014/main" id="{DC62A4B9-2E3B-4EE5-5254-D63DBABB2196}"/>
                </a:ext>
              </a:extLst>
            </p:cNvPr>
            <p:cNvSpPr/>
            <p:nvPr/>
          </p:nvSpPr>
          <p:spPr>
            <a:xfrm>
              <a:off x="2620921" y="2807273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4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6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6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300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4" name="Freeform 333">
              <a:extLst>
                <a:ext uri="{FF2B5EF4-FFF2-40B4-BE49-F238E27FC236}">
                  <a16:creationId xmlns:a16="http://schemas.microsoft.com/office/drawing/2014/main" id="{03A24FAC-6150-50DD-661C-AC2764D6769B}"/>
                </a:ext>
              </a:extLst>
            </p:cNvPr>
            <p:cNvSpPr/>
            <p:nvPr/>
          </p:nvSpPr>
          <p:spPr>
            <a:xfrm>
              <a:off x="2844804" y="2858651"/>
              <a:ext cx="166771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658">
                  <a:moveTo>
                    <a:pt x="350" y="350"/>
                  </a:moveTo>
                  <a:lnTo>
                    <a:pt x="624" y="350"/>
                  </a:lnTo>
                  <a:cubicBezTo>
                    <a:pt x="641" y="350"/>
                    <a:pt x="658" y="350"/>
                    <a:pt x="658" y="330"/>
                  </a:cubicBezTo>
                  <a:cubicBezTo>
                    <a:pt x="658" y="308"/>
                    <a:pt x="641" y="308"/>
                    <a:pt x="624" y="308"/>
                  </a:cubicBezTo>
                  <a:lnTo>
                    <a:pt x="350" y="308"/>
                  </a:lnTo>
                  <a:lnTo>
                    <a:pt x="350" y="39"/>
                  </a:lnTo>
                  <a:lnTo>
                    <a:pt x="624" y="39"/>
                  </a:lnTo>
                  <a:cubicBezTo>
                    <a:pt x="641" y="39"/>
                    <a:pt x="658" y="39"/>
                    <a:pt x="658" y="20"/>
                  </a:cubicBezTo>
                  <a:cubicBezTo>
                    <a:pt x="658" y="0"/>
                    <a:pt x="641" y="0"/>
                    <a:pt x="624" y="0"/>
                  </a:cubicBezTo>
                  <a:lnTo>
                    <a:pt x="34" y="0"/>
                  </a:lnTo>
                  <a:cubicBezTo>
                    <a:pt x="17" y="0"/>
                    <a:pt x="0" y="0"/>
                    <a:pt x="0" y="20"/>
                  </a:cubicBezTo>
                  <a:cubicBezTo>
                    <a:pt x="0" y="39"/>
                    <a:pt x="17" y="39"/>
                    <a:pt x="34" y="39"/>
                  </a:cubicBezTo>
                  <a:lnTo>
                    <a:pt x="311" y="39"/>
                  </a:lnTo>
                  <a:lnTo>
                    <a:pt x="311" y="308"/>
                  </a:lnTo>
                  <a:lnTo>
                    <a:pt x="34" y="308"/>
                  </a:lnTo>
                  <a:cubicBezTo>
                    <a:pt x="17" y="308"/>
                    <a:pt x="0" y="308"/>
                    <a:pt x="0" y="330"/>
                  </a:cubicBezTo>
                  <a:cubicBezTo>
                    <a:pt x="0" y="350"/>
                    <a:pt x="17" y="350"/>
                    <a:pt x="34" y="350"/>
                  </a:cubicBezTo>
                  <a:lnTo>
                    <a:pt x="311" y="350"/>
                  </a:lnTo>
                  <a:lnTo>
                    <a:pt x="311" y="624"/>
                  </a:lnTo>
                  <a:cubicBezTo>
                    <a:pt x="311" y="641"/>
                    <a:pt x="311" y="658"/>
                    <a:pt x="330" y="658"/>
                  </a:cubicBezTo>
                  <a:cubicBezTo>
                    <a:pt x="350" y="658"/>
                    <a:pt x="350" y="635"/>
                    <a:pt x="350" y="6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5" name="Freeform 334">
              <a:extLst>
                <a:ext uri="{FF2B5EF4-FFF2-40B4-BE49-F238E27FC236}">
                  <a16:creationId xmlns:a16="http://schemas.microsoft.com/office/drawing/2014/main" id="{8A592842-45FC-161B-FBB6-9C490FB4B4EF}"/>
                </a:ext>
              </a:extLst>
            </p:cNvPr>
            <p:cNvSpPr/>
            <p:nvPr/>
          </p:nvSpPr>
          <p:spPr>
            <a:xfrm>
              <a:off x="3087726" y="2873404"/>
              <a:ext cx="205100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9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6" y="440"/>
                    <a:pt x="115" y="420"/>
                  </a:cubicBezTo>
                  <a:cubicBezTo>
                    <a:pt x="115" y="420"/>
                    <a:pt x="126" y="372"/>
                    <a:pt x="134" y="347"/>
                  </a:cubicBezTo>
                  <a:lnTo>
                    <a:pt x="154" y="258"/>
                  </a:lnTo>
                  <a:cubicBezTo>
                    <a:pt x="160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4" y="22"/>
                  </a:cubicBezTo>
                  <a:cubicBezTo>
                    <a:pt x="389" y="22"/>
                    <a:pt x="398" y="59"/>
                    <a:pt x="398" y="92"/>
                  </a:cubicBezTo>
                  <a:cubicBezTo>
                    <a:pt x="398" y="115"/>
                    <a:pt x="392" y="143"/>
                    <a:pt x="384" y="174"/>
                  </a:cubicBezTo>
                  <a:lnTo>
                    <a:pt x="356" y="288"/>
                  </a:lnTo>
                  <a:lnTo>
                    <a:pt x="336" y="364"/>
                  </a:lnTo>
                  <a:cubicBezTo>
                    <a:pt x="333" y="384"/>
                    <a:pt x="325" y="417"/>
                    <a:pt x="325" y="423"/>
                  </a:cubicBezTo>
                  <a:cubicBezTo>
                    <a:pt x="325" y="440"/>
                    <a:pt x="339" y="448"/>
                    <a:pt x="353" y="448"/>
                  </a:cubicBezTo>
                  <a:cubicBezTo>
                    <a:pt x="384" y="448"/>
                    <a:pt x="389" y="423"/>
                    <a:pt x="398" y="392"/>
                  </a:cubicBezTo>
                  <a:cubicBezTo>
                    <a:pt x="412" y="336"/>
                    <a:pt x="448" y="193"/>
                    <a:pt x="456" y="154"/>
                  </a:cubicBezTo>
                  <a:cubicBezTo>
                    <a:pt x="459" y="140"/>
                    <a:pt x="512" y="22"/>
                    <a:pt x="619" y="22"/>
                  </a:cubicBezTo>
                  <a:cubicBezTo>
                    <a:pt x="661" y="22"/>
                    <a:pt x="672" y="56"/>
                    <a:pt x="672" y="92"/>
                  </a:cubicBezTo>
                  <a:cubicBezTo>
                    <a:pt x="672" y="148"/>
                    <a:pt x="630" y="260"/>
                    <a:pt x="610" y="314"/>
                  </a:cubicBezTo>
                  <a:cubicBezTo>
                    <a:pt x="602" y="336"/>
                    <a:pt x="599" y="347"/>
                    <a:pt x="599" y="367"/>
                  </a:cubicBezTo>
                  <a:cubicBezTo>
                    <a:pt x="599" y="414"/>
                    <a:pt x="633" y="448"/>
                    <a:pt x="680" y="448"/>
                  </a:cubicBezTo>
                  <a:cubicBezTo>
                    <a:pt x="773" y="448"/>
                    <a:pt x="809" y="305"/>
                    <a:pt x="809" y="297"/>
                  </a:cubicBezTo>
                  <a:cubicBezTo>
                    <a:pt x="809" y="286"/>
                    <a:pt x="801" y="286"/>
                    <a:pt x="798" y="286"/>
                  </a:cubicBezTo>
                  <a:cubicBezTo>
                    <a:pt x="787" y="286"/>
                    <a:pt x="787" y="288"/>
                    <a:pt x="781" y="305"/>
                  </a:cubicBezTo>
                  <a:cubicBezTo>
                    <a:pt x="767" y="356"/>
                    <a:pt x="736" y="426"/>
                    <a:pt x="680" y="426"/>
                  </a:cubicBezTo>
                  <a:cubicBezTo>
                    <a:pt x="664" y="426"/>
                    <a:pt x="658" y="417"/>
                    <a:pt x="658" y="395"/>
                  </a:cubicBezTo>
                  <a:cubicBezTo>
                    <a:pt x="658" y="370"/>
                    <a:pt x="666" y="344"/>
                    <a:pt x="675" y="325"/>
                  </a:cubicBezTo>
                  <a:cubicBezTo>
                    <a:pt x="694" y="272"/>
                    <a:pt x="736" y="162"/>
                    <a:pt x="736" y="106"/>
                  </a:cubicBezTo>
                  <a:cubicBezTo>
                    <a:pt x="736" y="42"/>
                    <a:pt x="697" y="0"/>
                    <a:pt x="622" y="0"/>
                  </a:cubicBezTo>
                  <a:cubicBezTo>
                    <a:pt x="549" y="0"/>
                    <a:pt x="498" y="45"/>
                    <a:pt x="462" y="95"/>
                  </a:cubicBezTo>
                  <a:cubicBezTo>
                    <a:pt x="459" y="84"/>
                    <a:pt x="456" y="50"/>
                    <a:pt x="428" y="25"/>
                  </a:cubicBezTo>
                  <a:cubicBezTo>
                    <a:pt x="406" y="6"/>
                    <a:pt x="372" y="0"/>
                    <a:pt x="347" y="0"/>
                  </a:cubicBezTo>
                  <a:cubicBezTo>
                    <a:pt x="260" y="0"/>
                    <a:pt x="210" y="64"/>
                    <a:pt x="193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2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18" y="22"/>
                    <a:pt x="132" y="31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6" name="Freeform 335">
              <a:extLst>
                <a:ext uri="{FF2B5EF4-FFF2-40B4-BE49-F238E27FC236}">
                  <a16:creationId xmlns:a16="http://schemas.microsoft.com/office/drawing/2014/main" id="{FBE626D3-8261-A7EC-9FE3-AF2E27A37D79}"/>
                </a:ext>
              </a:extLst>
            </p:cNvPr>
            <p:cNvSpPr/>
            <p:nvPr/>
          </p:nvSpPr>
          <p:spPr>
            <a:xfrm>
              <a:off x="3314656" y="2795826"/>
              <a:ext cx="58636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493"/>
                  </a:moveTo>
                  <a:cubicBezTo>
                    <a:pt x="232" y="417"/>
                    <a:pt x="221" y="297"/>
                    <a:pt x="165" y="185"/>
                  </a:cubicBezTo>
                  <a:cubicBezTo>
                    <a:pt x="106" y="64"/>
                    <a:pt x="20" y="0"/>
                    <a:pt x="11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0" y="34"/>
                  </a:cubicBezTo>
                  <a:cubicBezTo>
                    <a:pt x="118" y="132"/>
                    <a:pt x="174" y="288"/>
                    <a:pt x="174" y="493"/>
                  </a:cubicBezTo>
                  <a:cubicBezTo>
                    <a:pt x="174" y="663"/>
                    <a:pt x="137" y="837"/>
                    <a:pt x="14" y="960"/>
                  </a:cubicBezTo>
                  <a:cubicBezTo>
                    <a:pt x="0" y="971"/>
                    <a:pt x="0" y="974"/>
                    <a:pt x="0" y="977"/>
                  </a:cubicBezTo>
                  <a:cubicBezTo>
                    <a:pt x="0" y="983"/>
                    <a:pt x="3" y="985"/>
                    <a:pt x="11" y="985"/>
                  </a:cubicBezTo>
                  <a:cubicBezTo>
                    <a:pt x="20" y="985"/>
                    <a:pt x="109" y="918"/>
                    <a:pt x="168" y="795"/>
                  </a:cubicBezTo>
                  <a:cubicBezTo>
                    <a:pt x="218" y="686"/>
                    <a:pt x="232" y="577"/>
                    <a:pt x="232" y="4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7" name="Freeform 336">
              <a:extLst>
                <a:ext uri="{FF2B5EF4-FFF2-40B4-BE49-F238E27FC236}">
                  <a16:creationId xmlns:a16="http://schemas.microsoft.com/office/drawing/2014/main" id="{E67E2352-12E6-E4AD-8E5D-858C6B3A784A}"/>
                </a:ext>
              </a:extLst>
            </p:cNvPr>
            <p:cNvSpPr/>
            <p:nvPr/>
          </p:nvSpPr>
          <p:spPr>
            <a:xfrm>
              <a:off x="3421775" y="2795826"/>
              <a:ext cx="58636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977"/>
                  </a:moveTo>
                  <a:cubicBezTo>
                    <a:pt x="232" y="974"/>
                    <a:pt x="232" y="971"/>
                    <a:pt x="213" y="955"/>
                  </a:cubicBezTo>
                  <a:cubicBezTo>
                    <a:pt x="90" y="831"/>
                    <a:pt x="59" y="644"/>
                    <a:pt x="59" y="493"/>
                  </a:cubicBezTo>
                  <a:cubicBezTo>
                    <a:pt x="59" y="322"/>
                    <a:pt x="95" y="151"/>
                    <a:pt x="218" y="28"/>
                  </a:cubicBezTo>
                  <a:cubicBezTo>
                    <a:pt x="232" y="14"/>
                    <a:pt x="232" y="14"/>
                    <a:pt x="232" y="11"/>
                  </a:cubicBezTo>
                  <a:cubicBezTo>
                    <a:pt x="232" y="3"/>
                    <a:pt x="227" y="0"/>
                    <a:pt x="221" y="0"/>
                  </a:cubicBezTo>
                  <a:cubicBezTo>
                    <a:pt x="210" y="0"/>
                    <a:pt x="120" y="67"/>
                    <a:pt x="62" y="193"/>
                  </a:cubicBezTo>
                  <a:cubicBezTo>
                    <a:pt x="11" y="302"/>
                    <a:pt x="0" y="412"/>
                    <a:pt x="0" y="493"/>
                  </a:cubicBezTo>
                  <a:cubicBezTo>
                    <a:pt x="0" y="571"/>
                    <a:pt x="11" y="689"/>
                    <a:pt x="64" y="801"/>
                  </a:cubicBezTo>
                  <a:cubicBezTo>
                    <a:pt x="126" y="924"/>
                    <a:pt x="210" y="985"/>
                    <a:pt x="221" y="985"/>
                  </a:cubicBezTo>
                  <a:cubicBezTo>
                    <a:pt x="227" y="985"/>
                    <a:pt x="232" y="983"/>
                    <a:pt x="232" y="9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8" name="Freeform 337">
              <a:extLst>
                <a:ext uri="{FF2B5EF4-FFF2-40B4-BE49-F238E27FC236}">
                  <a16:creationId xmlns:a16="http://schemas.microsoft.com/office/drawing/2014/main" id="{9FD56AD0-1C15-3E10-3E02-AEA3ADAD3CD8}"/>
                </a:ext>
              </a:extLst>
            </p:cNvPr>
            <p:cNvSpPr/>
            <p:nvPr/>
          </p:nvSpPr>
          <p:spPr>
            <a:xfrm>
              <a:off x="3507063" y="2807273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4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6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6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300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69" name="Freeform 338">
              <a:extLst>
                <a:ext uri="{FF2B5EF4-FFF2-40B4-BE49-F238E27FC236}">
                  <a16:creationId xmlns:a16="http://schemas.microsoft.com/office/drawing/2014/main" id="{4E7B4D15-AFDE-C8E5-F717-531AE83EBF96}"/>
                </a:ext>
              </a:extLst>
            </p:cNvPr>
            <p:cNvSpPr/>
            <p:nvPr/>
          </p:nvSpPr>
          <p:spPr>
            <a:xfrm>
              <a:off x="3730947" y="2837794"/>
              <a:ext cx="166771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658">
                  <a:moveTo>
                    <a:pt x="350" y="350"/>
                  </a:moveTo>
                  <a:lnTo>
                    <a:pt x="624" y="350"/>
                  </a:lnTo>
                  <a:cubicBezTo>
                    <a:pt x="638" y="350"/>
                    <a:pt x="658" y="350"/>
                    <a:pt x="658" y="330"/>
                  </a:cubicBezTo>
                  <a:cubicBezTo>
                    <a:pt x="658" y="308"/>
                    <a:pt x="638" y="308"/>
                    <a:pt x="624" y="308"/>
                  </a:cubicBezTo>
                  <a:lnTo>
                    <a:pt x="350" y="308"/>
                  </a:lnTo>
                  <a:lnTo>
                    <a:pt x="350" y="34"/>
                  </a:lnTo>
                  <a:cubicBezTo>
                    <a:pt x="350" y="20"/>
                    <a:pt x="350" y="0"/>
                    <a:pt x="330" y="0"/>
                  </a:cubicBezTo>
                  <a:cubicBezTo>
                    <a:pt x="308" y="0"/>
                    <a:pt x="308" y="20"/>
                    <a:pt x="308" y="34"/>
                  </a:cubicBezTo>
                  <a:lnTo>
                    <a:pt x="308" y="308"/>
                  </a:lnTo>
                  <a:lnTo>
                    <a:pt x="34" y="308"/>
                  </a:lnTo>
                  <a:cubicBezTo>
                    <a:pt x="20" y="308"/>
                    <a:pt x="0" y="308"/>
                    <a:pt x="0" y="330"/>
                  </a:cubicBezTo>
                  <a:cubicBezTo>
                    <a:pt x="0" y="350"/>
                    <a:pt x="20" y="350"/>
                    <a:pt x="34" y="350"/>
                  </a:cubicBezTo>
                  <a:lnTo>
                    <a:pt x="308" y="350"/>
                  </a:lnTo>
                  <a:lnTo>
                    <a:pt x="308" y="624"/>
                  </a:lnTo>
                  <a:cubicBezTo>
                    <a:pt x="308" y="638"/>
                    <a:pt x="308" y="658"/>
                    <a:pt x="330" y="658"/>
                  </a:cubicBezTo>
                  <a:cubicBezTo>
                    <a:pt x="350" y="658"/>
                    <a:pt x="350" y="638"/>
                    <a:pt x="350" y="6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0" name="Freeform 339">
              <a:extLst>
                <a:ext uri="{FF2B5EF4-FFF2-40B4-BE49-F238E27FC236}">
                  <a16:creationId xmlns:a16="http://schemas.microsoft.com/office/drawing/2014/main" id="{B47472CD-4359-F69E-9636-3A67364819D0}"/>
                </a:ext>
              </a:extLst>
            </p:cNvPr>
            <p:cNvSpPr/>
            <p:nvPr/>
          </p:nvSpPr>
          <p:spPr>
            <a:xfrm>
              <a:off x="3989861" y="2817192"/>
              <a:ext cx="83005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658">
                  <a:moveTo>
                    <a:pt x="204" y="25"/>
                  </a:moveTo>
                  <a:cubicBezTo>
                    <a:pt x="204" y="3"/>
                    <a:pt x="204" y="0"/>
                    <a:pt x="182" y="0"/>
                  </a:cubicBezTo>
                  <a:cubicBezTo>
                    <a:pt x="120" y="64"/>
                    <a:pt x="31" y="64"/>
                    <a:pt x="0" y="64"/>
                  </a:cubicBezTo>
                  <a:lnTo>
                    <a:pt x="0" y="95"/>
                  </a:lnTo>
                  <a:cubicBezTo>
                    <a:pt x="20" y="95"/>
                    <a:pt x="78" y="95"/>
                    <a:pt x="129" y="67"/>
                  </a:cubicBezTo>
                  <a:lnTo>
                    <a:pt x="129" y="580"/>
                  </a:lnTo>
                  <a:cubicBezTo>
                    <a:pt x="129" y="616"/>
                    <a:pt x="126" y="627"/>
                    <a:pt x="36" y="627"/>
                  </a:cubicBezTo>
                  <a:lnTo>
                    <a:pt x="6" y="627"/>
                  </a:lnTo>
                  <a:lnTo>
                    <a:pt x="6" y="658"/>
                  </a:lnTo>
                  <a:cubicBezTo>
                    <a:pt x="42" y="655"/>
                    <a:pt x="126" y="655"/>
                    <a:pt x="168" y="655"/>
                  </a:cubicBezTo>
                  <a:cubicBezTo>
                    <a:pt x="207" y="655"/>
                    <a:pt x="294" y="655"/>
                    <a:pt x="328" y="658"/>
                  </a:cubicBezTo>
                  <a:lnTo>
                    <a:pt x="328" y="627"/>
                  </a:lnTo>
                  <a:lnTo>
                    <a:pt x="297" y="627"/>
                  </a:lnTo>
                  <a:cubicBezTo>
                    <a:pt x="207" y="627"/>
                    <a:pt x="204" y="616"/>
                    <a:pt x="204" y="5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1" name="Freeform 340">
              <a:extLst>
                <a:ext uri="{FF2B5EF4-FFF2-40B4-BE49-F238E27FC236}">
                  <a16:creationId xmlns:a16="http://schemas.microsoft.com/office/drawing/2014/main" id="{891552E5-5F20-0883-2D2B-7F8509B6EB41}"/>
                </a:ext>
              </a:extLst>
            </p:cNvPr>
            <p:cNvSpPr/>
            <p:nvPr/>
          </p:nvSpPr>
          <p:spPr>
            <a:xfrm>
              <a:off x="4160946" y="2817192"/>
              <a:ext cx="166771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658">
                  <a:moveTo>
                    <a:pt x="350" y="350"/>
                  </a:moveTo>
                  <a:lnTo>
                    <a:pt x="624" y="350"/>
                  </a:lnTo>
                  <a:cubicBezTo>
                    <a:pt x="641" y="350"/>
                    <a:pt x="658" y="350"/>
                    <a:pt x="658" y="330"/>
                  </a:cubicBezTo>
                  <a:cubicBezTo>
                    <a:pt x="658" y="308"/>
                    <a:pt x="641" y="308"/>
                    <a:pt x="624" y="308"/>
                  </a:cubicBezTo>
                  <a:lnTo>
                    <a:pt x="350" y="308"/>
                  </a:lnTo>
                  <a:lnTo>
                    <a:pt x="350" y="36"/>
                  </a:lnTo>
                  <a:cubicBezTo>
                    <a:pt x="350" y="20"/>
                    <a:pt x="350" y="0"/>
                    <a:pt x="330" y="0"/>
                  </a:cubicBezTo>
                  <a:cubicBezTo>
                    <a:pt x="311" y="0"/>
                    <a:pt x="311" y="17"/>
                    <a:pt x="311" y="34"/>
                  </a:cubicBezTo>
                  <a:lnTo>
                    <a:pt x="311" y="308"/>
                  </a:lnTo>
                  <a:lnTo>
                    <a:pt x="34" y="308"/>
                  </a:lnTo>
                  <a:cubicBezTo>
                    <a:pt x="17" y="308"/>
                    <a:pt x="0" y="308"/>
                    <a:pt x="0" y="330"/>
                  </a:cubicBezTo>
                  <a:cubicBezTo>
                    <a:pt x="0" y="350"/>
                    <a:pt x="17" y="350"/>
                    <a:pt x="34" y="350"/>
                  </a:cubicBezTo>
                  <a:lnTo>
                    <a:pt x="311" y="350"/>
                  </a:lnTo>
                  <a:lnTo>
                    <a:pt x="311" y="619"/>
                  </a:lnTo>
                  <a:lnTo>
                    <a:pt x="34" y="619"/>
                  </a:lnTo>
                  <a:cubicBezTo>
                    <a:pt x="17" y="619"/>
                    <a:pt x="0" y="619"/>
                    <a:pt x="0" y="638"/>
                  </a:cubicBezTo>
                  <a:cubicBezTo>
                    <a:pt x="0" y="658"/>
                    <a:pt x="17" y="658"/>
                    <a:pt x="34" y="658"/>
                  </a:cubicBezTo>
                  <a:lnTo>
                    <a:pt x="624" y="658"/>
                  </a:lnTo>
                  <a:cubicBezTo>
                    <a:pt x="641" y="658"/>
                    <a:pt x="658" y="658"/>
                    <a:pt x="658" y="638"/>
                  </a:cubicBezTo>
                  <a:cubicBezTo>
                    <a:pt x="658" y="619"/>
                    <a:pt x="641" y="619"/>
                    <a:pt x="624" y="619"/>
                  </a:cubicBezTo>
                  <a:lnTo>
                    <a:pt x="350" y="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2" name="Freeform 341">
              <a:extLst>
                <a:ext uri="{FF2B5EF4-FFF2-40B4-BE49-F238E27FC236}">
                  <a16:creationId xmlns:a16="http://schemas.microsoft.com/office/drawing/2014/main" id="{BCAE471E-49D8-3DD3-0920-27D45EEE3227}"/>
                </a:ext>
              </a:extLst>
            </p:cNvPr>
            <p:cNvSpPr/>
            <p:nvPr/>
          </p:nvSpPr>
          <p:spPr>
            <a:xfrm>
              <a:off x="4404883" y="2873404"/>
              <a:ext cx="205100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9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6" y="440"/>
                    <a:pt x="115" y="420"/>
                  </a:cubicBezTo>
                  <a:cubicBezTo>
                    <a:pt x="115" y="420"/>
                    <a:pt x="126" y="372"/>
                    <a:pt x="134" y="347"/>
                  </a:cubicBezTo>
                  <a:lnTo>
                    <a:pt x="154" y="258"/>
                  </a:lnTo>
                  <a:cubicBezTo>
                    <a:pt x="160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4" y="22"/>
                  </a:cubicBezTo>
                  <a:cubicBezTo>
                    <a:pt x="389" y="22"/>
                    <a:pt x="398" y="59"/>
                    <a:pt x="398" y="92"/>
                  </a:cubicBezTo>
                  <a:cubicBezTo>
                    <a:pt x="398" y="115"/>
                    <a:pt x="392" y="143"/>
                    <a:pt x="384" y="174"/>
                  </a:cubicBezTo>
                  <a:lnTo>
                    <a:pt x="356" y="288"/>
                  </a:lnTo>
                  <a:lnTo>
                    <a:pt x="336" y="364"/>
                  </a:lnTo>
                  <a:cubicBezTo>
                    <a:pt x="333" y="384"/>
                    <a:pt x="325" y="417"/>
                    <a:pt x="325" y="423"/>
                  </a:cubicBezTo>
                  <a:cubicBezTo>
                    <a:pt x="325" y="440"/>
                    <a:pt x="339" y="448"/>
                    <a:pt x="353" y="448"/>
                  </a:cubicBezTo>
                  <a:cubicBezTo>
                    <a:pt x="384" y="448"/>
                    <a:pt x="389" y="423"/>
                    <a:pt x="398" y="392"/>
                  </a:cubicBezTo>
                  <a:cubicBezTo>
                    <a:pt x="412" y="336"/>
                    <a:pt x="448" y="193"/>
                    <a:pt x="456" y="154"/>
                  </a:cubicBezTo>
                  <a:cubicBezTo>
                    <a:pt x="459" y="140"/>
                    <a:pt x="512" y="22"/>
                    <a:pt x="619" y="22"/>
                  </a:cubicBezTo>
                  <a:cubicBezTo>
                    <a:pt x="661" y="22"/>
                    <a:pt x="672" y="56"/>
                    <a:pt x="672" y="92"/>
                  </a:cubicBezTo>
                  <a:cubicBezTo>
                    <a:pt x="672" y="148"/>
                    <a:pt x="630" y="260"/>
                    <a:pt x="610" y="314"/>
                  </a:cubicBezTo>
                  <a:cubicBezTo>
                    <a:pt x="602" y="336"/>
                    <a:pt x="599" y="347"/>
                    <a:pt x="599" y="367"/>
                  </a:cubicBezTo>
                  <a:cubicBezTo>
                    <a:pt x="599" y="414"/>
                    <a:pt x="633" y="448"/>
                    <a:pt x="680" y="448"/>
                  </a:cubicBezTo>
                  <a:cubicBezTo>
                    <a:pt x="773" y="448"/>
                    <a:pt x="809" y="305"/>
                    <a:pt x="809" y="297"/>
                  </a:cubicBezTo>
                  <a:cubicBezTo>
                    <a:pt x="809" y="286"/>
                    <a:pt x="801" y="286"/>
                    <a:pt x="798" y="286"/>
                  </a:cubicBezTo>
                  <a:cubicBezTo>
                    <a:pt x="787" y="286"/>
                    <a:pt x="787" y="288"/>
                    <a:pt x="781" y="305"/>
                  </a:cubicBezTo>
                  <a:cubicBezTo>
                    <a:pt x="767" y="356"/>
                    <a:pt x="736" y="426"/>
                    <a:pt x="680" y="426"/>
                  </a:cubicBezTo>
                  <a:cubicBezTo>
                    <a:pt x="664" y="426"/>
                    <a:pt x="658" y="417"/>
                    <a:pt x="658" y="395"/>
                  </a:cubicBezTo>
                  <a:cubicBezTo>
                    <a:pt x="658" y="370"/>
                    <a:pt x="666" y="344"/>
                    <a:pt x="675" y="325"/>
                  </a:cubicBezTo>
                  <a:cubicBezTo>
                    <a:pt x="694" y="272"/>
                    <a:pt x="736" y="162"/>
                    <a:pt x="736" y="106"/>
                  </a:cubicBezTo>
                  <a:cubicBezTo>
                    <a:pt x="736" y="42"/>
                    <a:pt x="697" y="0"/>
                    <a:pt x="622" y="0"/>
                  </a:cubicBezTo>
                  <a:cubicBezTo>
                    <a:pt x="549" y="0"/>
                    <a:pt x="498" y="45"/>
                    <a:pt x="462" y="95"/>
                  </a:cubicBezTo>
                  <a:cubicBezTo>
                    <a:pt x="459" y="84"/>
                    <a:pt x="456" y="50"/>
                    <a:pt x="428" y="25"/>
                  </a:cubicBezTo>
                  <a:cubicBezTo>
                    <a:pt x="406" y="6"/>
                    <a:pt x="372" y="0"/>
                    <a:pt x="347" y="0"/>
                  </a:cubicBezTo>
                  <a:cubicBezTo>
                    <a:pt x="260" y="0"/>
                    <a:pt x="210" y="64"/>
                    <a:pt x="193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2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18" y="22"/>
                    <a:pt x="132" y="31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3" name="Freeform 342">
              <a:extLst>
                <a:ext uri="{FF2B5EF4-FFF2-40B4-BE49-F238E27FC236}">
                  <a16:creationId xmlns:a16="http://schemas.microsoft.com/office/drawing/2014/main" id="{5C3ACCD6-D8DA-F3DC-E5D1-2806420F0B98}"/>
                </a:ext>
              </a:extLst>
            </p:cNvPr>
            <p:cNvSpPr/>
            <p:nvPr/>
          </p:nvSpPr>
          <p:spPr>
            <a:xfrm>
              <a:off x="4630797" y="2795826"/>
              <a:ext cx="58636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493"/>
                  </a:moveTo>
                  <a:cubicBezTo>
                    <a:pt x="232" y="417"/>
                    <a:pt x="221" y="297"/>
                    <a:pt x="165" y="185"/>
                  </a:cubicBezTo>
                  <a:cubicBezTo>
                    <a:pt x="106" y="64"/>
                    <a:pt x="20" y="0"/>
                    <a:pt x="11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0" y="34"/>
                  </a:cubicBezTo>
                  <a:cubicBezTo>
                    <a:pt x="118" y="132"/>
                    <a:pt x="174" y="288"/>
                    <a:pt x="174" y="493"/>
                  </a:cubicBezTo>
                  <a:cubicBezTo>
                    <a:pt x="174" y="663"/>
                    <a:pt x="137" y="837"/>
                    <a:pt x="14" y="960"/>
                  </a:cubicBezTo>
                  <a:cubicBezTo>
                    <a:pt x="0" y="971"/>
                    <a:pt x="0" y="974"/>
                    <a:pt x="0" y="977"/>
                  </a:cubicBezTo>
                  <a:cubicBezTo>
                    <a:pt x="0" y="983"/>
                    <a:pt x="3" y="985"/>
                    <a:pt x="11" y="985"/>
                  </a:cubicBezTo>
                  <a:cubicBezTo>
                    <a:pt x="20" y="985"/>
                    <a:pt x="109" y="918"/>
                    <a:pt x="168" y="795"/>
                  </a:cubicBezTo>
                  <a:cubicBezTo>
                    <a:pt x="218" y="686"/>
                    <a:pt x="232" y="577"/>
                    <a:pt x="232" y="4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4" name="Freeform 343">
              <a:extLst>
                <a:ext uri="{FF2B5EF4-FFF2-40B4-BE49-F238E27FC236}">
                  <a16:creationId xmlns:a16="http://schemas.microsoft.com/office/drawing/2014/main" id="{DEBD2C81-2EC5-4CDC-19E7-EA58EE9749C2}"/>
                </a:ext>
              </a:extLst>
            </p:cNvPr>
            <p:cNvSpPr/>
            <p:nvPr/>
          </p:nvSpPr>
          <p:spPr>
            <a:xfrm>
              <a:off x="4743755" y="2795826"/>
              <a:ext cx="10407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" h="985">
                  <a:moveTo>
                    <a:pt x="42" y="36"/>
                  </a:moveTo>
                  <a:cubicBezTo>
                    <a:pt x="42" y="17"/>
                    <a:pt x="42" y="0"/>
                    <a:pt x="22" y="0"/>
                  </a:cubicBezTo>
                  <a:cubicBezTo>
                    <a:pt x="0" y="0"/>
                    <a:pt x="0" y="17"/>
                    <a:pt x="0" y="36"/>
                  </a:cubicBezTo>
                  <a:lnTo>
                    <a:pt x="0" y="952"/>
                  </a:lnTo>
                  <a:cubicBezTo>
                    <a:pt x="0" y="969"/>
                    <a:pt x="0" y="985"/>
                    <a:pt x="22" y="985"/>
                  </a:cubicBezTo>
                  <a:cubicBezTo>
                    <a:pt x="42" y="985"/>
                    <a:pt x="42" y="969"/>
                    <a:pt x="42" y="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5" name="Freeform 344">
              <a:extLst>
                <a:ext uri="{FF2B5EF4-FFF2-40B4-BE49-F238E27FC236}">
                  <a16:creationId xmlns:a16="http://schemas.microsoft.com/office/drawing/2014/main" id="{18732D0F-3ACA-5312-E60E-B18A26631C13}"/>
                </a:ext>
              </a:extLst>
            </p:cNvPr>
            <p:cNvSpPr/>
            <p:nvPr/>
          </p:nvSpPr>
          <p:spPr>
            <a:xfrm>
              <a:off x="4790714" y="2873404"/>
              <a:ext cx="205100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9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6" y="440"/>
                    <a:pt x="115" y="420"/>
                  </a:cubicBezTo>
                  <a:cubicBezTo>
                    <a:pt x="115" y="420"/>
                    <a:pt x="126" y="372"/>
                    <a:pt x="134" y="347"/>
                  </a:cubicBezTo>
                  <a:lnTo>
                    <a:pt x="154" y="258"/>
                  </a:lnTo>
                  <a:cubicBezTo>
                    <a:pt x="160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4" y="22"/>
                  </a:cubicBezTo>
                  <a:cubicBezTo>
                    <a:pt x="389" y="22"/>
                    <a:pt x="398" y="59"/>
                    <a:pt x="398" y="92"/>
                  </a:cubicBezTo>
                  <a:cubicBezTo>
                    <a:pt x="398" y="115"/>
                    <a:pt x="392" y="143"/>
                    <a:pt x="384" y="174"/>
                  </a:cubicBezTo>
                  <a:lnTo>
                    <a:pt x="356" y="288"/>
                  </a:lnTo>
                  <a:lnTo>
                    <a:pt x="336" y="364"/>
                  </a:lnTo>
                  <a:cubicBezTo>
                    <a:pt x="333" y="384"/>
                    <a:pt x="325" y="417"/>
                    <a:pt x="325" y="423"/>
                  </a:cubicBezTo>
                  <a:cubicBezTo>
                    <a:pt x="325" y="440"/>
                    <a:pt x="339" y="448"/>
                    <a:pt x="353" y="448"/>
                  </a:cubicBezTo>
                  <a:cubicBezTo>
                    <a:pt x="384" y="448"/>
                    <a:pt x="389" y="423"/>
                    <a:pt x="398" y="392"/>
                  </a:cubicBezTo>
                  <a:cubicBezTo>
                    <a:pt x="412" y="336"/>
                    <a:pt x="448" y="193"/>
                    <a:pt x="456" y="154"/>
                  </a:cubicBezTo>
                  <a:cubicBezTo>
                    <a:pt x="459" y="140"/>
                    <a:pt x="512" y="22"/>
                    <a:pt x="619" y="22"/>
                  </a:cubicBezTo>
                  <a:cubicBezTo>
                    <a:pt x="661" y="22"/>
                    <a:pt x="672" y="56"/>
                    <a:pt x="672" y="92"/>
                  </a:cubicBezTo>
                  <a:cubicBezTo>
                    <a:pt x="672" y="148"/>
                    <a:pt x="630" y="260"/>
                    <a:pt x="610" y="314"/>
                  </a:cubicBezTo>
                  <a:cubicBezTo>
                    <a:pt x="602" y="336"/>
                    <a:pt x="599" y="347"/>
                    <a:pt x="599" y="367"/>
                  </a:cubicBezTo>
                  <a:cubicBezTo>
                    <a:pt x="599" y="414"/>
                    <a:pt x="633" y="448"/>
                    <a:pt x="680" y="448"/>
                  </a:cubicBezTo>
                  <a:cubicBezTo>
                    <a:pt x="773" y="448"/>
                    <a:pt x="809" y="305"/>
                    <a:pt x="809" y="297"/>
                  </a:cubicBezTo>
                  <a:cubicBezTo>
                    <a:pt x="809" y="286"/>
                    <a:pt x="801" y="286"/>
                    <a:pt x="798" y="286"/>
                  </a:cubicBezTo>
                  <a:cubicBezTo>
                    <a:pt x="787" y="286"/>
                    <a:pt x="787" y="288"/>
                    <a:pt x="781" y="305"/>
                  </a:cubicBezTo>
                  <a:cubicBezTo>
                    <a:pt x="767" y="356"/>
                    <a:pt x="736" y="426"/>
                    <a:pt x="680" y="426"/>
                  </a:cubicBezTo>
                  <a:cubicBezTo>
                    <a:pt x="664" y="426"/>
                    <a:pt x="658" y="417"/>
                    <a:pt x="658" y="395"/>
                  </a:cubicBezTo>
                  <a:cubicBezTo>
                    <a:pt x="658" y="370"/>
                    <a:pt x="666" y="344"/>
                    <a:pt x="675" y="325"/>
                  </a:cubicBezTo>
                  <a:cubicBezTo>
                    <a:pt x="694" y="272"/>
                    <a:pt x="736" y="162"/>
                    <a:pt x="736" y="106"/>
                  </a:cubicBezTo>
                  <a:cubicBezTo>
                    <a:pt x="736" y="42"/>
                    <a:pt x="697" y="0"/>
                    <a:pt x="622" y="0"/>
                  </a:cubicBezTo>
                  <a:cubicBezTo>
                    <a:pt x="549" y="0"/>
                    <a:pt x="498" y="45"/>
                    <a:pt x="462" y="95"/>
                  </a:cubicBezTo>
                  <a:cubicBezTo>
                    <a:pt x="459" y="84"/>
                    <a:pt x="456" y="50"/>
                    <a:pt x="428" y="25"/>
                  </a:cubicBezTo>
                  <a:cubicBezTo>
                    <a:pt x="406" y="6"/>
                    <a:pt x="372" y="0"/>
                    <a:pt x="347" y="0"/>
                  </a:cubicBezTo>
                  <a:cubicBezTo>
                    <a:pt x="260" y="0"/>
                    <a:pt x="210" y="64"/>
                    <a:pt x="193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2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18" y="22"/>
                    <a:pt x="132" y="31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6" name="Freeform 345">
              <a:extLst>
                <a:ext uri="{FF2B5EF4-FFF2-40B4-BE49-F238E27FC236}">
                  <a16:creationId xmlns:a16="http://schemas.microsoft.com/office/drawing/2014/main" id="{F904F7A1-EE0C-98BA-C1DB-441188FA7419}"/>
                </a:ext>
              </a:extLst>
            </p:cNvPr>
            <p:cNvSpPr/>
            <p:nvPr/>
          </p:nvSpPr>
          <p:spPr>
            <a:xfrm>
              <a:off x="5071458" y="2817192"/>
              <a:ext cx="166771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658">
                  <a:moveTo>
                    <a:pt x="350" y="350"/>
                  </a:moveTo>
                  <a:lnTo>
                    <a:pt x="624" y="350"/>
                  </a:lnTo>
                  <a:cubicBezTo>
                    <a:pt x="641" y="350"/>
                    <a:pt x="658" y="350"/>
                    <a:pt x="658" y="330"/>
                  </a:cubicBezTo>
                  <a:cubicBezTo>
                    <a:pt x="658" y="308"/>
                    <a:pt x="641" y="308"/>
                    <a:pt x="624" y="308"/>
                  </a:cubicBezTo>
                  <a:lnTo>
                    <a:pt x="350" y="308"/>
                  </a:lnTo>
                  <a:lnTo>
                    <a:pt x="350" y="36"/>
                  </a:lnTo>
                  <a:cubicBezTo>
                    <a:pt x="350" y="20"/>
                    <a:pt x="350" y="0"/>
                    <a:pt x="330" y="0"/>
                  </a:cubicBezTo>
                  <a:cubicBezTo>
                    <a:pt x="311" y="0"/>
                    <a:pt x="311" y="17"/>
                    <a:pt x="311" y="34"/>
                  </a:cubicBezTo>
                  <a:lnTo>
                    <a:pt x="311" y="308"/>
                  </a:lnTo>
                  <a:lnTo>
                    <a:pt x="34" y="308"/>
                  </a:lnTo>
                  <a:cubicBezTo>
                    <a:pt x="17" y="308"/>
                    <a:pt x="0" y="308"/>
                    <a:pt x="0" y="330"/>
                  </a:cubicBezTo>
                  <a:cubicBezTo>
                    <a:pt x="0" y="350"/>
                    <a:pt x="17" y="350"/>
                    <a:pt x="34" y="350"/>
                  </a:cubicBezTo>
                  <a:lnTo>
                    <a:pt x="311" y="350"/>
                  </a:lnTo>
                  <a:lnTo>
                    <a:pt x="311" y="619"/>
                  </a:lnTo>
                  <a:lnTo>
                    <a:pt x="34" y="619"/>
                  </a:lnTo>
                  <a:cubicBezTo>
                    <a:pt x="17" y="619"/>
                    <a:pt x="0" y="619"/>
                    <a:pt x="0" y="638"/>
                  </a:cubicBezTo>
                  <a:cubicBezTo>
                    <a:pt x="0" y="658"/>
                    <a:pt x="17" y="658"/>
                    <a:pt x="34" y="658"/>
                  </a:cubicBezTo>
                  <a:lnTo>
                    <a:pt x="624" y="658"/>
                  </a:lnTo>
                  <a:cubicBezTo>
                    <a:pt x="641" y="658"/>
                    <a:pt x="658" y="658"/>
                    <a:pt x="658" y="638"/>
                  </a:cubicBezTo>
                  <a:cubicBezTo>
                    <a:pt x="658" y="619"/>
                    <a:pt x="641" y="619"/>
                    <a:pt x="624" y="619"/>
                  </a:cubicBezTo>
                  <a:lnTo>
                    <a:pt x="350" y="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7" name="Freeform 346">
              <a:extLst>
                <a:ext uri="{FF2B5EF4-FFF2-40B4-BE49-F238E27FC236}">
                  <a16:creationId xmlns:a16="http://schemas.microsoft.com/office/drawing/2014/main" id="{42AEF70E-B9D2-8F94-F008-500A6FD5EDDB}"/>
                </a:ext>
              </a:extLst>
            </p:cNvPr>
            <p:cNvSpPr/>
            <p:nvPr/>
          </p:nvSpPr>
          <p:spPr>
            <a:xfrm>
              <a:off x="5330116" y="2817192"/>
              <a:ext cx="83005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658">
                  <a:moveTo>
                    <a:pt x="204" y="25"/>
                  </a:moveTo>
                  <a:cubicBezTo>
                    <a:pt x="204" y="3"/>
                    <a:pt x="204" y="0"/>
                    <a:pt x="182" y="0"/>
                  </a:cubicBezTo>
                  <a:cubicBezTo>
                    <a:pt x="120" y="64"/>
                    <a:pt x="31" y="64"/>
                    <a:pt x="0" y="64"/>
                  </a:cubicBezTo>
                  <a:lnTo>
                    <a:pt x="0" y="95"/>
                  </a:lnTo>
                  <a:cubicBezTo>
                    <a:pt x="20" y="95"/>
                    <a:pt x="78" y="95"/>
                    <a:pt x="129" y="67"/>
                  </a:cubicBezTo>
                  <a:lnTo>
                    <a:pt x="129" y="580"/>
                  </a:lnTo>
                  <a:cubicBezTo>
                    <a:pt x="129" y="616"/>
                    <a:pt x="126" y="627"/>
                    <a:pt x="36" y="627"/>
                  </a:cubicBezTo>
                  <a:lnTo>
                    <a:pt x="6" y="627"/>
                  </a:lnTo>
                  <a:lnTo>
                    <a:pt x="6" y="658"/>
                  </a:lnTo>
                  <a:cubicBezTo>
                    <a:pt x="42" y="655"/>
                    <a:pt x="126" y="655"/>
                    <a:pt x="168" y="655"/>
                  </a:cubicBezTo>
                  <a:cubicBezTo>
                    <a:pt x="207" y="655"/>
                    <a:pt x="294" y="655"/>
                    <a:pt x="328" y="658"/>
                  </a:cubicBezTo>
                  <a:lnTo>
                    <a:pt x="328" y="627"/>
                  </a:lnTo>
                  <a:lnTo>
                    <a:pt x="297" y="627"/>
                  </a:lnTo>
                  <a:cubicBezTo>
                    <a:pt x="207" y="627"/>
                    <a:pt x="204" y="616"/>
                    <a:pt x="204" y="5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8" name="Freeform 347">
              <a:extLst>
                <a:ext uri="{FF2B5EF4-FFF2-40B4-BE49-F238E27FC236}">
                  <a16:creationId xmlns:a16="http://schemas.microsoft.com/office/drawing/2014/main" id="{839C4C00-E08A-920C-45A8-709A03B7A688}"/>
                </a:ext>
              </a:extLst>
            </p:cNvPr>
            <p:cNvSpPr/>
            <p:nvPr/>
          </p:nvSpPr>
          <p:spPr>
            <a:xfrm>
              <a:off x="5446882" y="2795826"/>
              <a:ext cx="55844" cy="2502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21" h="985">
                  <a:moveTo>
                    <a:pt x="218" y="510"/>
                  </a:moveTo>
                  <a:cubicBezTo>
                    <a:pt x="221" y="498"/>
                    <a:pt x="221" y="496"/>
                    <a:pt x="221" y="493"/>
                  </a:cubicBezTo>
                  <a:cubicBezTo>
                    <a:pt x="221" y="490"/>
                    <a:pt x="221" y="487"/>
                    <a:pt x="218" y="476"/>
                  </a:cubicBezTo>
                  <a:lnTo>
                    <a:pt x="42" y="22"/>
                  </a:lnTo>
                  <a:cubicBezTo>
                    <a:pt x="36" y="6"/>
                    <a:pt x="31" y="0"/>
                    <a:pt x="20" y="0"/>
                  </a:cubicBezTo>
                  <a:cubicBezTo>
                    <a:pt x="8" y="0"/>
                    <a:pt x="0" y="8"/>
                    <a:pt x="0" y="20"/>
                  </a:cubicBezTo>
                  <a:cubicBezTo>
                    <a:pt x="0" y="22"/>
                    <a:pt x="0" y="25"/>
                    <a:pt x="6" y="36"/>
                  </a:cubicBezTo>
                  <a:lnTo>
                    <a:pt x="182" y="493"/>
                  </a:lnTo>
                  <a:lnTo>
                    <a:pt x="6" y="949"/>
                  </a:lnTo>
                  <a:cubicBezTo>
                    <a:pt x="0" y="960"/>
                    <a:pt x="0" y="963"/>
                    <a:pt x="0" y="966"/>
                  </a:cubicBezTo>
                  <a:cubicBezTo>
                    <a:pt x="0" y="977"/>
                    <a:pt x="8" y="985"/>
                    <a:pt x="20" y="985"/>
                  </a:cubicBezTo>
                  <a:cubicBezTo>
                    <a:pt x="34" y="985"/>
                    <a:pt x="36" y="977"/>
                    <a:pt x="42" y="9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79" name="Freeform 348">
              <a:extLst>
                <a:ext uri="{FF2B5EF4-FFF2-40B4-BE49-F238E27FC236}">
                  <a16:creationId xmlns:a16="http://schemas.microsoft.com/office/drawing/2014/main" id="{C3BD5C83-78F2-453D-7169-37BCBEB671A1}"/>
                </a:ext>
              </a:extLst>
            </p:cNvPr>
            <p:cNvSpPr/>
            <p:nvPr/>
          </p:nvSpPr>
          <p:spPr>
            <a:xfrm>
              <a:off x="2474710" y="2237786"/>
              <a:ext cx="1629376" cy="25816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420" h="1016">
                  <a:moveTo>
                    <a:pt x="3211" y="1016"/>
                  </a:moveTo>
                  <a:lnTo>
                    <a:pt x="0" y="1016"/>
                  </a:lnTo>
                  <a:lnTo>
                    <a:pt x="0" y="0"/>
                  </a:lnTo>
                  <a:lnTo>
                    <a:pt x="6420" y="0"/>
                  </a:lnTo>
                  <a:lnTo>
                    <a:pt x="6420" y="10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0" name="Freeform 349">
              <a:extLst>
                <a:ext uri="{FF2B5EF4-FFF2-40B4-BE49-F238E27FC236}">
                  <a16:creationId xmlns:a16="http://schemas.microsoft.com/office/drawing/2014/main" id="{30145CE6-852C-0E17-1A64-7D524D40E68E}"/>
                </a:ext>
              </a:extLst>
            </p:cNvPr>
            <p:cNvSpPr/>
            <p:nvPr/>
          </p:nvSpPr>
          <p:spPr>
            <a:xfrm>
              <a:off x="2545785" y="2237786"/>
              <a:ext cx="67267" cy="389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6" h="154">
                  <a:moveTo>
                    <a:pt x="134" y="0"/>
                  </a:moveTo>
                  <a:lnTo>
                    <a:pt x="0" y="137"/>
                  </a:lnTo>
                  <a:lnTo>
                    <a:pt x="17" y="154"/>
                  </a:lnTo>
                  <a:lnTo>
                    <a:pt x="134" y="53"/>
                  </a:lnTo>
                  <a:lnTo>
                    <a:pt x="246" y="154"/>
                  </a:lnTo>
                  <a:lnTo>
                    <a:pt x="266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1" name="Freeform 350">
              <a:extLst>
                <a:ext uri="{FF2B5EF4-FFF2-40B4-BE49-F238E27FC236}">
                  <a16:creationId xmlns:a16="http://schemas.microsoft.com/office/drawing/2014/main" id="{7F38F840-CB59-4C4E-6C83-04E1F86D8767}"/>
                </a:ext>
              </a:extLst>
            </p:cNvPr>
            <p:cNvSpPr/>
            <p:nvPr/>
          </p:nvSpPr>
          <p:spPr>
            <a:xfrm>
              <a:off x="2487403" y="2298321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1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2" name="Freeform 351">
              <a:extLst>
                <a:ext uri="{FF2B5EF4-FFF2-40B4-BE49-F238E27FC236}">
                  <a16:creationId xmlns:a16="http://schemas.microsoft.com/office/drawing/2014/main" id="{0CB45E62-EEC3-932A-328F-0C6B81FFAF62}"/>
                </a:ext>
              </a:extLst>
            </p:cNvPr>
            <p:cNvSpPr/>
            <p:nvPr/>
          </p:nvSpPr>
          <p:spPr>
            <a:xfrm>
              <a:off x="2655950" y="2246942"/>
              <a:ext cx="129710" cy="12920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2" h="509">
                  <a:moveTo>
                    <a:pt x="272" y="271"/>
                  </a:moveTo>
                  <a:lnTo>
                    <a:pt x="484" y="271"/>
                  </a:lnTo>
                  <a:cubicBezTo>
                    <a:pt x="496" y="271"/>
                    <a:pt x="512" y="271"/>
                    <a:pt x="512" y="255"/>
                  </a:cubicBezTo>
                  <a:cubicBezTo>
                    <a:pt x="512" y="238"/>
                    <a:pt x="496" y="238"/>
                    <a:pt x="484" y="238"/>
                  </a:cubicBezTo>
                  <a:lnTo>
                    <a:pt x="272" y="238"/>
                  </a:lnTo>
                  <a:lnTo>
                    <a:pt x="272" y="31"/>
                  </a:lnTo>
                  <a:cubicBezTo>
                    <a:pt x="272" y="17"/>
                    <a:pt x="272" y="0"/>
                    <a:pt x="255" y="0"/>
                  </a:cubicBezTo>
                  <a:cubicBezTo>
                    <a:pt x="238" y="0"/>
                    <a:pt x="238" y="17"/>
                    <a:pt x="238" y="25"/>
                  </a:cubicBezTo>
                  <a:lnTo>
                    <a:pt x="238" y="238"/>
                  </a:lnTo>
                  <a:lnTo>
                    <a:pt x="28" y="238"/>
                  </a:lnTo>
                  <a:cubicBezTo>
                    <a:pt x="17" y="238"/>
                    <a:pt x="0" y="238"/>
                    <a:pt x="0" y="255"/>
                  </a:cubicBezTo>
                  <a:cubicBezTo>
                    <a:pt x="0" y="271"/>
                    <a:pt x="17" y="271"/>
                    <a:pt x="28" y="271"/>
                  </a:cubicBezTo>
                  <a:lnTo>
                    <a:pt x="238" y="271"/>
                  </a:lnTo>
                  <a:lnTo>
                    <a:pt x="238" y="476"/>
                  </a:lnTo>
                  <a:lnTo>
                    <a:pt x="28" y="476"/>
                  </a:lnTo>
                  <a:cubicBezTo>
                    <a:pt x="17" y="476"/>
                    <a:pt x="0" y="476"/>
                    <a:pt x="0" y="493"/>
                  </a:cubicBezTo>
                  <a:cubicBezTo>
                    <a:pt x="0" y="509"/>
                    <a:pt x="17" y="509"/>
                    <a:pt x="28" y="509"/>
                  </a:cubicBezTo>
                  <a:lnTo>
                    <a:pt x="484" y="509"/>
                  </a:lnTo>
                  <a:cubicBezTo>
                    <a:pt x="496" y="509"/>
                    <a:pt x="512" y="509"/>
                    <a:pt x="512" y="493"/>
                  </a:cubicBezTo>
                  <a:cubicBezTo>
                    <a:pt x="512" y="476"/>
                    <a:pt x="496" y="476"/>
                    <a:pt x="484" y="476"/>
                  </a:cubicBezTo>
                  <a:lnTo>
                    <a:pt x="272" y="4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3" name="Freeform 352">
              <a:extLst>
                <a:ext uri="{FF2B5EF4-FFF2-40B4-BE49-F238E27FC236}">
                  <a16:creationId xmlns:a16="http://schemas.microsoft.com/office/drawing/2014/main" id="{FA37F310-3526-F24C-683B-34B7BD6D7C09}"/>
                </a:ext>
              </a:extLst>
            </p:cNvPr>
            <p:cNvSpPr/>
            <p:nvPr/>
          </p:nvSpPr>
          <p:spPr>
            <a:xfrm>
              <a:off x="2894049" y="2383019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4" name="Freeform 353">
              <a:extLst>
                <a:ext uri="{FF2B5EF4-FFF2-40B4-BE49-F238E27FC236}">
                  <a16:creationId xmlns:a16="http://schemas.microsoft.com/office/drawing/2014/main" id="{1B57C026-C1A0-6F5E-778A-8A23F77C63EF}"/>
                </a:ext>
              </a:extLst>
            </p:cNvPr>
            <p:cNvSpPr/>
            <p:nvPr/>
          </p:nvSpPr>
          <p:spPr>
            <a:xfrm>
              <a:off x="3215152" y="2237786"/>
              <a:ext cx="67267" cy="389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6" h="154">
                  <a:moveTo>
                    <a:pt x="134" y="0"/>
                  </a:moveTo>
                  <a:lnTo>
                    <a:pt x="0" y="137"/>
                  </a:lnTo>
                  <a:lnTo>
                    <a:pt x="17" y="154"/>
                  </a:lnTo>
                  <a:lnTo>
                    <a:pt x="134" y="53"/>
                  </a:lnTo>
                  <a:lnTo>
                    <a:pt x="246" y="154"/>
                  </a:lnTo>
                  <a:lnTo>
                    <a:pt x="266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5" name="Freeform 354">
              <a:extLst>
                <a:ext uri="{FF2B5EF4-FFF2-40B4-BE49-F238E27FC236}">
                  <a16:creationId xmlns:a16="http://schemas.microsoft.com/office/drawing/2014/main" id="{58C220EB-6A37-E06A-0050-687871161458}"/>
                </a:ext>
              </a:extLst>
            </p:cNvPr>
            <p:cNvSpPr/>
            <p:nvPr/>
          </p:nvSpPr>
          <p:spPr>
            <a:xfrm>
              <a:off x="3157023" y="2298321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1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6" name="Freeform 355">
              <a:extLst>
                <a:ext uri="{FF2B5EF4-FFF2-40B4-BE49-F238E27FC236}">
                  <a16:creationId xmlns:a16="http://schemas.microsoft.com/office/drawing/2014/main" id="{F4D3BD18-DA73-44EE-5617-AA116333C209}"/>
                </a:ext>
              </a:extLst>
            </p:cNvPr>
            <p:cNvSpPr/>
            <p:nvPr/>
          </p:nvSpPr>
          <p:spPr>
            <a:xfrm>
              <a:off x="3319732" y="2293997"/>
              <a:ext cx="94173" cy="79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2" h="313">
                  <a:moveTo>
                    <a:pt x="140" y="232"/>
                  </a:moveTo>
                  <a:cubicBezTo>
                    <a:pt x="132" y="257"/>
                    <a:pt x="109" y="294"/>
                    <a:pt x="76" y="294"/>
                  </a:cubicBezTo>
                  <a:cubicBezTo>
                    <a:pt x="73" y="294"/>
                    <a:pt x="50" y="294"/>
                    <a:pt x="36" y="285"/>
                  </a:cubicBezTo>
                  <a:cubicBezTo>
                    <a:pt x="64" y="274"/>
                    <a:pt x="67" y="249"/>
                    <a:pt x="67" y="246"/>
                  </a:cubicBezTo>
                  <a:cubicBezTo>
                    <a:pt x="67" y="230"/>
                    <a:pt x="56" y="221"/>
                    <a:pt x="39" y="221"/>
                  </a:cubicBezTo>
                  <a:cubicBezTo>
                    <a:pt x="20" y="221"/>
                    <a:pt x="0" y="238"/>
                    <a:pt x="0" y="263"/>
                  </a:cubicBezTo>
                  <a:cubicBezTo>
                    <a:pt x="0" y="297"/>
                    <a:pt x="39" y="313"/>
                    <a:pt x="73" y="313"/>
                  </a:cubicBezTo>
                  <a:cubicBezTo>
                    <a:pt x="104" y="313"/>
                    <a:pt x="134" y="294"/>
                    <a:pt x="151" y="263"/>
                  </a:cubicBezTo>
                  <a:cubicBezTo>
                    <a:pt x="168" y="299"/>
                    <a:pt x="204" y="313"/>
                    <a:pt x="232" y="313"/>
                  </a:cubicBezTo>
                  <a:cubicBezTo>
                    <a:pt x="314" y="313"/>
                    <a:pt x="356" y="227"/>
                    <a:pt x="356" y="207"/>
                  </a:cubicBezTo>
                  <a:cubicBezTo>
                    <a:pt x="356" y="199"/>
                    <a:pt x="347" y="199"/>
                    <a:pt x="344" y="199"/>
                  </a:cubicBezTo>
                  <a:cubicBezTo>
                    <a:pt x="333" y="199"/>
                    <a:pt x="333" y="202"/>
                    <a:pt x="330" y="210"/>
                  </a:cubicBezTo>
                  <a:cubicBezTo>
                    <a:pt x="316" y="257"/>
                    <a:pt x="274" y="294"/>
                    <a:pt x="235" y="294"/>
                  </a:cubicBezTo>
                  <a:cubicBezTo>
                    <a:pt x="207" y="294"/>
                    <a:pt x="193" y="274"/>
                    <a:pt x="193" y="249"/>
                  </a:cubicBezTo>
                  <a:cubicBezTo>
                    <a:pt x="193" y="230"/>
                    <a:pt x="210" y="168"/>
                    <a:pt x="230" y="90"/>
                  </a:cubicBezTo>
                  <a:cubicBezTo>
                    <a:pt x="244" y="36"/>
                    <a:pt x="274" y="20"/>
                    <a:pt x="297" y="20"/>
                  </a:cubicBezTo>
                  <a:cubicBezTo>
                    <a:pt x="300" y="20"/>
                    <a:pt x="322" y="20"/>
                    <a:pt x="336" y="28"/>
                  </a:cubicBezTo>
                  <a:cubicBezTo>
                    <a:pt x="314" y="36"/>
                    <a:pt x="305" y="56"/>
                    <a:pt x="305" y="67"/>
                  </a:cubicBezTo>
                  <a:cubicBezTo>
                    <a:pt x="305" y="84"/>
                    <a:pt x="316" y="92"/>
                    <a:pt x="333" y="92"/>
                  </a:cubicBezTo>
                  <a:cubicBezTo>
                    <a:pt x="347" y="92"/>
                    <a:pt x="372" y="81"/>
                    <a:pt x="372" y="50"/>
                  </a:cubicBezTo>
                  <a:cubicBezTo>
                    <a:pt x="372" y="11"/>
                    <a:pt x="328" y="0"/>
                    <a:pt x="300" y="0"/>
                  </a:cubicBezTo>
                  <a:cubicBezTo>
                    <a:pt x="263" y="0"/>
                    <a:pt x="238" y="22"/>
                    <a:pt x="221" y="50"/>
                  </a:cubicBezTo>
                  <a:cubicBezTo>
                    <a:pt x="210" y="20"/>
                    <a:pt x="176" y="0"/>
                    <a:pt x="137" y="0"/>
                  </a:cubicBezTo>
                  <a:cubicBezTo>
                    <a:pt x="62" y="0"/>
                    <a:pt x="17" y="87"/>
                    <a:pt x="17" y="106"/>
                  </a:cubicBezTo>
                  <a:cubicBezTo>
                    <a:pt x="17" y="115"/>
                    <a:pt x="25" y="115"/>
                    <a:pt x="28" y="115"/>
                  </a:cubicBezTo>
                  <a:cubicBezTo>
                    <a:pt x="36" y="115"/>
                    <a:pt x="36" y="112"/>
                    <a:pt x="42" y="104"/>
                  </a:cubicBezTo>
                  <a:cubicBezTo>
                    <a:pt x="59" y="50"/>
                    <a:pt x="101" y="20"/>
                    <a:pt x="137" y="20"/>
                  </a:cubicBezTo>
                  <a:cubicBezTo>
                    <a:pt x="160" y="20"/>
                    <a:pt x="176" y="31"/>
                    <a:pt x="176" y="64"/>
                  </a:cubicBezTo>
                  <a:cubicBezTo>
                    <a:pt x="176" y="78"/>
                    <a:pt x="168" y="115"/>
                    <a:pt x="162" y="1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7" name="Freeform 356">
              <a:extLst>
                <a:ext uri="{FF2B5EF4-FFF2-40B4-BE49-F238E27FC236}">
                  <a16:creationId xmlns:a16="http://schemas.microsoft.com/office/drawing/2014/main" id="{0D8C4F6F-92CB-F5D0-F50C-C284B0D9A720}"/>
                </a:ext>
              </a:extLst>
            </p:cNvPr>
            <p:cNvSpPr/>
            <p:nvPr/>
          </p:nvSpPr>
          <p:spPr>
            <a:xfrm>
              <a:off x="3506556" y="2308240"/>
              <a:ext cx="166771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658">
                  <a:moveTo>
                    <a:pt x="350" y="350"/>
                  </a:moveTo>
                  <a:lnTo>
                    <a:pt x="624" y="350"/>
                  </a:lnTo>
                  <a:cubicBezTo>
                    <a:pt x="641" y="350"/>
                    <a:pt x="658" y="350"/>
                    <a:pt x="658" y="330"/>
                  </a:cubicBezTo>
                  <a:cubicBezTo>
                    <a:pt x="658" y="308"/>
                    <a:pt x="641" y="308"/>
                    <a:pt x="624" y="308"/>
                  </a:cubicBezTo>
                  <a:lnTo>
                    <a:pt x="350" y="308"/>
                  </a:lnTo>
                  <a:lnTo>
                    <a:pt x="350" y="36"/>
                  </a:lnTo>
                  <a:cubicBezTo>
                    <a:pt x="350" y="20"/>
                    <a:pt x="350" y="0"/>
                    <a:pt x="330" y="0"/>
                  </a:cubicBezTo>
                  <a:cubicBezTo>
                    <a:pt x="311" y="0"/>
                    <a:pt x="311" y="17"/>
                    <a:pt x="311" y="34"/>
                  </a:cubicBezTo>
                  <a:lnTo>
                    <a:pt x="311" y="308"/>
                  </a:lnTo>
                  <a:lnTo>
                    <a:pt x="34" y="308"/>
                  </a:lnTo>
                  <a:cubicBezTo>
                    <a:pt x="17" y="308"/>
                    <a:pt x="0" y="308"/>
                    <a:pt x="0" y="330"/>
                  </a:cubicBezTo>
                  <a:cubicBezTo>
                    <a:pt x="0" y="350"/>
                    <a:pt x="17" y="350"/>
                    <a:pt x="34" y="350"/>
                  </a:cubicBezTo>
                  <a:lnTo>
                    <a:pt x="311" y="350"/>
                  </a:lnTo>
                  <a:lnTo>
                    <a:pt x="311" y="619"/>
                  </a:lnTo>
                  <a:lnTo>
                    <a:pt x="34" y="619"/>
                  </a:lnTo>
                  <a:cubicBezTo>
                    <a:pt x="17" y="619"/>
                    <a:pt x="0" y="619"/>
                    <a:pt x="0" y="638"/>
                  </a:cubicBezTo>
                  <a:cubicBezTo>
                    <a:pt x="0" y="658"/>
                    <a:pt x="17" y="658"/>
                    <a:pt x="34" y="658"/>
                  </a:cubicBezTo>
                  <a:lnTo>
                    <a:pt x="624" y="658"/>
                  </a:lnTo>
                  <a:cubicBezTo>
                    <a:pt x="641" y="658"/>
                    <a:pt x="658" y="658"/>
                    <a:pt x="658" y="638"/>
                  </a:cubicBezTo>
                  <a:cubicBezTo>
                    <a:pt x="658" y="619"/>
                    <a:pt x="641" y="619"/>
                    <a:pt x="624" y="619"/>
                  </a:cubicBezTo>
                  <a:lnTo>
                    <a:pt x="350" y="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8" name="Freeform 357">
              <a:extLst>
                <a:ext uri="{FF2B5EF4-FFF2-40B4-BE49-F238E27FC236}">
                  <a16:creationId xmlns:a16="http://schemas.microsoft.com/office/drawing/2014/main" id="{5898AC2C-79C1-73E3-D904-463F6E86A425}"/>
                </a:ext>
              </a:extLst>
            </p:cNvPr>
            <p:cNvSpPr/>
            <p:nvPr/>
          </p:nvSpPr>
          <p:spPr>
            <a:xfrm>
              <a:off x="3749731" y="2309767"/>
              <a:ext cx="66505" cy="1683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3" h="663">
                  <a:moveTo>
                    <a:pt x="255" y="36"/>
                  </a:moveTo>
                  <a:cubicBezTo>
                    <a:pt x="255" y="17"/>
                    <a:pt x="241" y="0"/>
                    <a:pt x="216" y="0"/>
                  </a:cubicBezTo>
                  <a:cubicBezTo>
                    <a:pt x="190" y="0"/>
                    <a:pt x="162" y="25"/>
                    <a:pt x="162" y="53"/>
                  </a:cubicBezTo>
                  <a:cubicBezTo>
                    <a:pt x="162" y="70"/>
                    <a:pt x="176" y="87"/>
                    <a:pt x="202" y="87"/>
                  </a:cubicBezTo>
                  <a:cubicBezTo>
                    <a:pt x="224" y="87"/>
                    <a:pt x="255" y="64"/>
                    <a:pt x="255" y="36"/>
                  </a:cubicBezTo>
                  <a:close/>
                  <a:moveTo>
                    <a:pt x="179" y="406"/>
                  </a:moveTo>
                  <a:cubicBezTo>
                    <a:pt x="190" y="378"/>
                    <a:pt x="190" y="375"/>
                    <a:pt x="199" y="350"/>
                  </a:cubicBezTo>
                  <a:cubicBezTo>
                    <a:pt x="207" y="330"/>
                    <a:pt x="213" y="316"/>
                    <a:pt x="213" y="297"/>
                  </a:cubicBezTo>
                  <a:cubicBezTo>
                    <a:pt x="213" y="252"/>
                    <a:pt x="182" y="216"/>
                    <a:pt x="132" y="216"/>
                  </a:cubicBezTo>
                  <a:cubicBezTo>
                    <a:pt x="36" y="216"/>
                    <a:pt x="0" y="358"/>
                    <a:pt x="0" y="369"/>
                  </a:cubicBezTo>
                  <a:cubicBezTo>
                    <a:pt x="0" y="378"/>
                    <a:pt x="11" y="378"/>
                    <a:pt x="11" y="378"/>
                  </a:cubicBezTo>
                  <a:cubicBezTo>
                    <a:pt x="22" y="378"/>
                    <a:pt x="22" y="375"/>
                    <a:pt x="28" y="361"/>
                  </a:cubicBezTo>
                  <a:cubicBezTo>
                    <a:pt x="56" y="269"/>
                    <a:pt x="95" y="238"/>
                    <a:pt x="129" y="238"/>
                  </a:cubicBezTo>
                  <a:cubicBezTo>
                    <a:pt x="137" y="238"/>
                    <a:pt x="154" y="238"/>
                    <a:pt x="154" y="269"/>
                  </a:cubicBezTo>
                  <a:cubicBezTo>
                    <a:pt x="154" y="291"/>
                    <a:pt x="146" y="311"/>
                    <a:pt x="143" y="322"/>
                  </a:cubicBezTo>
                  <a:cubicBezTo>
                    <a:pt x="134" y="347"/>
                    <a:pt x="90" y="462"/>
                    <a:pt x="73" y="504"/>
                  </a:cubicBezTo>
                  <a:cubicBezTo>
                    <a:pt x="64" y="529"/>
                    <a:pt x="50" y="563"/>
                    <a:pt x="50" y="582"/>
                  </a:cubicBezTo>
                  <a:cubicBezTo>
                    <a:pt x="50" y="630"/>
                    <a:pt x="84" y="663"/>
                    <a:pt x="132" y="663"/>
                  </a:cubicBezTo>
                  <a:cubicBezTo>
                    <a:pt x="227" y="663"/>
                    <a:pt x="263" y="521"/>
                    <a:pt x="263" y="512"/>
                  </a:cubicBezTo>
                  <a:cubicBezTo>
                    <a:pt x="263" y="501"/>
                    <a:pt x="255" y="501"/>
                    <a:pt x="252" y="501"/>
                  </a:cubicBezTo>
                  <a:cubicBezTo>
                    <a:pt x="241" y="501"/>
                    <a:pt x="241" y="504"/>
                    <a:pt x="235" y="521"/>
                  </a:cubicBezTo>
                  <a:cubicBezTo>
                    <a:pt x="218" y="582"/>
                    <a:pt x="185" y="641"/>
                    <a:pt x="134" y="641"/>
                  </a:cubicBezTo>
                  <a:cubicBezTo>
                    <a:pt x="118" y="641"/>
                    <a:pt x="109" y="633"/>
                    <a:pt x="109" y="610"/>
                  </a:cubicBezTo>
                  <a:cubicBezTo>
                    <a:pt x="109" y="585"/>
                    <a:pt x="118" y="571"/>
                    <a:pt x="140" y="5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89" name="Freeform 358">
              <a:extLst>
                <a:ext uri="{FF2B5EF4-FFF2-40B4-BE49-F238E27FC236}">
                  <a16:creationId xmlns:a16="http://schemas.microsoft.com/office/drawing/2014/main" id="{C480400B-D5A9-C88F-291F-7DBEE4FEC947}"/>
                </a:ext>
              </a:extLst>
            </p:cNvPr>
            <p:cNvSpPr/>
            <p:nvPr/>
          </p:nvSpPr>
          <p:spPr>
            <a:xfrm>
              <a:off x="3899749" y="2237786"/>
              <a:ext cx="67267" cy="389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6" h="154">
                  <a:moveTo>
                    <a:pt x="134" y="0"/>
                  </a:moveTo>
                  <a:lnTo>
                    <a:pt x="0" y="137"/>
                  </a:lnTo>
                  <a:lnTo>
                    <a:pt x="17" y="154"/>
                  </a:lnTo>
                  <a:lnTo>
                    <a:pt x="134" y="53"/>
                  </a:lnTo>
                  <a:lnTo>
                    <a:pt x="246" y="154"/>
                  </a:lnTo>
                  <a:lnTo>
                    <a:pt x="266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0" name="Freeform 359">
              <a:extLst>
                <a:ext uri="{FF2B5EF4-FFF2-40B4-BE49-F238E27FC236}">
                  <a16:creationId xmlns:a16="http://schemas.microsoft.com/office/drawing/2014/main" id="{11BE295F-6CA5-9084-F32C-7E63DB670100}"/>
                </a:ext>
              </a:extLst>
            </p:cNvPr>
            <p:cNvSpPr/>
            <p:nvPr/>
          </p:nvSpPr>
          <p:spPr>
            <a:xfrm>
              <a:off x="3841366" y="2298321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1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1" name="Freeform 360">
              <a:extLst>
                <a:ext uri="{FF2B5EF4-FFF2-40B4-BE49-F238E27FC236}">
                  <a16:creationId xmlns:a16="http://schemas.microsoft.com/office/drawing/2014/main" id="{188D6B28-234C-3169-A5A1-1B58F9302796}"/>
                </a:ext>
              </a:extLst>
            </p:cNvPr>
            <p:cNvSpPr/>
            <p:nvPr/>
          </p:nvSpPr>
          <p:spPr>
            <a:xfrm>
              <a:off x="4004075" y="2293997"/>
              <a:ext cx="90112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6" h="448">
                  <a:moveTo>
                    <a:pt x="353" y="45"/>
                  </a:moveTo>
                  <a:cubicBezTo>
                    <a:pt x="356" y="34"/>
                    <a:pt x="356" y="34"/>
                    <a:pt x="356" y="28"/>
                  </a:cubicBezTo>
                  <a:cubicBezTo>
                    <a:pt x="356" y="14"/>
                    <a:pt x="344" y="6"/>
                    <a:pt x="333" y="6"/>
                  </a:cubicBezTo>
                  <a:cubicBezTo>
                    <a:pt x="325" y="6"/>
                    <a:pt x="314" y="11"/>
                    <a:pt x="305" y="22"/>
                  </a:cubicBezTo>
                  <a:cubicBezTo>
                    <a:pt x="302" y="28"/>
                    <a:pt x="297" y="50"/>
                    <a:pt x="294" y="64"/>
                  </a:cubicBezTo>
                  <a:lnTo>
                    <a:pt x="280" y="120"/>
                  </a:lnTo>
                  <a:cubicBezTo>
                    <a:pt x="274" y="137"/>
                    <a:pt x="255" y="224"/>
                    <a:pt x="252" y="232"/>
                  </a:cubicBezTo>
                  <a:cubicBezTo>
                    <a:pt x="252" y="232"/>
                    <a:pt x="221" y="294"/>
                    <a:pt x="165" y="294"/>
                  </a:cubicBezTo>
                  <a:cubicBezTo>
                    <a:pt x="118" y="294"/>
                    <a:pt x="118" y="249"/>
                    <a:pt x="118" y="235"/>
                  </a:cubicBezTo>
                  <a:cubicBezTo>
                    <a:pt x="118" y="199"/>
                    <a:pt x="134" y="154"/>
                    <a:pt x="157" y="101"/>
                  </a:cubicBezTo>
                  <a:cubicBezTo>
                    <a:pt x="165" y="78"/>
                    <a:pt x="168" y="70"/>
                    <a:pt x="168" y="59"/>
                  </a:cubicBezTo>
                  <a:cubicBezTo>
                    <a:pt x="168" y="25"/>
                    <a:pt x="140" y="0"/>
                    <a:pt x="101" y="0"/>
                  </a:cubicBezTo>
                  <a:cubicBezTo>
                    <a:pt x="31" y="0"/>
                    <a:pt x="0" y="95"/>
                    <a:pt x="0" y="106"/>
                  </a:cubicBezTo>
                  <a:cubicBezTo>
                    <a:pt x="0" y="115"/>
                    <a:pt x="8" y="115"/>
                    <a:pt x="11" y="115"/>
                  </a:cubicBezTo>
                  <a:cubicBezTo>
                    <a:pt x="22" y="115"/>
                    <a:pt x="22" y="112"/>
                    <a:pt x="25" y="104"/>
                  </a:cubicBezTo>
                  <a:cubicBezTo>
                    <a:pt x="42" y="48"/>
                    <a:pt x="73" y="20"/>
                    <a:pt x="98" y="20"/>
                  </a:cubicBezTo>
                  <a:cubicBezTo>
                    <a:pt x="112" y="20"/>
                    <a:pt x="118" y="28"/>
                    <a:pt x="118" y="45"/>
                  </a:cubicBezTo>
                  <a:cubicBezTo>
                    <a:pt x="118" y="59"/>
                    <a:pt x="109" y="76"/>
                    <a:pt x="106" y="84"/>
                  </a:cubicBezTo>
                  <a:cubicBezTo>
                    <a:pt x="73" y="168"/>
                    <a:pt x="67" y="193"/>
                    <a:pt x="67" y="224"/>
                  </a:cubicBezTo>
                  <a:cubicBezTo>
                    <a:pt x="67" y="235"/>
                    <a:pt x="67" y="269"/>
                    <a:pt x="92" y="291"/>
                  </a:cubicBezTo>
                  <a:cubicBezTo>
                    <a:pt x="115" y="308"/>
                    <a:pt x="146" y="313"/>
                    <a:pt x="162" y="313"/>
                  </a:cubicBezTo>
                  <a:cubicBezTo>
                    <a:pt x="190" y="313"/>
                    <a:pt x="216" y="302"/>
                    <a:pt x="238" y="283"/>
                  </a:cubicBezTo>
                  <a:cubicBezTo>
                    <a:pt x="230" y="319"/>
                    <a:pt x="221" y="350"/>
                    <a:pt x="193" y="383"/>
                  </a:cubicBezTo>
                  <a:cubicBezTo>
                    <a:pt x="174" y="406"/>
                    <a:pt x="146" y="428"/>
                    <a:pt x="109" y="428"/>
                  </a:cubicBezTo>
                  <a:cubicBezTo>
                    <a:pt x="104" y="428"/>
                    <a:pt x="73" y="428"/>
                    <a:pt x="59" y="406"/>
                  </a:cubicBezTo>
                  <a:cubicBezTo>
                    <a:pt x="95" y="400"/>
                    <a:pt x="95" y="367"/>
                    <a:pt x="95" y="367"/>
                  </a:cubicBezTo>
                  <a:cubicBezTo>
                    <a:pt x="95" y="344"/>
                    <a:pt x="76" y="341"/>
                    <a:pt x="67" y="341"/>
                  </a:cubicBezTo>
                  <a:cubicBezTo>
                    <a:pt x="50" y="341"/>
                    <a:pt x="28" y="355"/>
                    <a:pt x="28" y="386"/>
                  </a:cubicBezTo>
                  <a:cubicBezTo>
                    <a:pt x="28" y="423"/>
                    <a:pt x="62" y="448"/>
                    <a:pt x="109" y="448"/>
                  </a:cubicBezTo>
                  <a:cubicBezTo>
                    <a:pt x="179" y="448"/>
                    <a:pt x="266" y="392"/>
                    <a:pt x="288" y="3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2" name="Freeform 361">
              <a:extLst>
                <a:ext uri="{FF2B5EF4-FFF2-40B4-BE49-F238E27FC236}">
                  <a16:creationId xmlns:a16="http://schemas.microsoft.com/office/drawing/2014/main" id="{24A5C79A-3AFD-44C0-600C-EABEEA90ECF8}"/>
                </a:ext>
              </a:extLst>
            </p:cNvPr>
            <p:cNvSpPr/>
            <p:nvPr/>
          </p:nvSpPr>
          <p:spPr>
            <a:xfrm>
              <a:off x="905494" y="2164279"/>
              <a:ext cx="4835076" cy="956097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4BC96">
                <a:alpha val="20000"/>
              </a:srgbClr>
            </a:solidFill>
            <a:ln w="0">
              <a:solidFill>
                <a:srgbClr val="CC1500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CF41E2D-8348-0CFE-9A18-A73A6A8887EC}"/>
              </a:ext>
            </a:extLst>
          </p:cNvPr>
          <p:cNvGrpSpPr/>
          <p:nvPr/>
        </p:nvGrpSpPr>
        <p:grpSpPr>
          <a:xfrm>
            <a:off x="2832010" y="3664519"/>
            <a:ext cx="4834823" cy="956097"/>
            <a:chOff x="905748" y="3588886"/>
            <a:chExt cx="4834823" cy="956097"/>
          </a:xfrm>
        </p:grpSpPr>
        <p:sp>
          <p:nvSpPr>
            <p:cNvPr id="94" name="Freeform 304">
              <a:extLst>
                <a:ext uri="{FF2B5EF4-FFF2-40B4-BE49-F238E27FC236}">
                  <a16:creationId xmlns:a16="http://schemas.microsoft.com/office/drawing/2014/main" id="{9C8E419F-81C0-9E04-4D84-65B0E641F5DD}"/>
                </a:ext>
              </a:extLst>
            </p:cNvPr>
            <p:cNvSpPr/>
            <p:nvPr/>
          </p:nvSpPr>
          <p:spPr>
            <a:xfrm>
              <a:off x="2221128" y="4172363"/>
              <a:ext cx="2451045" cy="28817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657" h="1134">
                  <a:moveTo>
                    <a:pt x="4827" y="1134"/>
                  </a:moveTo>
                  <a:lnTo>
                    <a:pt x="0" y="1134"/>
                  </a:lnTo>
                  <a:lnTo>
                    <a:pt x="0" y="0"/>
                  </a:lnTo>
                  <a:lnTo>
                    <a:pt x="9657" y="0"/>
                  </a:lnTo>
                  <a:lnTo>
                    <a:pt x="9657" y="11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5" name="Freeform 305">
              <a:extLst>
                <a:ext uri="{FF2B5EF4-FFF2-40B4-BE49-F238E27FC236}">
                  <a16:creationId xmlns:a16="http://schemas.microsoft.com/office/drawing/2014/main" id="{2AD4FF37-3252-944B-5BDA-797C1E3DC47A}"/>
                </a:ext>
              </a:extLst>
            </p:cNvPr>
            <p:cNvSpPr/>
            <p:nvPr/>
          </p:nvSpPr>
          <p:spPr>
            <a:xfrm>
              <a:off x="2250319" y="4209243"/>
              <a:ext cx="34522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7" h="986">
                  <a:moveTo>
                    <a:pt x="137" y="986"/>
                  </a:moveTo>
                  <a:lnTo>
                    <a:pt x="137" y="947"/>
                  </a:lnTo>
                  <a:lnTo>
                    <a:pt x="39" y="947"/>
                  </a:lnTo>
                  <a:lnTo>
                    <a:pt x="39" y="39"/>
                  </a:lnTo>
                  <a:lnTo>
                    <a:pt x="137" y="39"/>
                  </a:lnTo>
                  <a:lnTo>
                    <a:pt x="137" y="0"/>
                  </a:lnTo>
                  <a:lnTo>
                    <a:pt x="0" y="0"/>
                  </a:lnTo>
                  <a:lnTo>
                    <a:pt x="0" y="9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6" name="Freeform 306">
              <a:extLst>
                <a:ext uri="{FF2B5EF4-FFF2-40B4-BE49-F238E27FC236}">
                  <a16:creationId xmlns:a16="http://schemas.microsoft.com/office/drawing/2014/main" id="{369AB2A5-0CC5-4C75-C2D9-72221AF702E6}"/>
                </a:ext>
              </a:extLst>
            </p:cNvPr>
            <p:cNvSpPr/>
            <p:nvPr/>
          </p:nvSpPr>
          <p:spPr>
            <a:xfrm>
              <a:off x="2300833" y="428707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7" name="Freeform 307">
              <a:extLst>
                <a:ext uri="{FF2B5EF4-FFF2-40B4-BE49-F238E27FC236}">
                  <a16:creationId xmlns:a16="http://schemas.microsoft.com/office/drawing/2014/main" id="{C24CABE3-D60A-75B3-AADC-21554CD0A07D}"/>
                </a:ext>
              </a:extLst>
            </p:cNvPr>
            <p:cNvSpPr/>
            <p:nvPr/>
          </p:nvSpPr>
          <p:spPr>
            <a:xfrm>
              <a:off x="2444250" y="4371010"/>
              <a:ext cx="29699" cy="7528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8" h="297">
                  <a:moveTo>
                    <a:pt x="118" y="104"/>
                  </a:moveTo>
                  <a:cubicBezTo>
                    <a:pt x="118" y="39"/>
                    <a:pt x="92" y="0"/>
                    <a:pt x="53" y="0"/>
                  </a:cubicBezTo>
                  <a:cubicBezTo>
                    <a:pt x="20" y="0"/>
                    <a:pt x="0" y="25"/>
                    <a:pt x="0" y="53"/>
                  </a:cubicBezTo>
                  <a:cubicBezTo>
                    <a:pt x="0" y="78"/>
                    <a:pt x="20" y="106"/>
                    <a:pt x="53" y="106"/>
                  </a:cubicBezTo>
                  <a:cubicBezTo>
                    <a:pt x="64" y="106"/>
                    <a:pt x="78" y="101"/>
                    <a:pt x="90" y="92"/>
                  </a:cubicBezTo>
                  <a:cubicBezTo>
                    <a:pt x="92" y="90"/>
                    <a:pt x="92" y="90"/>
                    <a:pt x="92" y="90"/>
                  </a:cubicBezTo>
                  <a:cubicBezTo>
                    <a:pt x="95" y="90"/>
                    <a:pt x="95" y="90"/>
                    <a:pt x="95" y="104"/>
                  </a:cubicBezTo>
                  <a:cubicBezTo>
                    <a:pt x="95" y="179"/>
                    <a:pt x="62" y="238"/>
                    <a:pt x="28" y="272"/>
                  </a:cubicBezTo>
                  <a:cubicBezTo>
                    <a:pt x="17" y="280"/>
                    <a:pt x="17" y="283"/>
                    <a:pt x="17" y="286"/>
                  </a:cubicBezTo>
                  <a:cubicBezTo>
                    <a:pt x="17" y="294"/>
                    <a:pt x="22" y="297"/>
                    <a:pt x="25" y="297"/>
                  </a:cubicBezTo>
                  <a:cubicBezTo>
                    <a:pt x="36" y="297"/>
                    <a:pt x="118" y="221"/>
                    <a:pt x="118" y="10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8" name="Freeform 308">
              <a:extLst>
                <a:ext uri="{FF2B5EF4-FFF2-40B4-BE49-F238E27FC236}">
                  <a16:creationId xmlns:a16="http://schemas.microsoft.com/office/drawing/2014/main" id="{C111EDBC-41F4-81AB-8B97-D45BCF65BAAE}"/>
                </a:ext>
              </a:extLst>
            </p:cNvPr>
            <p:cNvSpPr/>
            <p:nvPr/>
          </p:nvSpPr>
          <p:spPr>
            <a:xfrm>
              <a:off x="2543754" y="428707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9" name="Freeform 309">
              <a:extLst>
                <a:ext uri="{FF2B5EF4-FFF2-40B4-BE49-F238E27FC236}">
                  <a16:creationId xmlns:a16="http://schemas.microsoft.com/office/drawing/2014/main" id="{A05F949B-C8B2-D0CA-B013-87E2DDF573F8}"/>
                </a:ext>
              </a:extLst>
            </p:cNvPr>
            <p:cNvSpPr/>
            <p:nvPr/>
          </p:nvSpPr>
          <p:spPr>
            <a:xfrm>
              <a:off x="2678795" y="4170837"/>
              <a:ext cx="65236" cy="1615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6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300"/>
                    <a:pt x="101" y="336"/>
                  </a:cubicBezTo>
                  <a:cubicBezTo>
                    <a:pt x="101" y="471"/>
                    <a:pt x="115" y="611"/>
                    <a:pt x="118" y="625"/>
                  </a:cubicBezTo>
                  <a:cubicBezTo>
                    <a:pt x="118" y="630"/>
                    <a:pt x="120" y="636"/>
                    <a:pt x="129" y="636"/>
                  </a:cubicBezTo>
                  <a:cubicBezTo>
                    <a:pt x="140" y="636"/>
                    <a:pt x="140" y="630"/>
                    <a:pt x="140" y="622"/>
                  </a:cubicBezTo>
                  <a:cubicBezTo>
                    <a:pt x="140" y="622"/>
                    <a:pt x="146" y="560"/>
                    <a:pt x="148" y="518"/>
                  </a:cubicBezTo>
                  <a:cubicBezTo>
                    <a:pt x="154" y="457"/>
                    <a:pt x="157" y="398"/>
                    <a:pt x="157" y="336"/>
                  </a:cubicBezTo>
                  <a:cubicBezTo>
                    <a:pt x="157" y="300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0" name="Freeform 310">
              <a:extLst>
                <a:ext uri="{FF2B5EF4-FFF2-40B4-BE49-F238E27FC236}">
                  <a16:creationId xmlns:a16="http://schemas.microsoft.com/office/drawing/2014/main" id="{C855BBA9-FD9F-3A1B-78EA-23EA2E7D8CCF}"/>
                </a:ext>
              </a:extLst>
            </p:cNvPr>
            <p:cNvSpPr/>
            <p:nvPr/>
          </p:nvSpPr>
          <p:spPr>
            <a:xfrm>
              <a:off x="2775507" y="4209243"/>
              <a:ext cx="34522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7" h="986">
                  <a:moveTo>
                    <a:pt x="137" y="0"/>
                  </a:moveTo>
                  <a:lnTo>
                    <a:pt x="0" y="0"/>
                  </a:lnTo>
                  <a:lnTo>
                    <a:pt x="0" y="39"/>
                  </a:lnTo>
                  <a:lnTo>
                    <a:pt x="98" y="39"/>
                  </a:lnTo>
                  <a:lnTo>
                    <a:pt x="98" y="947"/>
                  </a:lnTo>
                  <a:lnTo>
                    <a:pt x="0" y="947"/>
                  </a:lnTo>
                  <a:lnTo>
                    <a:pt x="0" y="986"/>
                  </a:lnTo>
                  <a:lnTo>
                    <a:pt x="137" y="9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1" name="Freeform 311">
              <a:extLst>
                <a:ext uri="{FF2B5EF4-FFF2-40B4-BE49-F238E27FC236}">
                  <a16:creationId xmlns:a16="http://schemas.microsoft.com/office/drawing/2014/main" id="{41F351D2-16CB-98C5-5791-2B4744FB9718}"/>
                </a:ext>
              </a:extLst>
            </p:cNvPr>
            <p:cNvSpPr/>
            <p:nvPr/>
          </p:nvSpPr>
          <p:spPr>
            <a:xfrm>
              <a:off x="2922732" y="4305388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2" name="Freeform 312">
              <a:extLst>
                <a:ext uri="{FF2B5EF4-FFF2-40B4-BE49-F238E27FC236}">
                  <a16:creationId xmlns:a16="http://schemas.microsoft.com/office/drawing/2014/main" id="{327D1117-6039-3892-9DED-C1A234F81F65}"/>
                </a:ext>
              </a:extLst>
            </p:cNvPr>
            <p:cNvSpPr/>
            <p:nvPr/>
          </p:nvSpPr>
          <p:spPr>
            <a:xfrm>
              <a:off x="3182152" y="428707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3" name="Freeform 313">
              <a:extLst>
                <a:ext uri="{FF2B5EF4-FFF2-40B4-BE49-F238E27FC236}">
                  <a16:creationId xmlns:a16="http://schemas.microsoft.com/office/drawing/2014/main" id="{111A7647-06E1-10B0-B8E1-F091B29643EB}"/>
                </a:ext>
              </a:extLst>
            </p:cNvPr>
            <p:cNvSpPr/>
            <p:nvPr/>
          </p:nvSpPr>
          <p:spPr>
            <a:xfrm>
              <a:off x="3314148" y="428707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4" name="Freeform 314">
              <a:extLst>
                <a:ext uri="{FF2B5EF4-FFF2-40B4-BE49-F238E27FC236}">
                  <a16:creationId xmlns:a16="http://schemas.microsoft.com/office/drawing/2014/main" id="{32EB8C15-6308-C726-D659-6865A0E018BC}"/>
                </a:ext>
              </a:extLst>
            </p:cNvPr>
            <p:cNvSpPr/>
            <p:nvPr/>
          </p:nvSpPr>
          <p:spPr>
            <a:xfrm>
              <a:off x="3449950" y="4170837"/>
              <a:ext cx="65236" cy="1615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6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300"/>
                    <a:pt x="101" y="336"/>
                  </a:cubicBezTo>
                  <a:cubicBezTo>
                    <a:pt x="101" y="471"/>
                    <a:pt x="115" y="611"/>
                    <a:pt x="118" y="625"/>
                  </a:cubicBezTo>
                  <a:cubicBezTo>
                    <a:pt x="118" y="630"/>
                    <a:pt x="120" y="636"/>
                    <a:pt x="129" y="636"/>
                  </a:cubicBezTo>
                  <a:cubicBezTo>
                    <a:pt x="140" y="636"/>
                    <a:pt x="140" y="630"/>
                    <a:pt x="140" y="622"/>
                  </a:cubicBezTo>
                  <a:cubicBezTo>
                    <a:pt x="140" y="622"/>
                    <a:pt x="146" y="560"/>
                    <a:pt x="148" y="518"/>
                  </a:cubicBezTo>
                  <a:cubicBezTo>
                    <a:pt x="154" y="457"/>
                    <a:pt x="157" y="398"/>
                    <a:pt x="157" y="336"/>
                  </a:cubicBezTo>
                  <a:cubicBezTo>
                    <a:pt x="157" y="300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5" name="Freeform 315">
              <a:extLst>
                <a:ext uri="{FF2B5EF4-FFF2-40B4-BE49-F238E27FC236}">
                  <a16:creationId xmlns:a16="http://schemas.microsoft.com/office/drawing/2014/main" id="{0A2CDCAE-B331-8F92-FA83-B385602E1E91}"/>
                </a:ext>
              </a:extLst>
            </p:cNvPr>
            <p:cNvSpPr/>
            <p:nvPr/>
          </p:nvSpPr>
          <p:spPr>
            <a:xfrm>
              <a:off x="3616213" y="4329804"/>
              <a:ext cx="153317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5" h="42">
                  <a:moveTo>
                    <a:pt x="568" y="42"/>
                  </a:moveTo>
                  <a:cubicBezTo>
                    <a:pt x="585" y="42"/>
                    <a:pt x="605" y="42"/>
                    <a:pt x="605" y="22"/>
                  </a:cubicBezTo>
                  <a:cubicBezTo>
                    <a:pt x="605" y="0"/>
                    <a:pt x="585" y="0"/>
                    <a:pt x="568" y="0"/>
                  </a:cubicBezTo>
                  <a:lnTo>
                    <a:pt x="34" y="0"/>
                  </a:lnTo>
                  <a:cubicBezTo>
                    <a:pt x="17" y="0"/>
                    <a:pt x="0" y="0"/>
                    <a:pt x="0" y="22"/>
                  </a:cubicBezTo>
                  <a:cubicBezTo>
                    <a:pt x="0" y="42"/>
                    <a:pt x="17" y="42"/>
                    <a:pt x="34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6" name="Freeform 316">
              <a:extLst>
                <a:ext uri="{FF2B5EF4-FFF2-40B4-BE49-F238E27FC236}">
                  <a16:creationId xmlns:a16="http://schemas.microsoft.com/office/drawing/2014/main" id="{123008E5-2CBD-06E3-672A-EA8A81C17A1D}"/>
                </a:ext>
              </a:extLst>
            </p:cNvPr>
            <p:cNvSpPr/>
            <p:nvPr/>
          </p:nvSpPr>
          <p:spPr>
            <a:xfrm>
              <a:off x="3855835" y="428707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7" name="Freeform 317">
              <a:extLst>
                <a:ext uri="{FF2B5EF4-FFF2-40B4-BE49-F238E27FC236}">
                  <a16:creationId xmlns:a16="http://schemas.microsoft.com/office/drawing/2014/main" id="{D932286A-6552-0235-8879-76B2CEAC19EC}"/>
                </a:ext>
              </a:extLst>
            </p:cNvPr>
            <p:cNvSpPr/>
            <p:nvPr/>
          </p:nvSpPr>
          <p:spPr>
            <a:xfrm>
              <a:off x="3990876" y="4170837"/>
              <a:ext cx="65236" cy="1615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6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300"/>
                    <a:pt x="101" y="336"/>
                  </a:cubicBezTo>
                  <a:cubicBezTo>
                    <a:pt x="101" y="471"/>
                    <a:pt x="115" y="611"/>
                    <a:pt x="118" y="625"/>
                  </a:cubicBezTo>
                  <a:cubicBezTo>
                    <a:pt x="118" y="630"/>
                    <a:pt x="120" y="636"/>
                    <a:pt x="129" y="636"/>
                  </a:cubicBezTo>
                  <a:cubicBezTo>
                    <a:pt x="140" y="636"/>
                    <a:pt x="140" y="630"/>
                    <a:pt x="140" y="622"/>
                  </a:cubicBezTo>
                  <a:cubicBezTo>
                    <a:pt x="140" y="622"/>
                    <a:pt x="146" y="560"/>
                    <a:pt x="148" y="518"/>
                  </a:cubicBezTo>
                  <a:cubicBezTo>
                    <a:pt x="154" y="457"/>
                    <a:pt x="157" y="398"/>
                    <a:pt x="157" y="336"/>
                  </a:cubicBezTo>
                  <a:cubicBezTo>
                    <a:pt x="157" y="300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8" name="Freeform 318">
              <a:extLst>
                <a:ext uri="{FF2B5EF4-FFF2-40B4-BE49-F238E27FC236}">
                  <a16:creationId xmlns:a16="http://schemas.microsoft.com/office/drawing/2014/main" id="{71D2D314-011C-3825-8DF6-5671B3F82096}"/>
                </a:ext>
              </a:extLst>
            </p:cNvPr>
            <p:cNvSpPr/>
            <p:nvPr/>
          </p:nvSpPr>
          <p:spPr>
            <a:xfrm>
              <a:off x="4091649" y="428707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9" name="Freeform 319">
              <a:extLst>
                <a:ext uri="{FF2B5EF4-FFF2-40B4-BE49-F238E27FC236}">
                  <a16:creationId xmlns:a16="http://schemas.microsoft.com/office/drawing/2014/main" id="{60CD680C-C6E4-1692-7D7D-49DC96D82518}"/>
                </a:ext>
              </a:extLst>
            </p:cNvPr>
            <p:cNvSpPr/>
            <p:nvPr/>
          </p:nvSpPr>
          <p:spPr>
            <a:xfrm>
              <a:off x="4297257" y="4305388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0" name="Freeform 320">
              <a:extLst>
                <a:ext uri="{FF2B5EF4-FFF2-40B4-BE49-F238E27FC236}">
                  <a16:creationId xmlns:a16="http://schemas.microsoft.com/office/drawing/2014/main" id="{28470014-D3CB-E30C-1105-0D3C0707C96E}"/>
                </a:ext>
              </a:extLst>
            </p:cNvPr>
            <p:cNvSpPr/>
            <p:nvPr/>
          </p:nvSpPr>
          <p:spPr>
            <a:xfrm>
              <a:off x="4569369" y="4230609"/>
              <a:ext cx="83005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658">
                  <a:moveTo>
                    <a:pt x="204" y="25"/>
                  </a:moveTo>
                  <a:cubicBezTo>
                    <a:pt x="204" y="3"/>
                    <a:pt x="204" y="0"/>
                    <a:pt x="182" y="0"/>
                  </a:cubicBezTo>
                  <a:cubicBezTo>
                    <a:pt x="120" y="64"/>
                    <a:pt x="31" y="64"/>
                    <a:pt x="0" y="64"/>
                  </a:cubicBezTo>
                  <a:lnTo>
                    <a:pt x="0" y="95"/>
                  </a:lnTo>
                  <a:cubicBezTo>
                    <a:pt x="20" y="95"/>
                    <a:pt x="78" y="95"/>
                    <a:pt x="129" y="67"/>
                  </a:cubicBezTo>
                  <a:lnTo>
                    <a:pt x="129" y="580"/>
                  </a:lnTo>
                  <a:cubicBezTo>
                    <a:pt x="129" y="616"/>
                    <a:pt x="126" y="627"/>
                    <a:pt x="36" y="627"/>
                  </a:cubicBezTo>
                  <a:lnTo>
                    <a:pt x="6" y="627"/>
                  </a:lnTo>
                  <a:lnTo>
                    <a:pt x="6" y="658"/>
                  </a:lnTo>
                  <a:cubicBezTo>
                    <a:pt x="42" y="655"/>
                    <a:pt x="126" y="655"/>
                    <a:pt x="168" y="655"/>
                  </a:cubicBezTo>
                  <a:cubicBezTo>
                    <a:pt x="207" y="655"/>
                    <a:pt x="294" y="655"/>
                    <a:pt x="328" y="658"/>
                  </a:cubicBezTo>
                  <a:lnTo>
                    <a:pt x="328" y="627"/>
                  </a:lnTo>
                  <a:lnTo>
                    <a:pt x="297" y="627"/>
                  </a:lnTo>
                  <a:cubicBezTo>
                    <a:pt x="207" y="627"/>
                    <a:pt x="204" y="616"/>
                    <a:pt x="204" y="5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1" name="Freeform 422">
              <a:extLst>
                <a:ext uri="{FF2B5EF4-FFF2-40B4-BE49-F238E27FC236}">
                  <a16:creationId xmlns:a16="http://schemas.microsoft.com/office/drawing/2014/main" id="{CE8362BF-3F0C-7666-250F-319B7B79104C}"/>
                </a:ext>
              </a:extLst>
            </p:cNvPr>
            <p:cNvSpPr/>
            <p:nvPr/>
          </p:nvSpPr>
          <p:spPr>
            <a:xfrm>
              <a:off x="1002713" y="3663665"/>
              <a:ext cx="4667799" cy="28817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90" h="1134">
                  <a:moveTo>
                    <a:pt x="9195" y="1134"/>
                  </a:moveTo>
                  <a:lnTo>
                    <a:pt x="0" y="1134"/>
                  </a:lnTo>
                  <a:lnTo>
                    <a:pt x="0" y="0"/>
                  </a:lnTo>
                  <a:lnTo>
                    <a:pt x="18390" y="0"/>
                  </a:lnTo>
                  <a:lnTo>
                    <a:pt x="18390" y="11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2" name="Freeform 423">
              <a:extLst>
                <a:ext uri="{FF2B5EF4-FFF2-40B4-BE49-F238E27FC236}">
                  <a16:creationId xmlns:a16="http://schemas.microsoft.com/office/drawing/2014/main" id="{3BF0987B-7ACA-3E48-6451-EBD28051ABB8}"/>
                </a:ext>
              </a:extLst>
            </p:cNvPr>
            <p:cNvSpPr/>
            <p:nvPr/>
          </p:nvSpPr>
          <p:spPr>
            <a:xfrm>
              <a:off x="1012613" y="3778377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3" name="Freeform 424">
              <a:extLst>
                <a:ext uri="{FF2B5EF4-FFF2-40B4-BE49-F238E27FC236}">
                  <a16:creationId xmlns:a16="http://schemas.microsoft.com/office/drawing/2014/main" id="{41EC028F-6F25-000C-D1CF-3FF6760547B2}"/>
                </a:ext>
              </a:extLst>
            </p:cNvPr>
            <p:cNvSpPr/>
            <p:nvPr/>
          </p:nvSpPr>
          <p:spPr>
            <a:xfrm>
              <a:off x="1164661" y="3700545"/>
              <a:ext cx="10407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" h="986">
                  <a:moveTo>
                    <a:pt x="42" y="36"/>
                  </a:moveTo>
                  <a:cubicBezTo>
                    <a:pt x="42" y="17"/>
                    <a:pt x="42" y="0"/>
                    <a:pt x="22" y="0"/>
                  </a:cubicBezTo>
                  <a:cubicBezTo>
                    <a:pt x="0" y="0"/>
                    <a:pt x="0" y="17"/>
                    <a:pt x="0" y="36"/>
                  </a:cubicBezTo>
                  <a:lnTo>
                    <a:pt x="0" y="952"/>
                  </a:lnTo>
                  <a:cubicBezTo>
                    <a:pt x="0" y="969"/>
                    <a:pt x="0" y="986"/>
                    <a:pt x="22" y="986"/>
                  </a:cubicBezTo>
                  <a:cubicBezTo>
                    <a:pt x="42" y="986"/>
                    <a:pt x="42" y="969"/>
                    <a:pt x="42" y="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4" name="Freeform 425">
              <a:extLst>
                <a:ext uri="{FF2B5EF4-FFF2-40B4-BE49-F238E27FC236}">
                  <a16:creationId xmlns:a16="http://schemas.microsoft.com/office/drawing/2014/main" id="{BF6006B3-EE24-6648-D0AD-389ED3E9F394}"/>
                </a:ext>
              </a:extLst>
            </p:cNvPr>
            <p:cNvSpPr/>
            <p:nvPr/>
          </p:nvSpPr>
          <p:spPr>
            <a:xfrm>
              <a:off x="1211620" y="3778377"/>
              <a:ext cx="135549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5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9" y="440"/>
                    <a:pt x="115" y="420"/>
                  </a:cubicBezTo>
                  <a:cubicBezTo>
                    <a:pt x="115" y="420"/>
                    <a:pt x="129" y="373"/>
                    <a:pt x="134" y="347"/>
                  </a:cubicBezTo>
                  <a:lnTo>
                    <a:pt x="154" y="258"/>
                  </a:lnTo>
                  <a:cubicBezTo>
                    <a:pt x="162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7" y="22"/>
                  </a:cubicBezTo>
                  <a:cubicBezTo>
                    <a:pt x="392" y="22"/>
                    <a:pt x="400" y="59"/>
                    <a:pt x="400" y="92"/>
                  </a:cubicBezTo>
                  <a:cubicBezTo>
                    <a:pt x="400" y="151"/>
                    <a:pt x="350" y="280"/>
                    <a:pt x="336" y="322"/>
                  </a:cubicBezTo>
                  <a:cubicBezTo>
                    <a:pt x="328" y="345"/>
                    <a:pt x="325" y="356"/>
                    <a:pt x="325" y="367"/>
                  </a:cubicBezTo>
                  <a:cubicBezTo>
                    <a:pt x="325" y="415"/>
                    <a:pt x="361" y="448"/>
                    <a:pt x="406" y="448"/>
                  </a:cubicBezTo>
                  <a:cubicBezTo>
                    <a:pt x="498" y="448"/>
                    <a:pt x="535" y="305"/>
                    <a:pt x="535" y="297"/>
                  </a:cubicBezTo>
                  <a:cubicBezTo>
                    <a:pt x="535" y="286"/>
                    <a:pt x="526" y="286"/>
                    <a:pt x="524" y="286"/>
                  </a:cubicBezTo>
                  <a:cubicBezTo>
                    <a:pt x="515" y="286"/>
                    <a:pt x="515" y="289"/>
                    <a:pt x="510" y="305"/>
                  </a:cubicBezTo>
                  <a:cubicBezTo>
                    <a:pt x="490" y="373"/>
                    <a:pt x="456" y="426"/>
                    <a:pt x="409" y="426"/>
                  </a:cubicBezTo>
                  <a:cubicBezTo>
                    <a:pt x="392" y="426"/>
                    <a:pt x="384" y="417"/>
                    <a:pt x="384" y="395"/>
                  </a:cubicBezTo>
                  <a:cubicBezTo>
                    <a:pt x="384" y="370"/>
                    <a:pt x="395" y="345"/>
                    <a:pt x="403" y="325"/>
                  </a:cubicBezTo>
                  <a:cubicBezTo>
                    <a:pt x="423" y="272"/>
                    <a:pt x="462" y="162"/>
                    <a:pt x="462" y="106"/>
                  </a:cubicBezTo>
                  <a:cubicBezTo>
                    <a:pt x="462" y="39"/>
                    <a:pt x="420" y="0"/>
                    <a:pt x="350" y="0"/>
                  </a:cubicBezTo>
                  <a:cubicBezTo>
                    <a:pt x="260" y="0"/>
                    <a:pt x="213" y="64"/>
                    <a:pt x="196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0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20" y="22"/>
                    <a:pt x="132" y="34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5" name="Freeform 426">
              <a:extLst>
                <a:ext uri="{FF2B5EF4-FFF2-40B4-BE49-F238E27FC236}">
                  <a16:creationId xmlns:a16="http://schemas.microsoft.com/office/drawing/2014/main" id="{92D5715C-4CC5-9D3F-3D18-024393BDAD33}"/>
                </a:ext>
              </a:extLst>
            </p:cNvPr>
            <p:cNvSpPr/>
            <p:nvPr/>
          </p:nvSpPr>
          <p:spPr>
            <a:xfrm>
              <a:off x="1367984" y="3700545"/>
              <a:ext cx="55844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21" h="986">
                  <a:moveTo>
                    <a:pt x="218" y="510"/>
                  </a:moveTo>
                  <a:cubicBezTo>
                    <a:pt x="221" y="499"/>
                    <a:pt x="221" y="496"/>
                    <a:pt x="221" y="493"/>
                  </a:cubicBezTo>
                  <a:cubicBezTo>
                    <a:pt x="221" y="490"/>
                    <a:pt x="221" y="487"/>
                    <a:pt x="218" y="476"/>
                  </a:cubicBezTo>
                  <a:lnTo>
                    <a:pt x="42" y="22"/>
                  </a:lnTo>
                  <a:cubicBezTo>
                    <a:pt x="36" y="6"/>
                    <a:pt x="31" y="0"/>
                    <a:pt x="20" y="0"/>
                  </a:cubicBezTo>
                  <a:cubicBezTo>
                    <a:pt x="8" y="0"/>
                    <a:pt x="0" y="8"/>
                    <a:pt x="0" y="20"/>
                  </a:cubicBezTo>
                  <a:cubicBezTo>
                    <a:pt x="0" y="22"/>
                    <a:pt x="0" y="25"/>
                    <a:pt x="6" y="36"/>
                  </a:cubicBezTo>
                  <a:lnTo>
                    <a:pt x="182" y="493"/>
                  </a:lnTo>
                  <a:lnTo>
                    <a:pt x="6" y="950"/>
                  </a:lnTo>
                  <a:cubicBezTo>
                    <a:pt x="0" y="961"/>
                    <a:pt x="0" y="964"/>
                    <a:pt x="0" y="966"/>
                  </a:cubicBezTo>
                  <a:cubicBezTo>
                    <a:pt x="0" y="978"/>
                    <a:pt x="8" y="986"/>
                    <a:pt x="20" y="986"/>
                  </a:cubicBezTo>
                  <a:cubicBezTo>
                    <a:pt x="34" y="986"/>
                    <a:pt x="36" y="978"/>
                    <a:pt x="42" y="9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6" name="Freeform 427">
              <a:extLst>
                <a:ext uri="{FF2B5EF4-FFF2-40B4-BE49-F238E27FC236}">
                  <a16:creationId xmlns:a16="http://schemas.microsoft.com/office/drawing/2014/main" id="{D5F06009-3E5A-F562-2B96-068EA8E7B845}"/>
                </a:ext>
              </a:extLst>
            </p:cNvPr>
            <p:cNvSpPr/>
            <p:nvPr/>
          </p:nvSpPr>
          <p:spPr>
            <a:xfrm>
              <a:off x="1534247" y="3796690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7" name="Freeform 428">
              <a:extLst>
                <a:ext uri="{FF2B5EF4-FFF2-40B4-BE49-F238E27FC236}">
                  <a16:creationId xmlns:a16="http://schemas.microsoft.com/office/drawing/2014/main" id="{B3DF858F-6244-8DEA-0426-D94918944AEB}"/>
                </a:ext>
              </a:extLst>
            </p:cNvPr>
            <p:cNvSpPr/>
            <p:nvPr/>
          </p:nvSpPr>
          <p:spPr>
            <a:xfrm>
              <a:off x="1802298" y="3686302"/>
              <a:ext cx="195200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70" h="986">
                  <a:moveTo>
                    <a:pt x="311" y="882"/>
                  </a:moveTo>
                  <a:lnTo>
                    <a:pt x="137" y="499"/>
                  </a:lnTo>
                  <a:cubicBezTo>
                    <a:pt x="132" y="485"/>
                    <a:pt x="126" y="485"/>
                    <a:pt x="123" y="485"/>
                  </a:cubicBezTo>
                  <a:cubicBezTo>
                    <a:pt x="123" y="485"/>
                    <a:pt x="118" y="485"/>
                    <a:pt x="106" y="493"/>
                  </a:cubicBezTo>
                  <a:lnTo>
                    <a:pt x="14" y="563"/>
                  </a:lnTo>
                  <a:cubicBezTo>
                    <a:pt x="0" y="571"/>
                    <a:pt x="0" y="574"/>
                    <a:pt x="0" y="580"/>
                  </a:cubicBezTo>
                  <a:cubicBezTo>
                    <a:pt x="0" y="583"/>
                    <a:pt x="3" y="588"/>
                    <a:pt x="11" y="588"/>
                  </a:cubicBezTo>
                  <a:cubicBezTo>
                    <a:pt x="17" y="588"/>
                    <a:pt x="34" y="574"/>
                    <a:pt x="45" y="569"/>
                  </a:cubicBezTo>
                  <a:cubicBezTo>
                    <a:pt x="50" y="563"/>
                    <a:pt x="64" y="552"/>
                    <a:pt x="76" y="543"/>
                  </a:cubicBezTo>
                  <a:lnTo>
                    <a:pt x="269" y="972"/>
                  </a:lnTo>
                  <a:cubicBezTo>
                    <a:pt x="277" y="986"/>
                    <a:pt x="283" y="986"/>
                    <a:pt x="291" y="986"/>
                  </a:cubicBezTo>
                  <a:cubicBezTo>
                    <a:pt x="305" y="986"/>
                    <a:pt x="308" y="980"/>
                    <a:pt x="316" y="966"/>
                  </a:cubicBezTo>
                  <a:lnTo>
                    <a:pt x="764" y="39"/>
                  </a:lnTo>
                  <a:cubicBezTo>
                    <a:pt x="770" y="25"/>
                    <a:pt x="770" y="22"/>
                    <a:pt x="770" y="20"/>
                  </a:cubicBezTo>
                  <a:cubicBezTo>
                    <a:pt x="770" y="11"/>
                    <a:pt x="762" y="0"/>
                    <a:pt x="750" y="0"/>
                  </a:cubicBezTo>
                  <a:cubicBezTo>
                    <a:pt x="742" y="0"/>
                    <a:pt x="736" y="6"/>
                    <a:pt x="728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8" name="Freeform 429">
              <a:extLst>
                <a:ext uri="{FF2B5EF4-FFF2-40B4-BE49-F238E27FC236}">
                  <a16:creationId xmlns:a16="http://schemas.microsoft.com/office/drawing/2014/main" id="{C7F01E40-FD89-2DAD-D26F-0BA09C8B2DDB}"/>
                </a:ext>
              </a:extLst>
            </p:cNvPr>
            <p:cNvSpPr/>
            <p:nvPr/>
          </p:nvSpPr>
          <p:spPr>
            <a:xfrm>
              <a:off x="1992675" y="3686302"/>
              <a:ext cx="150525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4" h="42">
                  <a:moveTo>
                    <a:pt x="297" y="42"/>
                  </a:moveTo>
                  <a:lnTo>
                    <a:pt x="0" y="42"/>
                  </a:lnTo>
                  <a:lnTo>
                    <a:pt x="0" y="0"/>
                  </a:lnTo>
                  <a:lnTo>
                    <a:pt x="594" y="0"/>
                  </a:lnTo>
                  <a:lnTo>
                    <a:pt x="59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9" name="Freeform 430">
              <a:extLst>
                <a:ext uri="{FF2B5EF4-FFF2-40B4-BE49-F238E27FC236}">
                  <a16:creationId xmlns:a16="http://schemas.microsoft.com/office/drawing/2014/main" id="{6AD0913F-1BCF-DB8C-F9BB-B7D52F08E780}"/>
                </a:ext>
              </a:extLst>
            </p:cNvPr>
            <p:cNvSpPr/>
            <p:nvPr/>
          </p:nvSpPr>
          <p:spPr>
            <a:xfrm>
              <a:off x="1999783" y="3778377"/>
              <a:ext cx="135549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5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9" y="440"/>
                    <a:pt x="115" y="420"/>
                  </a:cubicBezTo>
                  <a:cubicBezTo>
                    <a:pt x="115" y="420"/>
                    <a:pt x="129" y="373"/>
                    <a:pt x="134" y="347"/>
                  </a:cubicBezTo>
                  <a:lnTo>
                    <a:pt x="154" y="258"/>
                  </a:lnTo>
                  <a:cubicBezTo>
                    <a:pt x="162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7" y="22"/>
                  </a:cubicBezTo>
                  <a:cubicBezTo>
                    <a:pt x="392" y="22"/>
                    <a:pt x="400" y="59"/>
                    <a:pt x="400" y="92"/>
                  </a:cubicBezTo>
                  <a:cubicBezTo>
                    <a:pt x="400" y="151"/>
                    <a:pt x="350" y="280"/>
                    <a:pt x="336" y="322"/>
                  </a:cubicBezTo>
                  <a:cubicBezTo>
                    <a:pt x="328" y="345"/>
                    <a:pt x="325" y="356"/>
                    <a:pt x="325" y="367"/>
                  </a:cubicBezTo>
                  <a:cubicBezTo>
                    <a:pt x="325" y="415"/>
                    <a:pt x="361" y="448"/>
                    <a:pt x="406" y="448"/>
                  </a:cubicBezTo>
                  <a:cubicBezTo>
                    <a:pt x="498" y="448"/>
                    <a:pt x="535" y="305"/>
                    <a:pt x="535" y="297"/>
                  </a:cubicBezTo>
                  <a:cubicBezTo>
                    <a:pt x="535" y="286"/>
                    <a:pt x="526" y="286"/>
                    <a:pt x="524" y="286"/>
                  </a:cubicBezTo>
                  <a:cubicBezTo>
                    <a:pt x="515" y="286"/>
                    <a:pt x="515" y="289"/>
                    <a:pt x="510" y="305"/>
                  </a:cubicBezTo>
                  <a:cubicBezTo>
                    <a:pt x="490" y="373"/>
                    <a:pt x="456" y="426"/>
                    <a:pt x="409" y="426"/>
                  </a:cubicBezTo>
                  <a:cubicBezTo>
                    <a:pt x="392" y="426"/>
                    <a:pt x="384" y="417"/>
                    <a:pt x="384" y="395"/>
                  </a:cubicBezTo>
                  <a:cubicBezTo>
                    <a:pt x="384" y="370"/>
                    <a:pt x="395" y="345"/>
                    <a:pt x="403" y="325"/>
                  </a:cubicBezTo>
                  <a:cubicBezTo>
                    <a:pt x="423" y="272"/>
                    <a:pt x="462" y="162"/>
                    <a:pt x="462" y="106"/>
                  </a:cubicBezTo>
                  <a:cubicBezTo>
                    <a:pt x="462" y="39"/>
                    <a:pt x="420" y="0"/>
                    <a:pt x="350" y="0"/>
                  </a:cubicBezTo>
                  <a:cubicBezTo>
                    <a:pt x="260" y="0"/>
                    <a:pt x="213" y="64"/>
                    <a:pt x="196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0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20" y="22"/>
                    <a:pt x="132" y="34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0" name="Freeform 431">
              <a:extLst>
                <a:ext uri="{FF2B5EF4-FFF2-40B4-BE49-F238E27FC236}">
                  <a16:creationId xmlns:a16="http://schemas.microsoft.com/office/drawing/2014/main" id="{E0E061B1-FA83-EE92-9399-F1676019A031}"/>
                </a:ext>
              </a:extLst>
            </p:cNvPr>
            <p:cNvSpPr/>
            <p:nvPr/>
          </p:nvSpPr>
          <p:spPr>
            <a:xfrm>
              <a:off x="2171884" y="3700545"/>
              <a:ext cx="10407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" h="986">
                  <a:moveTo>
                    <a:pt x="42" y="36"/>
                  </a:moveTo>
                  <a:cubicBezTo>
                    <a:pt x="42" y="17"/>
                    <a:pt x="42" y="0"/>
                    <a:pt x="22" y="0"/>
                  </a:cubicBezTo>
                  <a:cubicBezTo>
                    <a:pt x="0" y="0"/>
                    <a:pt x="0" y="17"/>
                    <a:pt x="0" y="36"/>
                  </a:cubicBezTo>
                  <a:lnTo>
                    <a:pt x="0" y="952"/>
                  </a:lnTo>
                  <a:cubicBezTo>
                    <a:pt x="0" y="969"/>
                    <a:pt x="0" y="986"/>
                    <a:pt x="22" y="986"/>
                  </a:cubicBezTo>
                  <a:cubicBezTo>
                    <a:pt x="42" y="986"/>
                    <a:pt x="42" y="969"/>
                    <a:pt x="42" y="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1" name="Freeform 432">
              <a:extLst>
                <a:ext uri="{FF2B5EF4-FFF2-40B4-BE49-F238E27FC236}">
                  <a16:creationId xmlns:a16="http://schemas.microsoft.com/office/drawing/2014/main" id="{E45FF886-9CDB-0713-1BEB-2CC113FED7B7}"/>
                </a:ext>
              </a:extLst>
            </p:cNvPr>
            <p:cNvSpPr/>
            <p:nvPr/>
          </p:nvSpPr>
          <p:spPr>
            <a:xfrm>
              <a:off x="2218844" y="3778377"/>
              <a:ext cx="135549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5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9" y="440"/>
                    <a:pt x="115" y="420"/>
                  </a:cubicBezTo>
                  <a:cubicBezTo>
                    <a:pt x="115" y="420"/>
                    <a:pt x="129" y="373"/>
                    <a:pt x="134" y="347"/>
                  </a:cubicBezTo>
                  <a:lnTo>
                    <a:pt x="154" y="258"/>
                  </a:lnTo>
                  <a:cubicBezTo>
                    <a:pt x="162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7" y="22"/>
                  </a:cubicBezTo>
                  <a:cubicBezTo>
                    <a:pt x="392" y="22"/>
                    <a:pt x="400" y="59"/>
                    <a:pt x="400" y="92"/>
                  </a:cubicBezTo>
                  <a:cubicBezTo>
                    <a:pt x="400" y="151"/>
                    <a:pt x="350" y="280"/>
                    <a:pt x="336" y="322"/>
                  </a:cubicBezTo>
                  <a:cubicBezTo>
                    <a:pt x="328" y="345"/>
                    <a:pt x="325" y="356"/>
                    <a:pt x="325" y="367"/>
                  </a:cubicBezTo>
                  <a:cubicBezTo>
                    <a:pt x="325" y="415"/>
                    <a:pt x="361" y="448"/>
                    <a:pt x="406" y="448"/>
                  </a:cubicBezTo>
                  <a:cubicBezTo>
                    <a:pt x="498" y="448"/>
                    <a:pt x="535" y="305"/>
                    <a:pt x="535" y="297"/>
                  </a:cubicBezTo>
                  <a:cubicBezTo>
                    <a:pt x="535" y="286"/>
                    <a:pt x="526" y="286"/>
                    <a:pt x="524" y="286"/>
                  </a:cubicBezTo>
                  <a:cubicBezTo>
                    <a:pt x="515" y="286"/>
                    <a:pt x="515" y="289"/>
                    <a:pt x="510" y="305"/>
                  </a:cubicBezTo>
                  <a:cubicBezTo>
                    <a:pt x="490" y="373"/>
                    <a:pt x="456" y="426"/>
                    <a:pt x="409" y="426"/>
                  </a:cubicBezTo>
                  <a:cubicBezTo>
                    <a:pt x="392" y="426"/>
                    <a:pt x="384" y="417"/>
                    <a:pt x="384" y="395"/>
                  </a:cubicBezTo>
                  <a:cubicBezTo>
                    <a:pt x="384" y="370"/>
                    <a:pt x="395" y="345"/>
                    <a:pt x="403" y="325"/>
                  </a:cubicBezTo>
                  <a:cubicBezTo>
                    <a:pt x="423" y="272"/>
                    <a:pt x="462" y="162"/>
                    <a:pt x="462" y="106"/>
                  </a:cubicBezTo>
                  <a:cubicBezTo>
                    <a:pt x="462" y="39"/>
                    <a:pt x="420" y="0"/>
                    <a:pt x="350" y="0"/>
                  </a:cubicBezTo>
                  <a:cubicBezTo>
                    <a:pt x="260" y="0"/>
                    <a:pt x="213" y="64"/>
                    <a:pt x="196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0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20" y="22"/>
                    <a:pt x="132" y="34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2" name="Freeform 433">
              <a:extLst>
                <a:ext uri="{FF2B5EF4-FFF2-40B4-BE49-F238E27FC236}">
                  <a16:creationId xmlns:a16="http://schemas.microsoft.com/office/drawing/2014/main" id="{DAC8D0C4-A9D5-CA57-E1C0-60C04DE3CBF0}"/>
                </a:ext>
              </a:extLst>
            </p:cNvPr>
            <p:cNvSpPr/>
            <p:nvPr/>
          </p:nvSpPr>
          <p:spPr>
            <a:xfrm>
              <a:off x="2437651" y="3821107"/>
              <a:ext cx="153317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5" h="42">
                  <a:moveTo>
                    <a:pt x="568" y="42"/>
                  </a:moveTo>
                  <a:cubicBezTo>
                    <a:pt x="585" y="42"/>
                    <a:pt x="605" y="42"/>
                    <a:pt x="605" y="22"/>
                  </a:cubicBezTo>
                  <a:cubicBezTo>
                    <a:pt x="605" y="0"/>
                    <a:pt x="585" y="0"/>
                    <a:pt x="568" y="0"/>
                  </a:cubicBezTo>
                  <a:lnTo>
                    <a:pt x="34" y="0"/>
                  </a:lnTo>
                  <a:cubicBezTo>
                    <a:pt x="17" y="0"/>
                    <a:pt x="0" y="0"/>
                    <a:pt x="0" y="22"/>
                  </a:cubicBezTo>
                  <a:cubicBezTo>
                    <a:pt x="0" y="42"/>
                    <a:pt x="17" y="42"/>
                    <a:pt x="34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3" name="Freeform 434">
              <a:extLst>
                <a:ext uri="{FF2B5EF4-FFF2-40B4-BE49-F238E27FC236}">
                  <a16:creationId xmlns:a16="http://schemas.microsoft.com/office/drawing/2014/main" id="{A5086874-022A-793C-1806-ADB7C1EAE499}"/>
                </a:ext>
              </a:extLst>
            </p:cNvPr>
            <p:cNvSpPr/>
            <p:nvPr/>
          </p:nvSpPr>
          <p:spPr>
            <a:xfrm>
              <a:off x="2689203" y="3721911"/>
              <a:ext cx="83005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658">
                  <a:moveTo>
                    <a:pt x="204" y="25"/>
                  </a:moveTo>
                  <a:cubicBezTo>
                    <a:pt x="204" y="3"/>
                    <a:pt x="204" y="0"/>
                    <a:pt x="182" y="0"/>
                  </a:cubicBezTo>
                  <a:cubicBezTo>
                    <a:pt x="120" y="64"/>
                    <a:pt x="31" y="64"/>
                    <a:pt x="0" y="64"/>
                  </a:cubicBezTo>
                  <a:lnTo>
                    <a:pt x="0" y="95"/>
                  </a:lnTo>
                  <a:cubicBezTo>
                    <a:pt x="20" y="95"/>
                    <a:pt x="78" y="95"/>
                    <a:pt x="129" y="67"/>
                  </a:cubicBezTo>
                  <a:lnTo>
                    <a:pt x="129" y="580"/>
                  </a:lnTo>
                  <a:cubicBezTo>
                    <a:pt x="129" y="616"/>
                    <a:pt x="126" y="627"/>
                    <a:pt x="36" y="627"/>
                  </a:cubicBezTo>
                  <a:lnTo>
                    <a:pt x="6" y="627"/>
                  </a:lnTo>
                  <a:lnTo>
                    <a:pt x="6" y="658"/>
                  </a:lnTo>
                  <a:cubicBezTo>
                    <a:pt x="42" y="655"/>
                    <a:pt x="126" y="655"/>
                    <a:pt x="168" y="655"/>
                  </a:cubicBezTo>
                  <a:cubicBezTo>
                    <a:pt x="207" y="655"/>
                    <a:pt x="294" y="655"/>
                    <a:pt x="328" y="658"/>
                  </a:cubicBezTo>
                  <a:lnTo>
                    <a:pt x="328" y="627"/>
                  </a:lnTo>
                  <a:lnTo>
                    <a:pt x="297" y="627"/>
                  </a:lnTo>
                  <a:cubicBezTo>
                    <a:pt x="207" y="627"/>
                    <a:pt x="204" y="616"/>
                    <a:pt x="204" y="5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4" name="Freeform 435">
              <a:extLst>
                <a:ext uri="{FF2B5EF4-FFF2-40B4-BE49-F238E27FC236}">
                  <a16:creationId xmlns:a16="http://schemas.microsoft.com/office/drawing/2014/main" id="{B43ABECD-6BCD-186E-D7DE-7AC6E68A4D76}"/>
                </a:ext>
              </a:extLst>
            </p:cNvPr>
            <p:cNvSpPr/>
            <p:nvPr/>
          </p:nvSpPr>
          <p:spPr>
            <a:xfrm>
              <a:off x="2805713" y="3700545"/>
              <a:ext cx="55844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21" h="986">
                  <a:moveTo>
                    <a:pt x="218" y="510"/>
                  </a:moveTo>
                  <a:cubicBezTo>
                    <a:pt x="221" y="499"/>
                    <a:pt x="221" y="496"/>
                    <a:pt x="221" y="493"/>
                  </a:cubicBezTo>
                  <a:cubicBezTo>
                    <a:pt x="221" y="490"/>
                    <a:pt x="221" y="487"/>
                    <a:pt x="218" y="476"/>
                  </a:cubicBezTo>
                  <a:lnTo>
                    <a:pt x="42" y="22"/>
                  </a:lnTo>
                  <a:cubicBezTo>
                    <a:pt x="36" y="6"/>
                    <a:pt x="31" y="0"/>
                    <a:pt x="20" y="0"/>
                  </a:cubicBezTo>
                  <a:cubicBezTo>
                    <a:pt x="8" y="0"/>
                    <a:pt x="0" y="8"/>
                    <a:pt x="0" y="20"/>
                  </a:cubicBezTo>
                  <a:cubicBezTo>
                    <a:pt x="0" y="22"/>
                    <a:pt x="0" y="25"/>
                    <a:pt x="6" y="36"/>
                  </a:cubicBezTo>
                  <a:lnTo>
                    <a:pt x="182" y="493"/>
                  </a:lnTo>
                  <a:lnTo>
                    <a:pt x="6" y="950"/>
                  </a:lnTo>
                  <a:cubicBezTo>
                    <a:pt x="0" y="961"/>
                    <a:pt x="0" y="964"/>
                    <a:pt x="0" y="966"/>
                  </a:cubicBezTo>
                  <a:cubicBezTo>
                    <a:pt x="0" y="978"/>
                    <a:pt x="8" y="986"/>
                    <a:pt x="20" y="986"/>
                  </a:cubicBezTo>
                  <a:cubicBezTo>
                    <a:pt x="34" y="986"/>
                    <a:pt x="36" y="978"/>
                    <a:pt x="42" y="9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5" name="Freeform 436">
              <a:extLst>
                <a:ext uri="{FF2B5EF4-FFF2-40B4-BE49-F238E27FC236}">
                  <a16:creationId xmlns:a16="http://schemas.microsoft.com/office/drawing/2014/main" id="{2FFFFD51-B85E-B0E3-15DE-C36BE87A58EB}"/>
                </a:ext>
              </a:extLst>
            </p:cNvPr>
            <p:cNvSpPr/>
            <p:nvPr/>
          </p:nvSpPr>
          <p:spPr>
            <a:xfrm>
              <a:off x="2910294" y="3862312"/>
              <a:ext cx="29699" cy="7528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8" h="297">
                  <a:moveTo>
                    <a:pt x="118" y="104"/>
                  </a:moveTo>
                  <a:cubicBezTo>
                    <a:pt x="118" y="39"/>
                    <a:pt x="92" y="0"/>
                    <a:pt x="53" y="0"/>
                  </a:cubicBezTo>
                  <a:cubicBezTo>
                    <a:pt x="20" y="0"/>
                    <a:pt x="0" y="25"/>
                    <a:pt x="0" y="53"/>
                  </a:cubicBezTo>
                  <a:cubicBezTo>
                    <a:pt x="0" y="78"/>
                    <a:pt x="20" y="106"/>
                    <a:pt x="53" y="106"/>
                  </a:cubicBezTo>
                  <a:cubicBezTo>
                    <a:pt x="64" y="106"/>
                    <a:pt x="78" y="101"/>
                    <a:pt x="90" y="92"/>
                  </a:cubicBezTo>
                  <a:cubicBezTo>
                    <a:pt x="92" y="90"/>
                    <a:pt x="92" y="90"/>
                    <a:pt x="92" y="90"/>
                  </a:cubicBezTo>
                  <a:cubicBezTo>
                    <a:pt x="95" y="90"/>
                    <a:pt x="95" y="90"/>
                    <a:pt x="95" y="104"/>
                  </a:cubicBezTo>
                  <a:cubicBezTo>
                    <a:pt x="95" y="179"/>
                    <a:pt x="62" y="238"/>
                    <a:pt x="28" y="272"/>
                  </a:cubicBezTo>
                  <a:cubicBezTo>
                    <a:pt x="17" y="280"/>
                    <a:pt x="17" y="283"/>
                    <a:pt x="17" y="286"/>
                  </a:cubicBezTo>
                  <a:cubicBezTo>
                    <a:pt x="17" y="294"/>
                    <a:pt x="22" y="297"/>
                    <a:pt x="25" y="297"/>
                  </a:cubicBezTo>
                  <a:cubicBezTo>
                    <a:pt x="36" y="297"/>
                    <a:pt x="118" y="221"/>
                    <a:pt x="118" y="10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6" name="Freeform 437">
              <a:extLst>
                <a:ext uri="{FF2B5EF4-FFF2-40B4-BE49-F238E27FC236}">
                  <a16:creationId xmlns:a16="http://schemas.microsoft.com/office/drawing/2014/main" id="{A284C230-8D07-A64F-BFDE-C426702E55F9}"/>
                </a:ext>
              </a:extLst>
            </p:cNvPr>
            <p:cNvSpPr/>
            <p:nvPr/>
          </p:nvSpPr>
          <p:spPr>
            <a:xfrm>
              <a:off x="3260080" y="3778377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4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6"/>
                    <a:pt x="423" y="395"/>
                  </a:cubicBezTo>
                  <a:cubicBezTo>
                    <a:pt x="440" y="359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70"/>
                    <a:pt x="392" y="426"/>
                    <a:pt x="353" y="426"/>
                  </a:cubicBezTo>
                  <a:cubicBezTo>
                    <a:pt x="325" y="426"/>
                    <a:pt x="322" y="401"/>
                    <a:pt x="322" y="381"/>
                  </a:cubicBezTo>
                  <a:cubicBezTo>
                    <a:pt x="322" y="359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6"/>
                  </a:cubicBezTo>
                  <a:cubicBezTo>
                    <a:pt x="202" y="412"/>
                    <a:pt x="162" y="426"/>
                    <a:pt x="134" y="426"/>
                  </a:cubicBezTo>
                  <a:cubicBezTo>
                    <a:pt x="84" y="426"/>
                    <a:pt x="70" y="373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7" name="Freeform 438">
              <a:extLst>
                <a:ext uri="{FF2B5EF4-FFF2-40B4-BE49-F238E27FC236}">
                  <a16:creationId xmlns:a16="http://schemas.microsoft.com/office/drawing/2014/main" id="{E80D19B0-6797-93F7-B511-CFD27F5F62EE}"/>
                </a:ext>
              </a:extLst>
            </p:cNvPr>
            <p:cNvSpPr/>
            <p:nvPr/>
          </p:nvSpPr>
          <p:spPr>
            <a:xfrm>
              <a:off x="3395122" y="3662139"/>
              <a:ext cx="65236" cy="1615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6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300"/>
                    <a:pt x="101" y="336"/>
                  </a:cubicBezTo>
                  <a:cubicBezTo>
                    <a:pt x="101" y="471"/>
                    <a:pt x="115" y="611"/>
                    <a:pt x="118" y="625"/>
                  </a:cubicBezTo>
                  <a:cubicBezTo>
                    <a:pt x="118" y="630"/>
                    <a:pt x="120" y="636"/>
                    <a:pt x="129" y="636"/>
                  </a:cubicBezTo>
                  <a:cubicBezTo>
                    <a:pt x="140" y="636"/>
                    <a:pt x="140" y="630"/>
                    <a:pt x="140" y="622"/>
                  </a:cubicBezTo>
                  <a:cubicBezTo>
                    <a:pt x="140" y="622"/>
                    <a:pt x="146" y="560"/>
                    <a:pt x="148" y="518"/>
                  </a:cubicBezTo>
                  <a:cubicBezTo>
                    <a:pt x="154" y="457"/>
                    <a:pt x="157" y="398"/>
                    <a:pt x="157" y="336"/>
                  </a:cubicBezTo>
                  <a:cubicBezTo>
                    <a:pt x="157" y="300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8" name="Freeform 439">
              <a:extLst>
                <a:ext uri="{FF2B5EF4-FFF2-40B4-BE49-F238E27FC236}">
                  <a16:creationId xmlns:a16="http://schemas.microsoft.com/office/drawing/2014/main" id="{E1BAEEFB-B833-DD94-70A5-86286C1957C4}"/>
                </a:ext>
              </a:extLst>
            </p:cNvPr>
            <p:cNvSpPr/>
            <p:nvPr/>
          </p:nvSpPr>
          <p:spPr>
            <a:xfrm>
              <a:off x="3515948" y="3700545"/>
              <a:ext cx="10407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" h="986">
                  <a:moveTo>
                    <a:pt x="42" y="36"/>
                  </a:moveTo>
                  <a:cubicBezTo>
                    <a:pt x="42" y="17"/>
                    <a:pt x="42" y="0"/>
                    <a:pt x="22" y="0"/>
                  </a:cubicBezTo>
                  <a:cubicBezTo>
                    <a:pt x="0" y="0"/>
                    <a:pt x="0" y="17"/>
                    <a:pt x="0" y="36"/>
                  </a:cubicBezTo>
                  <a:lnTo>
                    <a:pt x="0" y="952"/>
                  </a:lnTo>
                  <a:cubicBezTo>
                    <a:pt x="0" y="969"/>
                    <a:pt x="0" y="986"/>
                    <a:pt x="22" y="986"/>
                  </a:cubicBezTo>
                  <a:cubicBezTo>
                    <a:pt x="42" y="986"/>
                    <a:pt x="42" y="969"/>
                    <a:pt x="42" y="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29" name="Freeform 440">
              <a:extLst>
                <a:ext uri="{FF2B5EF4-FFF2-40B4-BE49-F238E27FC236}">
                  <a16:creationId xmlns:a16="http://schemas.microsoft.com/office/drawing/2014/main" id="{652E9B54-3CE4-6691-5BE7-972E9706ABE6}"/>
                </a:ext>
              </a:extLst>
            </p:cNvPr>
            <p:cNvSpPr/>
            <p:nvPr/>
          </p:nvSpPr>
          <p:spPr>
            <a:xfrm>
              <a:off x="3562654" y="3778377"/>
              <a:ext cx="135549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5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9" y="440"/>
                    <a:pt x="115" y="420"/>
                  </a:cubicBezTo>
                  <a:cubicBezTo>
                    <a:pt x="115" y="420"/>
                    <a:pt x="129" y="373"/>
                    <a:pt x="134" y="347"/>
                  </a:cubicBezTo>
                  <a:lnTo>
                    <a:pt x="154" y="258"/>
                  </a:lnTo>
                  <a:cubicBezTo>
                    <a:pt x="162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7" y="22"/>
                  </a:cubicBezTo>
                  <a:cubicBezTo>
                    <a:pt x="392" y="22"/>
                    <a:pt x="400" y="59"/>
                    <a:pt x="400" y="92"/>
                  </a:cubicBezTo>
                  <a:cubicBezTo>
                    <a:pt x="400" y="151"/>
                    <a:pt x="350" y="280"/>
                    <a:pt x="336" y="322"/>
                  </a:cubicBezTo>
                  <a:cubicBezTo>
                    <a:pt x="328" y="345"/>
                    <a:pt x="325" y="356"/>
                    <a:pt x="325" y="367"/>
                  </a:cubicBezTo>
                  <a:cubicBezTo>
                    <a:pt x="325" y="415"/>
                    <a:pt x="361" y="448"/>
                    <a:pt x="406" y="448"/>
                  </a:cubicBezTo>
                  <a:cubicBezTo>
                    <a:pt x="498" y="448"/>
                    <a:pt x="535" y="305"/>
                    <a:pt x="535" y="297"/>
                  </a:cubicBezTo>
                  <a:cubicBezTo>
                    <a:pt x="535" y="286"/>
                    <a:pt x="526" y="286"/>
                    <a:pt x="524" y="286"/>
                  </a:cubicBezTo>
                  <a:cubicBezTo>
                    <a:pt x="515" y="286"/>
                    <a:pt x="515" y="289"/>
                    <a:pt x="510" y="305"/>
                  </a:cubicBezTo>
                  <a:cubicBezTo>
                    <a:pt x="490" y="373"/>
                    <a:pt x="456" y="426"/>
                    <a:pt x="409" y="426"/>
                  </a:cubicBezTo>
                  <a:cubicBezTo>
                    <a:pt x="392" y="426"/>
                    <a:pt x="384" y="417"/>
                    <a:pt x="384" y="395"/>
                  </a:cubicBezTo>
                  <a:cubicBezTo>
                    <a:pt x="384" y="370"/>
                    <a:pt x="395" y="345"/>
                    <a:pt x="403" y="325"/>
                  </a:cubicBezTo>
                  <a:cubicBezTo>
                    <a:pt x="423" y="272"/>
                    <a:pt x="462" y="162"/>
                    <a:pt x="462" y="106"/>
                  </a:cubicBezTo>
                  <a:cubicBezTo>
                    <a:pt x="462" y="39"/>
                    <a:pt x="420" y="0"/>
                    <a:pt x="350" y="0"/>
                  </a:cubicBezTo>
                  <a:cubicBezTo>
                    <a:pt x="260" y="0"/>
                    <a:pt x="213" y="64"/>
                    <a:pt x="196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0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20" y="22"/>
                    <a:pt x="132" y="34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0" name="Freeform 441">
              <a:extLst>
                <a:ext uri="{FF2B5EF4-FFF2-40B4-BE49-F238E27FC236}">
                  <a16:creationId xmlns:a16="http://schemas.microsoft.com/office/drawing/2014/main" id="{4768DB82-219A-601B-870D-745E7FF6EC83}"/>
                </a:ext>
              </a:extLst>
            </p:cNvPr>
            <p:cNvSpPr/>
            <p:nvPr/>
          </p:nvSpPr>
          <p:spPr>
            <a:xfrm>
              <a:off x="3719017" y="3700545"/>
              <a:ext cx="55844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21" h="986">
                  <a:moveTo>
                    <a:pt x="218" y="510"/>
                  </a:moveTo>
                  <a:cubicBezTo>
                    <a:pt x="221" y="499"/>
                    <a:pt x="221" y="496"/>
                    <a:pt x="221" y="493"/>
                  </a:cubicBezTo>
                  <a:cubicBezTo>
                    <a:pt x="221" y="490"/>
                    <a:pt x="221" y="487"/>
                    <a:pt x="218" y="476"/>
                  </a:cubicBezTo>
                  <a:lnTo>
                    <a:pt x="42" y="22"/>
                  </a:lnTo>
                  <a:cubicBezTo>
                    <a:pt x="36" y="6"/>
                    <a:pt x="31" y="0"/>
                    <a:pt x="20" y="0"/>
                  </a:cubicBezTo>
                  <a:cubicBezTo>
                    <a:pt x="8" y="0"/>
                    <a:pt x="0" y="8"/>
                    <a:pt x="0" y="20"/>
                  </a:cubicBezTo>
                  <a:cubicBezTo>
                    <a:pt x="0" y="22"/>
                    <a:pt x="0" y="25"/>
                    <a:pt x="6" y="36"/>
                  </a:cubicBezTo>
                  <a:lnTo>
                    <a:pt x="182" y="493"/>
                  </a:lnTo>
                  <a:lnTo>
                    <a:pt x="6" y="950"/>
                  </a:lnTo>
                  <a:cubicBezTo>
                    <a:pt x="0" y="961"/>
                    <a:pt x="0" y="964"/>
                    <a:pt x="0" y="966"/>
                  </a:cubicBezTo>
                  <a:cubicBezTo>
                    <a:pt x="0" y="978"/>
                    <a:pt x="8" y="986"/>
                    <a:pt x="20" y="986"/>
                  </a:cubicBezTo>
                  <a:cubicBezTo>
                    <a:pt x="34" y="986"/>
                    <a:pt x="36" y="978"/>
                    <a:pt x="42" y="9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1" name="Freeform 442">
              <a:extLst>
                <a:ext uri="{FF2B5EF4-FFF2-40B4-BE49-F238E27FC236}">
                  <a16:creationId xmlns:a16="http://schemas.microsoft.com/office/drawing/2014/main" id="{BB9EF50E-222F-D5BE-8E6F-E58349582AF8}"/>
                </a:ext>
              </a:extLst>
            </p:cNvPr>
            <p:cNvSpPr/>
            <p:nvPr/>
          </p:nvSpPr>
          <p:spPr>
            <a:xfrm>
              <a:off x="3886041" y="3796690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2" name="Freeform 443">
              <a:extLst>
                <a:ext uri="{FF2B5EF4-FFF2-40B4-BE49-F238E27FC236}">
                  <a16:creationId xmlns:a16="http://schemas.microsoft.com/office/drawing/2014/main" id="{7E997EF3-203B-5ABF-470E-876B3523DC9B}"/>
                </a:ext>
              </a:extLst>
            </p:cNvPr>
            <p:cNvSpPr/>
            <p:nvPr/>
          </p:nvSpPr>
          <p:spPr>
            <a:xfrm>
              <a:off x="4153331" y="3670024"/>
              <a:ext cx="195200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70" h="986">
                  <a:moveTo>
                    <a:pt x="311" y="882"/>
                  </a:moveTo>
                  <a:lnTo>
                    <a:pt x="137" y="499"/>
                  </a:lnTo>
                  <a:cubicBezTo>
                    <a:pt x="132" y="485"/>
                    <a:pt x="126" y="485"/>
                    <a:pt x="123" y="485"/>
                  </a:cubicBezTo>
                  <a:cubicBezTo>
                    <a:pt x="123" y="485"/>
                    <a:pt x="118" y="485"/>
                    <a:pt x="106" y="493"/>
                  </a:cubicBezTo>
                  <a:lnTo>
                    <a:pt x="14" y="563"/>
                  </a:lnTo>
                  <a:cubicBezTo>
                    <a:pt x="0" y="571"/>
                    <a:pt x="0" y="574"/>
                    <a:pt x="0" y="580"/>
                  </a:cubicBezTo>
                  <a:cubicBezTo>
                    <a:pt x="0" y="583"/>
                    <a:pt x="3" y="588"/>
                    <a:pt x="11" y="588"/>
                  </a:cubicBezTo>
                  <a:cubicBezTo>
                    <a:pt x="17" y="588"/>
                    <a:pt x="34" y="574"/>
                    <a:pt x="45" y="569"/>
                  </a:cubicBezTo>
                  <a:cubicBezTo>
                    <a:pt x="50" y="563"/>
                    <a:pt x="64" y="552"/>
                    <a:pt x="76" y="543"/>
                  </a:cubicBezTo>
                  <a:lnTo>
                    <a:pt x="269" y="972"/>
                  </a:lnTo>
                  <a:cubicBezTo>
                    <a:pt x="277" y="986"/>
                    <a:pt x="283" y="986"/>
                    <a:pt x="291" y="986"/>
                  </a:cubicBezTo>
                  <a:cubicBezTo>
                    <a:pt x="305" y="986"/>
                    <a:pt x="308" y="980"/>
                    <a:pt x="316" y="966"/>
                  </a:cubicBezTo>
                  <a:lnTo>
                    <a:pt x="764" y="39"/>
                  </a:lnTo>
                  <a:cubicBezTo>
                    <a:pt x="770" y="25"/>
                    <a:pt x="770" y="22"/>
                    <a:pt x="770" y="20"/>
                  </a:cubicBezTo>
                  <a:cubicBezTo>
                    <a:pt x="770" y="11"/>
                    <a:pt x="762" y="0"/>
                    <a:pt x="750" y="0"/>
                  </a:cubicBezTo>
                  <a:cubicBezTo>
                    <a:pt x="742" y="0"/>
                    <a:pt x="736" y="6"/>
                    <a:pt x="728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3" name="Freeform 444">
              <a:extLst>
                <a:ext uri="{FF2B5EF4-FFF2-40B4-BE49-F238E27FC236}">
                  <a16:creationId xmlns:a16="http://schemas.microsoft.com/office/drawing/2014/main" id="{DC08ADBC-F786-21DF-4F30-A4A01951E1B2}"/>
                </a:ext>
              </a:extLst>
            </p:cNvPr>
            <p:cNvSpPr/>
            <p:nvPr/>
          </p:nvSpPr>
          <p:spPr>
            <a:xfrm>
              <a:off x="4343962" y="3670024"/>
              <a:ext cx="580524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288" h="42">
                  <a:moveTo>
                    <a:pt x="1145" y="42"/>
                  </a:moveTo>
                  <a:lnTo>
                    <a:pt x="0" y="42"/>
                  </a:lnTo>
                  <a:lnTo>
                    <a:pt x="0" y="0"/>
                  </a:lnTo>
                  <a:lnTo>
                    <a:pt x="2288" y="0"/>
                  </a:lnTo>
                  <a:lnTo>
                    <a:pt x="2288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4" name="Freeform 445">
              <a:extLst>
                <a:ext uri="{FF2B5EF4-FFF2-40B4-BE49-F238E27FC236}">
                  <a16:creationId xmlns:a16="http://schemas.microsoft.com/office/drawing/2014/main" id="{11B6C4B4-AFC3-907A-2126-C43B517B2627}"/>
                </a:ext>
              </a:extLst>
            </p:cNvPr>
            <p:cNvSpPr/>
            <p:nvPr/>
          </p:nvSpPr>
          <p:spPr>
            <a:xfrm>
              <a:off x="4351070" y="3778377"/>
              <a:ext cx="135549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5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9" y="440"/>
                    <a:pt x="115" y="420"/>
                  </a:cubicBezTo>
                  <a:cubicBezTo>
                    <a:pt x="115" y="420"/>
                    <a:pt x="129" y="373"/>
                    <a:pt x="134" y="347"/>
                  </a:cubicBezTo>
                  <a:lnTo>
                    <a:pt x="154" y="258"/>
                  </a:lnTo>
                  <a:cubicBezTo>
                    <a:pt x="162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7" y="22"/>
                  </a:cubicBezTo>
                  <a:cubicBezTo>
                    <a:pt x="392" y="22"/>
                    <a:pt x="400" y="59"/>
                    <a:pt x="400" y="92"/>
                  </a:cubicBezTo>
                  <a:cubicBezTo>
                    <a:pt x="400" y="151"/>
                    <a:pt x="350" y="280"/>
                    <a:pt x="336" y="322"/>
                  </a:cubicBezTo>
                  <a:cubicBezTo>
                    <a:pt x="328" y="345"/>
                    <a:pt x="325" y="356"/>
                    <a:pt x="325" y="367"/>
                  </a:cubicBezTo>
                  <a:cubicBezTo>
                    <a:pt x="325" y="415"/>
                    <a:pt x="361" y="448"/>
                    <a:pt x="406" y="448"/>
                  </a:cubicBezTo>
                  <a:cubicBezTo>
                    <a:pt x="498" y="448"/>
                    <a:pt x="535" y="305"/>
                    <a:pt x="535" y="297"/>
                  </a:cubicBezTo>
                  <a:cubicBezTo>
                    <a:pt x="535" y="286"/>
                    <a:pt x="526" y="286"/>
                    <a:pt x="524" y="286"/>
                  </a:cubicBezTo>
                  <a:cubicBezTo>
                    <a:pt x="515" y="286"/>
                    <a:pt x="515" y="289"/>
                    <a:pt x="510" y="305"/>
                  </a:cubicBezTo>
                  <a:cubicBezTo>
                    <a:pt x="490" y="373"/>
                    <a:pt x="456" y="426"/>
                    <a:pt x="409" y="426"/>
                  </a:cubicBezTo>
                  <a:cubicBezTo>
                    <a:pt x="392" y="426"/>
                    <a:pt x="384" y="417"/>
                    <a:pt x="384" y="395"/>
                  </a:cubicBezTo>
                  <a:cubicBezTo>
                    <a:pt x="384" y="370"/>
                    <a:pt x="395" y="345"/>
                    <a:pt x="403" y="325"/>
                  </a:cubicBezTo>
                  <a:cubicBezTo>
                    <a:pt x="423" y="272"/>
                    <a:pt x="462" y="162"/>
                    <a:pt x="462" y="106"/>
                  </a:cubicBezTo>
                  <a:cubicBezTo>
                    <a:pt x="462" y="39"/>
                    <a:pt x="420" y="0"/>
                    <a:pt x="350" y="0"/>
                  </a:cubicBezTo>
                  <a:cubicBezTo>
                    <a:pt x="260" y="0"/>
                    <a:pt x="213" y="64"/>
                    <a:pt x="196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0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20" y="22"/>
                    <a:pt x="132" y="34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5" name="Freeform 446">
              <a:extLst>
                <a:ext uri="{FF2B5EF4-FFF2-40B4-BE49-F238E27FC236}">
                  <a16:creationId xmlns:a16="http://schemas.microsoft.com/office/drawing/2014/main" id="{95849E53-9611-78A9-DA93-65188809CC81}"/>
                </a:ext>
              </a:extLst>
            </p:cNvPr>
            <p:cNvSpPr/>
            <p:nvPr/>
          </p:nvSpPr>
          <p:spPr>
            <a:xfrm>
              <a:off x="4562770" y="3742768"/>
              <a:ext cx="166771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658">
                  <a:moveTo>
                    <a:pt x="350" y="350"/>
                  </a:moveTo>
                  <a:lnTo>
                    <a:pt x="624" y="350"/>
                  </a:lnTo>
                  <a:cubicBezTo>
                    <a:pt x="638" y="350"/>
                    <a:pt x="658" y="350"/>
                    <a:pt x="658" y="331"/>
                  </a:cubicBezTo>
                  <a:cubicBezTo>
                    <a:pt x="658" y="308"/>
                    <a:pt x="638" y="308"/>
                    <a:pt x="624" y="308"/>
                  </a:cubicBezTo>
                  <a:lnTo>
                    <a:pt x="350" y="308"/>
                  </a:lnTo>
                  <a:lnTo>
                    <a:pt x="350" y="34"/>
                  </a:lnTo>
                  <a:cubicBezTo>
                    <a:pt x="350" y="20"/>
                    <a:pt x="350" y="0"/>
                    <a:pt x="330" y="0"/>
                  </a:cubicBezTo>
                  <a:cubicBezTo>
                    <a:pt x="308" y="0"/>
                    <a:pt x="308" y="20"/>
                    <a:pt x="308" y="34"/>
                  </a:cubicBezTo>
                  <a:lnTo>
                    <a:pt x="308" y="308"/>
                  </a:lnTo>
                  <a:lnTo>
                    <a:pt x="34" y="308"/>
                  </a:lnTo>
                  <a:cubicBezTo>
                    <a:pt x="20" y="308"/>
                    <a:pt x="0" y="308"/>
                    <a:pt x="0" y="331"/>
                  </a:cubicBezTo>
                  <a:cubicBezTo>
                    <a:pt x="0" y="350"/>
                    <a:pt x="20" y="350"/>
                    <a:pt x="34" y="350"/>
                  </a:cubicBezTo>
                  <a:lnTo>
                    <a:pt x="308" y="350"/>
                  </a:lnTo>
                  <a:lnTo>
                    <a:pt x="308" y="625"/>
                  </a:lnTo>
                  <a:cubicBezTo>
                    <a:pt x="308" y="639"/>
                    <a:pt x="308" y="658"/>
                    <a:pt x="330" y="658"/>
                  </a:cubicBezTo>
                  <a:cubicBezTo>
                    <a:pt x="350" y="658"/>
                    <a:pt x="350" y="639"/>
                    <a:pt x="350" y="625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6" name="Freeform 447">
              <a:extLst>
                <a:ext uri="{FF2B5EF4-FFF2-40B4-BE49-F238E27FC236}">
                  <a16:creationId xmlns:a16="http://schemas.microsoft.com/office/drawing/2014/main" id="{65CA51F9-F28E-2DDC-879D-294E80A83F66}"/>
                </a:ext>
              </a:extLst>
            </p:cNvPr>
            <p:cNvSpPr/>
            <p:nvPr/>
          </p:nvSpPr>
          <p:spPr>
            <a:xfrm>
              <a:off x="4820667" y="3721911"/>
              <a:ext cx="83005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658">
                  <a:moveTo>
                    <a:pt x="204" y="25"/>
                  </a:moveTo>
                  <a:cubicBezTo>
                    <a:pt x="204" y="3"/>
                    <a:pt x="204" y="0"/>
                    <a:pt x="182" y="0"/>
                  </a:cubicBezTo>
                  <a:cubicBezTo>
                    <a:pt x="120" y="64"/>
                    <a:pt x="31" y="64"/>
                    <a:pt x="0" y="64"/>
                  </a:cubicBezTo>
                  <a:lnTo>
                    <a:pt x="0" y="95"/>
                  </a:lnTo>
                  <a:cubicBezTo>
                    <a:pt x="20" y="95"/>
                    <a:pt x="78" y="95"/>
                    <a:pt x="129" y="67"/>
                  </a:cubicBezTo>
                  <a:lnTo>
                    <a:pt x="129" y="580"/>
                  </a:lnTo>
                  <a:cubicBezTo>
                    <a:pt x="129" y="616"/>
                    <a:pt x="126" y="627"/>
                    <a:pt x="36" y="627"/>
                  </a:cubicBezTo>
                  <a:lnTo>
                    <a:pt x="6" y="627"/>
                  </a:lnTo>
                  <a:lnTo>
                    <a:pt x="6" y="658"/>
                  </a:lnTo>
                  <a:cubicBezTo>
                    <a:pt x="42" y="655"/>
                    <a:pt x="126" y="655"/>
                    <a:pt x="168" y="655"/>
                  </a:cubicBezTo>
                  <a:cubicBezTo>
                    <a:pt x="207" y="655"/>
                    <a:pt x="294" y="655"/>
                    <a:pt x="328" y="658"/>
                  </a:cubicBezTo>
                  <a:lnTo>
                    <a:pt x="328" y="627"/>
                  </a:lnTo>
                  <a:lnTo>
                    <a:pt x="297" y="627"/>
                  </a:lnTo>
                  <a:cubicBezTo>
                    <a:pt x="207" y="627"/>
                    <a:pt x="204" y="616"/>
                    <a:pt x="204" y="58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7" name="Freeform 448">
              <a:extLst>
                <a:ext uri="{FF2B5EF4-FFF2-40B4-BE49-F238E27FC236}">
                  <a16:creationId xmlns:a16="http://schemas.microsoft.com/office/drawing/2014/main" id="{EF11C2B1-5E1A-D53B-00CB-6EF4D7CD4B28}"/>
                </a:ext>
              </a:extLst>
            </p:cNvPr>
            <p:cNvSpPr/>
            <p:nvPr/>
          </p:nvSpPr>
          <p:spPr>
            <a:xfrm>
              <a:off x="4953677" y="3700545"/>
              <a:ext cx="10407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" h="986">
                  <a:moveTo>
                    <a:pt x="42" y="36"/>
                  </a:moveTo>
                  <a:cubicBezTo>
                    <a:pt x="42" y="17"/>
                    <a:pt x="42" y="0"/>
                    <a:pt x="22" y="0"/>
                  </a:cubicBezTo>
                  <a:cubicBezTo>
                    <a:pt x="0" y="0"/>
                    <a:pt x="0" y="17"/>
                    <a:pt x="0" y="36"/>
                  </a:cubicBezTo>
                  <a:lnTo>
                    <a:pt x="0" y="952"/>
                  </a:lnTo>
                  <a:cubicBezTo>
                    <a:pt x="0" y="969"/>
                    <a:pt x="0" y="986"/>
                    <a:pt x="22" y="986"/>
                  </a:cubicBezTo>
                  <a:cubicBezTo>
                    <a:pt x="42" y="986"/>
                    <a:pt x="42" y="969"/>
                    <a:pt x="42" y="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8" name="Freeform 449">
              <a:extLst>
                <a:ext uri="{FF2B5EF4-FFF2-40B4-BE49-F238E27FC236}">
                  <a16:creationId xmlns:a16="http://schemas.microsoft.com/office/drawing/2014/main" id="{53FA2E42-94F1-6F5F-9BD9-B0A55B65E559}"/>
                </a:ext>
              </a:extLst>
            </p:cNvPr>
            <p:cNvSpPr/>
            <p:nvPr/>
          </p:nvSpPr>
          <p:spPr>
            <a:xfrm>
              <a:off x="5000637" y="3778377"/>
              <a:ext cx="135549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5" h="448">
                  <a:moveTo>
                    <a:pt x="59" y="378"/>
                  </a:moveTo>
                  <a:cubicBezTo>
                    <a:pt x="56" y="395"/>
                    <a:pt x="50" y="417"/>
                    <a:pt x="50" y="423"/>
                  </a:cubicBezTo>
                  <a:cubicBezTo>
                    <a:pt x="50" y="440"/>
                    <a:pt x="64" y="448"/>
                    <a:pt x="78" y="448"/>
                  </a:cubicBezTo>
                  <a:cubicBezTo>
                    <a:pt x="90" y="448"/>
                    <a:pt x="109" y="440"/>
                    <a:pt x="115" y="420"/>
                  </a:cubicBezTo>
                  <a:cubicBezTo>
                    <a:pt x="115" y="420"/>
                    <a:pt x="129" y="373"/>
                    <a:pt x="134" y="347"/>
                  </a:cubicBezTo>
                  <a:lnTo>
                    <a:pt x="154" y="258"/>
                  </a:lnTo>
                  <a:cubicBezTo>
                    <a:pt x="162" y="238"/>
                    <a:pt x="168" y="216"/>
                    <a:pt x="171" y="193"/>
                  </a:cubicBezTo>
                  <a:cubicBezTo>
                    <a:pt x="176" y="176"/>
                    <a:pt x="185" y="146"/>
                    <a:pt x="185" y="143"/>
                  </a:cubicBezTo>
                  <a:cubicBezTo>
                    <a:pt x="199" y="112"/>
                    <a:pt x="252" y="22"/>
                    <a:pt x="347" y="22"/>
                  </a:cubicBezTo>
                  <a:cubicBezTo>
                    <a:pt x="392" y="22"/>
                    <a:pt x="400" y="59"/>
                    <a:pt x="400" y="92"/>
                  </a:cubicBezTo>
                  <a:cubicBezTo>
                    <a:pt x="400" y="151"/>
                    <a:pt x="350" y="280"/>
                    <a:pt x="336" y="322"/>
                  </a:cubicBezTo>
                  <a:cubicBezTo>
                    <a:pt x="328" y="345"/>
                    <a:pt x="325" y="356"/>
                    <a:pt x="325" y="367"/>
                  </a:cubicBezTo>
                  <a:cubicBezTo>
                    <a:pt x="325" y="415"/>
                    <a:pt x="361" y="448"/>
                    <a:pt x="406" y="448"/>
                  </a:cubicBezTo>
                  <a:cubicBezTo>
                    <a:pt x="498" y="448"/>
                    <a:pt x="535" y="305"/>
                    <a:pt x="535" y="297"/>
                  </a:cubicBezTo>
                  <a:cubicBezTo>
                    <a:pt x="535" y="286"/>
                    <a:pt x="526" y="286"/>
                    <a:pt x="524" y="286"/>
                  </a:cubicBezTo>
                  <a:cubicBezTo>
                    <a:pt x="515" y="286"/>
                    <a:pt x="515" y="289"/>
                    <a:pt x="510" y="305"/>
                  </a:cubicBezTo>
                  <a:cubicBezTo>
                    <a:pt x="490" y="373"/>
                    <a:pt x="456" y="426"/>
                    <a:pt x="409" y="426"/>
                  </a:cubicBezTo>
                  <a:cubicBezTo>
                    <a:pt x="392" y="426"/>
                    <a:pt x="384" y="417"/>
                    <a:pt x="384" y="395"/>
                  </a:cubicBezTo>
                  <a:cubicBezTo>
                    <a:pt x="384" y="370"/>
                    <a:pt x="395" y="345"/>
                    <a:pt x="403" y="325"/>
                  </a:cubicBezTo>
                  <a:cubicBezTo>
                    <a:pt x="423" y="272"/>
                    <a:pt x="462" y="162"/>
                    <a:pt x="462" y="106"/>
                  </a:cubicBezTo>
                  <a:cubicBezTo>
                    <a:pt x="462" y="39"/>
                    <a:pt x="420" y="0"/>
                    <a:pt x="350" y="0"/>
                  </a:cubicBezTo>
                  <a:cubicBezTo>
                    <a:pt x="260" y="0"/>
                    <a:pt x="213" y="64"/>
                    <a:pt x="196" y="87"/>
                  </a:cubicBezTo>
                  <a:cubicBezTo>
                    <a:pt x="190" y="31"/>
                    <a:pt x="148" y="0"/>
                    <a:pt x="104" y="0"/>
                  </a:cubicBezTo>
                  <a:cubicBezTo>
                    <a:pt x="59" y="0"/>
                    <a:pt x="39" y="39"/>
                    <a:pt x="31" y="56"/>
                  </a:cubicBezTo>
                  <a:cubicBezTo>
                    <a:pt x="14" y="90"/>
                    <a:pt x="0" y="148"/>
                    <a:pt x="0" y="151"/>
                  </a:cubicBezTo>
                  <a:cubicBezTo>
                    <a:pt x="0" y="162"/>
                    <a:pt x="11" y="162"/>
                    <a:pt x="11" y="162"/>
                  </a:cubicBezTo>
                  <a:cubicBezTo>
                    <a:pt x="22" y="162"/>
                    <a:pt x="22" y="162"/>
                    <a:pt x="28" y="140"/>
                  </a:cubicBezTo>
                  <a:cubicBezTo>
                    <a:pt x="45" y="70"/>
                    <a:pt x="64" y="22"/>
                    <a:pt x="101" y="22"/>
                  </a:cubicBezTo>
                  <a:cubicBezTo>
                    <a:pt x="120" y="22"/>
                    <a:pt x="132" y="34"/>
                    <a:pt x="132" y="67"/>
                  </a:cubicBezTo>
                  <a:cubicBezTo>
                    <a:pt x="132" y="87"/>
                    <a:pt x="129" y="98"/>
                    <a:pt x="115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39" name="Freeform 450">
              <a:extLst>
                <a:ext uri="{FF2B5EF4-FFF2-40B4-BE49-F238E27FC236}">
                  <a16:creationId xmlns:a16="http://schemas.microsoft.com/office/drawing/2014/main" id="{0223D3BC-DA03-52C7-D5D6-E33B9684118B}"/>
                </a:ext>
              </a:extLst>
            </p:cNvPr>
            <p:cNvSpPr/>
            <p:nvPr/>
          </p:nvSpPr>
          <p:spPr>
            <a:xfrm>
              <a:off x="5212337" y="3742768"/>
              <a:ext cx="166771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658">
                  <a:moveTo>
                    <a:pt x="350" y="350"/>
                  </a:moveTo>
                  <a:lnTo>
                    <a:pt x="624" y="350"/>
                  </a:lnTo>
                  <a:cubicBezTo>
                    <a:pt x="638" y="350"/>
                    <a:pt x="658" y="350"/>
                    <a:pt x="658" y="331"/>
                  </a:cubicBezTo>
                  <a:cubicBezTo>
                    <a:pt x="658" y="308"/>
                    <a:pt x="638" y="308"/>
                    <a:pt x="624" y="308"/>
                  </a:cubicBezTo>
                  <a:lnTo>
                    <a:pt x="350" y="308"/>
                  </a:lnTo>
                  <a:lnTo>
                    <a:pt x="350" y="34"/>
                  </a:lnTo>
                  <a:cubicBezTo>
                    <a:pt x="350" y="20"/>
                    <a:pt x="350" y="0"/>
                    <a:pt x="330" y="0"/>
                  </a:cubicBezTo>
                  <a:cubicBezTo>
                    <a:pt x="308" y="0"/>
                    <a:pt x="308" y="20"/>
                    <a:pt x="308" y="34"/>
                  </a:cubicBezTo>
                  <a:lnTo>
                    <a:pt x="308" y="308"/>
                  </a:lnTo>
                  <a:lnTo>
                    <a:pt x="34" y="308"/>
                  </a:lnTo>
                  <a:cubicBezTo>
                    <a:pt x="20" y="308"/>
                    <a:pt x="0" y="308"/>
                    <a:pt x="0" y="331"/>
                  </a:cubicBezTo>
                  <a:cubicBezTo>
                    <a:pt x="0" y="350"/>
                    <a:pt x="20" y="350"/>
                    <a:pt x="34" y="350"/>
                  </a:cubicBezTo>
                  <a:lnTo>
                    <a:pt x="308" y="350"/>
                  </a:lnTo>
                  <a:lnTo>
                    <a:pt x="308" y="625"/>
                  </a:lnTo>
                  <a:cubicBezTo>
                    <a:pt x="308" y="639"/>
                    <a:pt x="308" y="658"/>
                    <a:pt x="330" y="658"/>
                  </a:cubicBezTo>
                  <a:cubicBezTo>
                    <a:pt x="350" y="658"/>
                    <a:pt x="350" y="639"/>
                    <a:pt x="350" y="6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0" name="Freeform 451">
              <a:extLst>
                <a:ext uri="{FF2B5EF4-FFF2-40B4-BE49-F238E27FC236}">
                  <a16:creationId xmlns:a16="http://schemas.microsoft.com/office/drawing/2014/main" id="{CE870D8F-D521-229A-C686-6FB0871C678E}"/>
                </a:ext>
              </a:extLst>
            </p:cNvPr>
            <p:cNvSpPr/>
            <p:nvPr/>
          </p:nvSpPr>
          <p:spPr>
            <a:xfrm>
              <a:off x="5470234" y="3721911"/>
              <a:ext cx="83005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658">
                  <a:moveTo>
                    <a:pt x="204" y="25"/>
                  </a:moveTo>
                  <a:cubicBezTo>
                    <a:pt x="204" y="3"/>
                    <a:pt x="204" y="0"/>
                    <a:pt x="182" y="0"/>
                  </a:cubicBezTo>
                  <a:cubicBezTo>
                    <a:pt x="120" y="64"/>
                    <a:pt x="31" y="64"/>
                    <a:pt x="0" y="64"/>
                  </a:cubicBezTo>
                  <a:lnTo>
                    <a:pt x="0" y="95"/>
                  </a:lnTo>
                  <a:cubicBezTo>
                    <a:pt x="20" y="95"/>
                    <a:pt x="78" y="95"/>
                    <a:pt x="129" y="67"/>
                  </a:cubicBezTo>
                  <a:lnTo>
                    <a:pt x="129" y="580"/>
                  </a:lnTo>
                  <a:cubicBezTo>
                    <a:pt x="129" y="616"/>
                    <a:pt x="126" y="627"/>
                    <a:pt x="36" y="627"/>
                  </a:cubicBezTo>
                  <a:lnTo>
                    <a:pt x="6" y="627"/>
                  </a:lnTo>
                  <a:lnTo>
                    <a:pt x="6" y="658"/>
                  </a:lnTo>
                  <a:cubicBezTo>
                    <a:pt x="42" y="655"/>
                    <a:pt x="126" y="655"/>
                    <a:pt x="168" y="655"/>
                  </a:cubicBezTo>
                  <a:cubicBezTo>
                    <a:pt x="207" y="655"/>
                    <a:pt x="294" y="655"/>
                    <a:pt x="328" y="658"/>
                  </a:cubicBezTo>
                  <a:lnTo>
                    <a:pt x="328" y="627"/>
                  </a:lnTo>
                  <a:lnTo>
                    <a:pt x="297" y="627"/>
                  </a:lnTo>
                  <a:cubicBezTo>
                    <a:pt x="207" y="627"/>
                    <a:pt x="204" y="616"/>
                    <a:pt x="204" y="5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1" name="Freeform 452">
              <a:extLst>
                <a:ext uri="{FF2B5EF4-FFF2-40B4-BE49-F238E27FC236}">
                  <a16:creationId xmlns:a16="http://schemas.microsoft.com/office/drawing/2014/main" id="{DB931FC8-520A-1C15-FC4A-06955B80F56B}"/>
                </a:ext>
              </a:extLst>
            </p:cNvPr>
            <p:cNvSpPr/>
            <p:nvPr/>
          </p:nvSpPr>
          <p:spPr>
            <a:xfrm>
              <a:off x="5587000" y="3700545"/>
              <a:ext cx="55844" cy="25053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21" h="986">
                  <a:moveTo>
                    <a:pt x="218" y="510"/>
                  </a:moveTo>
                  <a:cubicBezTo>
                    <a:pt x="221" y="499"/>
                    <a:pt x="221" y="496"/>
                    <a:pt x="221" y="493"/>
                  </a:cubicBezTo>
                  <a:cubicBezTo>
                    <a:pt x="221" y="490"/>
                    <a:pt x="221" y="487"/>
                    <a:pt x="218" y="476"/>
                  </a:cubicBezTo>
                  <a:lnTo>
                    <a:pt x="42" y="22"/>
                  </a:lnTo>
                  <a:cubicBezTo>
                    <a:pt x="36" y="6"/>
                    <a:pt x="31" y="0"/>
                    <a:pt x="20" y="0"/>
                  </a:cubicBezTo>
                  <a:cubicBezTo>
                    <a:pt x="8" y="0"/>
                    <a:pt x="0" y="8"/>
                    <a:pt x="0" y="20"/>
                  </a:cubicBezTo>
                  <a:cubicBezTo>
                    <a:pt x="0" y="22"/>
                    <a:pt x="0" y="25"/>
                    <a:pt x="6" y="36"/>
                  </a:cubicBezTo>
                  <a:lnTo>
                    <a:pt x="182" y="493"/>
                  </a:lnTo>
                  <a:lnTo>
                    <a:pt x="6" y="950"/>
                  </a:lnTo>
                  <a:cubicBezTo>
                    <a:pt x="0" y="961"/>
                    <a:pt x="0" y="964"/>
                    <a:pt x="0" y="966"/>
                  </a:cubicBezTo>
                  <a:cubicBezTo>
                    <a:pt x="0" y="978"/>
                    <a:pt x="8" y="986"/>
                    <a:pt x="20" y="986"/>
                  </a:cubicBezTo>
                  <a:cubicBezTo>
                    <a:pt x="34" y="986"/>
                    <a:pt x="36" y="978"/>
                    <a:pt x="42" y="9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2" name="Freeform 453">
              <a:extLst>
                <a:ext uri="{FF2B5EF4-FFF2-40B4-BE49-F238E27FC236}">
                  <a16:creationId xmlns:a16="http://schemas.microsoft.com/office/drawing/2014/main" id="{572631B9-8A99-3787-250E-7A61EDA41DAF}"/>
                </a:ext>
              </a:extLst>
            </p:cNvPr>
            <p:cNvSpPr/>
            <p:nvPr/>
          </p:nvSpPr>
          <p:spPr>
            <a:xfrm>
              <a:off x="905748" y="3588886"/>
              <a:ext cx="4834823" cy="956097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4BC96">
                <a:alpha val="20000"/>
              </a:srgbClr>
            </a:solidFill>
            <a:ln w="0">
              <a:solidFill>
                <a:srgbClr val="CC1500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A6EAB66-93E7-74D2-C5D2-FCAAA33BCC8C}"/>
              </a:ext>
            </a:extLst>
          </p:cNvPr>
          <p:cNvGrpSpPr/>
          <p:nvPr/>
        </p:nvGrpSpPr>
        <p:grpSpPr>
          <a:xfrm>
            <a:off x="3415072" y="4819518"/>
            <a:ext cx="3524773" cy="1225961"/>
            <a:chOff x="1488810" y="4743885"/>
            <a:chExt cx="3524773" cy="1225961"/>
          </a:xfrm>
        </p:grpSpPr>
        <p:sp>
          <p:nvSpPr>
            <p:cNvPr id="144" name="Freeform 362">
              <a:extLst>
                <a:ext uri="{FF2B5EF4-FFF2-40B4-BE49-F238E27FC236}">
                  <a16:creationId xmlns:a16="http://schemas.microsoft.com/office/drawing/2014/main" id="{33F16BE6-FF6E-BE60-4040-291E68C48E63}"/>
                </a:ext>
              </a:extLst>
            </p:cNvPr>
            <p:cNvSpPr/>
            <p:nvPr/>
          </p:nvSpPr>
          <p:spPr>
            <a:xfrm>
              <a:off x="1687817" y="4806709"/>
              <a:ext cx="3049337" cy="4725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14" h="1859">
                  <a:moveTo>
                    <a:pt x="6008" y="1859"/>
                  </a:moveTo>
                  <a:lnTo>
                    <a:pt x="0" y="1859"/>
                  </a:lnTo>
                  <a:lnTo>
                    <a:pt x="0" y="0"/>
                  </a:lnTo>
                  <a:lnTo>
                    <a:pt x="12014" y="0"/>
                  </a:lnTo>
                  <a:lnTo>
                    <a:pt x="12014" y="18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5" name="Freeform 363">
              <a:extLst>
                <a:ext uri="{FF2B5EF4-FFF2-40B4-BE49-F238E27FC236}">
                  <a16:creationId xmlns:a16="http://schemas.microsoft.com/office/drawing/2014/main" id="{EE730089-03E9-3EAB-2246-E774A7C7A8C6}"/>
                </a:ext>
              </a:extLst>
            </p:cNvPr>
            <p:cNvSpPr/>
            <p:nvPr/>
          </p:nvSpPr>
          <p:spPr>
            <a:xfrm>
              <a:off x="1743662" y="4937699"/>
              <a:ext cx="52798" cy="305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9" h="121">
                  <a:moveTo>
                    <a:pt x="106" y="0"/>
                  </a:moveTo>
                  <a:lnTo>
                    <a:pt x="0" y="108"/>
                  </a:lnTo>
                  <a:lnTo>
                    <a:pt x="13" y="121"/>
                  </a:lnTo>
                  <a:lnTo>
                    <a:pt x="106" y="42"/>
                  </a:lnTo>
                  <a:lnTo>
                    <a:pt x="194" y="121"/>
                  </a:lnTo>
                  <a:lnTo>
                    <a:pt x="209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6" name="Freeform 364">
              <a:extLst>
                <a:ext uri="{FF2B5EF4-FFF2-40B4-BE49-F238E27FC236}">
                  <a16:creationId xmlns:a16="http://schemas.microsoft.com/office/drawing/2014/main" id="{771A3701-E2F3-E28F-026E-A3AEA87176D2}"/>
                </a:ext>
              </a:extLst>
            </p:cNvPr>
            <p:cNvSpPr/>
            <p:nvPr/>
          </p:nvSpPr>
          <p:spPr>
            <a:xfrm>
              <a:off x="1697970" y="4985262"/>
              <a:ext cx="116511" cy="1434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0" h="565">
                  <a:moveTo>
                    <a:pt x="460" y="9"/>
                  </a:moveTo>
                  <a:cubicBezTo>
                    <a:pt x="460" y="4"/>
                    <a:pt x="460" y="0"/>
                    <a:pt x="453" y="0"/>
                  </a:cubicBezTo>
                  <a:cubicBezTo>
                    <a:pt x="449" y="0"/>
                    <a:pt x="447" y="0"/>
                    <a:pt x="438" y="11"/>
                  </a:cubicBezTo>
                  <a:lnTo>
                    <a:pt x="400" y="55"/>
                  </a:lnTo>
                  <a:cubicBezTo>
                    <a:pt x="381" y="20"/>
                    <a:pt x="341" y="0"/>
                    <a:pt x="290" y="0"/>
                  </a:cubicBezTo>
                  <a:cubicBezTo>
                    <a:pt x="191" y="0"/>
                    <a:pt x="97" y="90"/>
                    <a:pt x="97" y="183"/>
                  </a:cubicBezTo>
                  <a:cubicBezTo>
                    <a:pt x="97" y="246"/>
                    <a:pt x="139" y="282"/>
                    <a:pt x="178" y="293"/>
                  </a:cubicBezTo>
                  <a:lnTo>
                    <a:pt x="262" y="315"/>
                  </a:lnTo>
                  <a:cubicBezTo>
                    <a:pt x="290" y="321"/>
                    <a:pt x="334" y="334"/>
                    <a:pt x="334" y="398"/>
                  </a:cubicBezTo>
                  <a:cubicBezTo>
                    <a:pt x="334" y="466"/>
                    <a:pt x="271" y="541"/>
                    <a:pt x="194" y="541"/>
                  </a:cubicBezTo>
                  <a:cubicBezTo>
                    <a:pt x="143" y="541"/>
                    <a:pt x="57" y="524"/>
                    <a:pt x="57" y="427"/>
                  </a:cubicBezTo>
                  <a:cubicBezTo>
                    <a:pt x="57" y="409"/>
                    <a:pt x="62" y="389"/>
                    <a:pt x="62" y="385"/>
                  </a:cubicBezTo>
                  <a:cubicBezTo>
                    <a:pt x="64" y="383"/>
                    <a:pt x="64" y="381"/>
                    <a:pt x="64" y="381"/>
                  </a:cubicBezTo>
                  <a:cubicBezTo>
                    <a:pt x="64" y="372"/>
                    <a:pt x="57" y="372"/>
                    <a:pt x="55" y="372"/>
                  </a:cubicBezTo>
                  <a:cubicBezTo>
                    <a:pt x="51" y="372"/>
                    <a:pt x="48" y="372"/>
                    <a:pt x="46" y="374"/>
                  </a:cubicBezTo>
                  <a:cubicBezTo>
                    <a:pt x="44" y="376"/>
                    <a:pt x="0" y="554"/>
                    <a:pt x="0" y="557"/>
                  </a:cubicBezTo>
                  <a:cubicBezTo>
                    <a:pt x="0" y="561"/>
                    <a:pt x="4" y="565"/>
                    <a:pt x="9" y="565"/>
                  </a:cubicBezTo>
                  <a:cubicBezTo>
                    <a:pt x="13" y="565"/>
                    <a:pt x="13" y="563"/>
                    <a:pt x="22" y="552"/>
                  </a:cubicBezTo>
                  <a:lnTo>
                    <a:pt x="62" y="508"/>
                  </a:lnTo>
                  <a:cubicBezTo>
                    <a:pt x="95" y="554"/>
                    <a:pt x="147" y="565"/>
                    <a:pt x="191" y="565"/>
                  </a:cubicBezTo>
                  <a:cubicBezTo>
                    <a:pt x="297" y="565"/>
                    <a:pt x="389" y="462"/>
                    <a:pt x="389" y="365"/>
                  </a:cubicBezTo>
                  <a:cubicBezTo>
                    <a:pt x="389" y="310"/>
                    <a:pt x="363" y="284"/>
                    <a:pt x="352" y="275"/>
                  </a:cubicBezTo>
                  <a:cubicBezTo>
                    <a:pt x="334" y="255"/>
                    <a:pt x="321" y="253"/>
                    <a:pt x="253" y="235"/>
                  </a:cubicBezTo>
                  <a:cubicBezTo>
                    <a:pt x="235" y="231"/>
                    <a:pt x="207" y="222"/>
                    <a:pt x="200" y="222"/>
                  </a:cubicBezTo>
                  <a:cubicBezTo>
                    <a:pt x="180" y="213"/>
                    <a:pt x="154" y="191"/>
                    <a:pt x="154" y="150"/>
                  </a:cubicBezTo>
                  <a:cubicBezTo>
                    <a:pt x="154" y="88"/>
                    <a:pt x="216" y="22"/>
                    <a:pt x="288" y="22"/>
                  </a:cubicBezTo>
                  <a:cubicBezTo>
                    <a:pt x="354" y="22"/>
                    <a:pt x="400" y="55"/>
                    <a:pt x="400" y="143"/>
                  </a:cubicBezTo>
                  <a:cubicBezTo>
                    <a:pt x="400" y="167"/>
                    <a:pt x="398" y="180"/>
                    <a:pt x="398" y="185"/>
                  </a:cubicBezTo>
                  <a:cubicBezTo>
                    <a:pt x="398" y="187"/>
                    <a:pt x="398" y="194"/>
                    <a:pt x="407" y="194"/>
                  </a:cubicBezTo>
                  <a:cubicBezTo>
                    <a:pt x="416" y="194"/>
                    <a:pt x="416" y="191"/>
                    <a:pt x="418" y="1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7" name="Freeform 365">
              <a:extLst>
                <a:ext uri="{FF2B5EF4-FFF2-40B4-BE49-F238E27FC236}">
                  <a16:creationId xmlns:a16="http://schemas.microsoft.com/office/drawing/2014/main" id="{F4A02AC7-7F46-B5E2-4C1A-188F7ACE2364}"/>
                </a:ext>
              </a:extLst>
            </p:cNvPr>
            <p:cNvSpPr/>
            <p:nvPr/>
          </p:nvSpPr>
          <p:spPr>
            <a:xfrm>
              <a:off x="1829205" y="4957284"/>
              <a:ext cx="101281" cy="10148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0" h="400">
                  <a:moveTo>
                    <a:pt x="213" y="213"/>
                  </a:moveTo>
                  <a:lnTo>
                    <a:pt x="381" y="213"/>
                  </a:lnTo>
                  <a:cubicBezTo>
                    <a:pt x="387" y="213"/>
                    <a:pt x="400" y="213"/>
                    <a:pt x="400" y="200"/>
                  </a:cubicBezTo>
                  <a:cubicBezTo>
                    <a:pt x="400" y="187"/>
                    <a:pt x="387" y="187"/>
                    <a:pt x="381" y="187"/>
                  </a:cubicBezTo>
                  <a:lnTo>
                    <a:pt x="213" y="187"/>
                  </a:lnTo>
                  <a:lnTo>
                    <a:pt x="213" y="20"/>
                  </a:lnTo>
                  <a:cubicBezTo>
                    <a:pt x="213" y="13"/>
                    <a:pt x="213" y="0"/>
                    <a:pt x="200" y="0"/>
                  </a:cubicBezTo>
                  <a:cubicBezTo>
                    <a:pt x="187" y="0"/>
                    <a:pt x="187" y="13"/>
                    <a:pt x="187" y="20"/>
                  </a:cubicBezTo>
                  <a:lnTo>
                    <a:pt x="187" y="187"/>
                  </a:lnTo>
                  <a:lnTo>
                    <a:pt x="20" y="187"/>
                  </a:lnTo>
                  <a:cubicBezTo>
                    <a:pt x="13" y="187"/>
                    <a:pt x="0" y="187"/>
                    <a:pt x="0" y="200"/>
                  </a:cubicBezTo>
                  <a:cubicBezTo>
                    <a:pt x="0" y="213"/>
                    <a:pt x="13" y="213"/>
                    <a:pt x="20" y="213"/>
                  </a:cubicBezTo>
                  <a:lnTo>
                    <a:pt x="187" y="213"/>
                  </a:lnTo>
                  <a:lnTo>
                    <a:pt x="187" y="381"/>
                  </a:lnTo>
                  <a:cubicBezTo>
                    <a:pt x="187" y="387"/>
                    <a:pt x="187" y="400"/>
                    <a:pt x="200" y="400"/>
                  </a:cubicBezTo>
                  <a:cubicBezTo>
                    <a:pt x="213" y="400"/>
                    <a:pt x="213" y="389"/>
                    <a:pt x="213" y="38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8" name="Freeform 366">
              <a:extLst>
                <a:ext uri="{FF2B5EF4-FFF2-40B4-BE49-F238E27FC236}">
                  <a16:creationId xmlns:a16="http://schemas.microsoft.com/office/drawing/2014/main" id="{434E50D5-9413-C953-61AE-6E4A246020CA}"/>
                </a:ext>
              </a:extLst>
            </p:cNvPr>
            <p:cNvSpPr/>
            <p:nvPr/>
          </p:nvSpPr>
          <p:spPr>
            <a:xfrm>
              <a:off x="1973130" y="4976360"/>
              <a:ext cx="8123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" h="774">
                  <a:moveTo>
                    <a:pt x="33" y="29"/>
                  </a:moveTo>
                  <a:cubicBezTo>
                    <a:pt x="33" y="13"/>
                    <a:pt x="33" y="0"/>
                    <a:pt x="18" y="0"/>
                  </a:cubicBezTo>
                  <a:cubicBezTo>
                    <a:pt x="0" y="0"/>
                    <a:pt x="0" y="13"/>
                    <a:pt x="0" y="29"/>
                  </a:cubicBezTo>
                  <a:lnTo>
                    <a:pt x="0" y="748"/>
                  </a:lnTo>
                  <a:cubicBezTo>
                    <a:pt x="0" y="761"/>
                    <a:pt x="0" y="774"/>
                    <a:pt x="18" y="774"/>
                  </a:cubicBezTo>
                  <a:cubicBezTo>
                    <a:pt x="33" y="774"/>
                    <a:pt x="33" y="761"/>
                    <a:pt x="33" y="7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49" name="Freeform 367">
              <a:extLst>
                <a:ext uri="{FF2B5EF4-FFF2-40B4-BE49-F238E27FC236}">
                  <a16:creationId xmlns:a16="http://schemas.microsoft.com/office/drawing/2014/main" id="{04962523-F4F3-4B25-F17F-7F1276535734}"/>
                </a:ext>
              </a:extLst>
            </p:cNvPr>
            <p:cNvSpPr/>
            <p:nvPr/>
          </p:nvSpPr>
          <p:spPr>
            <a:xfrm>
              <a:off x="2009935" y="5036640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0" name="Freeform 368">
              <a:extLst>
                <a:ext uri="{FF2B5EF4-FFF2-40B4-BE49-F238E27FC236}">
                  <a16:creationId xmlns:a16="http://schemas.microsoft.com/office/drawing/2014/main" id="{2EC8FD88-247B-5D58-2694-12E11DCC5D82}"/>
                </a:ext>
              </a:extLst>
            </p:cNvPr>
            <p:cNvSpPr/>
            <p:nvPr/>
          </p:nvSpPr>
          <p:spPr>
            <a:xfrm>
              <a:off x="2132792" y="4976360"/>
              <a:ext cx="43914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4" h="774">
                  <a:moveTo>
                    <a:pt x="172" y="400"/>
                  </a:moveTo>
                  <a:cubicBezTo>
                    <a:pt x="174" y="392"/>
                    <a:pt x="174" y="389"/>
                    <a:pt x="174" y="387"/>
                  </a:cubicBezTo>
                  <a:cubicBezTo>
                    <a:pt x="174" y="385"/>
                    <a:pt x="174" y="383"/>
                    <a:pt x="172" y="374"/>
                  </a:cubicBezTo>
                  <a:lnTo>
                    <a:pt x="33" y="18"/>
                  </a:lnTo>
                  <a:cubicBezTo>
                    <a:pt x="29" y="4"/>
                    <a:pt x="24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18"/>
                    <a:pt x="0" y="20"/>
                    <a:pt x="4" y="29"/>
                  </a:cubicBezTo>
                  <a:lnTo>
                    <a:pt x="143" y="387"/>
                  </a:lnTo>
                  <a:lnTo>
                    <a:pt x="4" y="746"/>
                  </a:lnTo>
                  <a:cubicBezTo>
                    <a:pt x="0" y="755"/>
                    <a:pt x="0" y="757"/>
                    <a:pt x="0" y="759"/>
                  </a:cubicBezTo>
                  <a:cubicBezTo>
                    <a:pt x="0" y="768"/>
                    <a:pt x="7" y="774"/>
                    <a:pt x="15" y="774"/>
                  </a:cubicBezTo>
                  <a:cubicBezTo>
                    <a:pt x="26" y="774"/>
                    <a:pt x="29" y="768"/>
                    <a:pt x="33" y="7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1" name="Freeform 369">
              <a:extLst>
                <a:ext uri="{FF2B5EF4-FFF2-40B4-BE49-F238E27FC236}">
                  <a16:creationId xmlns:a16="http://schemas.microsoft.com/office/drawing/2014/main" id="{5312D7EA-74E0-96AE-83F0-BA355476C52F}"/>
                </a:ext>
              </a:extLst>
            </p:cNvPr>
            <p:cNvSpPr/>
            <p:nvPr/>
          </p:nvSpPr>
          <p:spPr>
            <a:xfrm>
              <a:off x="2264026" y="5051138"/>
              <a:ext cx="130980" cy="4629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7" h="183">
                  <a:moveTo>
                    <a:pt x="491" y="31"/>
                  </a:moveTo>
                  <a:cubicBezTo>
                    <a:pt x="502" y="31"/>
                    <a:pt x="517" y="31"/>
                    <a:pt x="517" y="15"/>
                  </a:cubicBezTo>
                  <a:cubicBezTo>
                    <a:pt x="517" y="0"/>
                    <a:pt x="502" y="0"/>
                    <a:pt x="491" y="0"/>
                  </a:cubicBezTo>
                  <a:lnTo>
                    <a:pt x="26" y="0"/>
                  </a:lnTo>
                  <a:cubicBezTo>
                    <a:pt x="15" y="0"/>
                    <a:pt x="0" y="0"/>
                    <a:pt x="0" y="15"/>
                  </a:cubicBezTo>
                  <a:cubicBezTo>
                    <a:pt x="0" y="31"/>
                    <a:pt x="15" y="31"/>
                    <a:pt x="26" y="31"/>
                  </a:cubicBezTo>
                  <a:close/>
                  <a:moveTo>
                    <a:pt x="491" y="183"/>
                  </a:moveTo>
                  <a:cubicBezTo>
                    <a:pt x="502" y="183"/>
                    <a:pt x="517" y="183"/>
                    <a:pt x="517" y="167"/>
                  </a:cubicBezTo>
                  <a:cubicBezTo>
                    <a:pt x="517" y="152"/>
                    <a:pt x="502" y="152"/>
                    <a:pt x="491" y="152"/>
                  </a:cubicBezTo>
                  <a:lnTo>
                    <a:pt x="26" y="152"/>
                  </a:lnTo>
                  <a:cubicBezTo>
                    <a:pt x="15" y="152"/>
                    <a:pt x="0" y="152"/>
                    <a:pt x="0" y="167"/>
                  </a:cubicBezTo>
                  <a:cubicBezTo>
                    <a:pt x="0" y="183"/>
                    <a:pt x="15" y="183"/>
                    <a:pt x="26" y="1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2" name="Freeform 370">
              <a:extLst>
                <a:ext uri="{FF2B5EF4-FFF2-40B4-BE49-F238E27FC236}">
                  <a16:creationId xmlns:a16="http://schemas.microsoft.com/office/drawing/2014/main" id="{66778AB0-BF31-5456-9838-3AC8042CE69D}"/>
                </a:ext>
              </a:extLst>
            </p:cNvPr>
            <p:cNvSpPr/>
            <p:nvPr/>
          </p:nvSpPr>
          <p:spPr>
            <a:xfrm>
              <a:off x="2481818" y="4806709"/>
              <a:ext cx="178447" cy="4725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4" h="1859">
                  <a:moveTo>
                    <a:pt x="275" y="1705"/>
                  </a:moveTo>
                  <a:lnTo>
                    <a:pt x="108" y="928"/>
                  </a:lnTo>
                  <a:lnTo>
                    <a:pt x="4" y="1089"/>
                  </a:lnTo>
                  <a:cubicBezTo>
                    <a:pt x="0" y="1096"/>
                    <a:pt x="0" y="1098"/>
                    <a:pt x="0" y="1098"/>
                  </a:cubicBezTo>
                  <a:cubicBezTo>
                    <a:pt x="0" y="1100"/>
                    <a:pt x="11" y="1109"/>
                    <a:pt x="11" y="1111"/>
                  </a:cubicBezTo>
                  <a:lnTo>
                    <a:pt x="64" y="1027"/>
                  </a:lnTo>
                  <a:lnTo>
                    <a:pt x="242" y="1859"/>
                  </a:lnTo>
                  <a:cubicBezTo>
                    <a:pt x="268" y="1859"/>
                    <a:pt x="271" y="1859"/>
                    <a:pt x="275" y="1837"/>
                  </a:cubicBezTo>
                  <a:lnTo>
                    <a:pt x="702" y="31"/>
                  </a:lnTo>
                  <a:cubicBezTo>
                    <a:pt x="704" y="26"/>
                    <a:pt x="704" y="20"/>
                    <a:pt x="704" y="15"/>
                  </a:cubicBezTo>
                  <a:cubicBezTo>
                    <a:pt x="704" y="7"/>
                    <a:pt x="700" y="0"/>
                    <a:pt x="689" y="0"/>
                  </a:cubicBezTo>
                  <a:cubicBezTo>
                    <a:pt x="678" y="0"/>
                    <a:pt x="675" y="11"/>
                    <a:pt x="673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3" name="Freeform 371">
              <a:extLst>
                <a:ext uri="{FF2B5EF4-FFF2-40B4-BE49-F238E27FC236}">
                  <a16:creationId xmlns:a16="http://schemas.microsoft.com/office/drawing/2014/main" id="{2297B634-5557-911A-EFCC-E122863EC22B}"/>
                </a:ext>
              </a:extLst>
            </p:cNvPr>
            <p:cNvSpPr/>
            <p:nvPr/>
          </p:nvSpPr>
          <p:spPr>
            <a:xfrm>
              <a:off x="2656204" y="4806709"/>
              <a:ext cx="1494081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87" h="33">
                  <a:moveTo>
                    <a:pt x="2944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5887" y="0"/>
                  </a:lnTo>
                  <a:lnTo>
                    <a:pt x="5887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4" name="Freeform 372">
              <a:extLst>
                <a:ext uri="{FF2B5EF4-FFF2-40B4-BE49-F238E27FC236}">
                  <a16:creationId xmlns:a16="http://schemas.microsoft.com/office/drawing/2014/main" id="{F63E4F13-1E0F-EE45-3E0B-B076B240ED85}"/>
                </a:ext>
              </a:extLst>
            </p:cNvPr>
            <p:cNvSpPr/>
            <p:nvPr/>
          </p:nvSpPr>
          <p:spPr>
            <a:xfrm>
              <a:off x="2675749" y="4976360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768"/>
                  </a:moveTo>
                  <a:cubicBezTo>
                    <a:pt x="183" y="766"/>
                    <a:pt x="183" y="763"/>
                    <a:pt x="167" y="750"/>
                  </a:cubicBezTo>
                  <a:cubicBezTo>
                    <a:pt x="70" y="653"/>
                    <a:pt x="46" y="506"/>
                    <a:pt x="46" y="387"/>
                  </a:cubicBezTo>
                  <a:cubicBezTo>
                    <a:pt x="46" y="253"/>
                    <a:pt x="75" y="119"/>
                    <a:pt x="172" y="22"/>
                  </a:cubicBezTo>
                  <a:cubicBezTo>
                    <a:pt x="183" y="11"/>
                    <a:pt x="183" y="11"/>
                    <a:pt x="183" y="9"/>
                  </a:cubicBezTo>
                  <a:cubicBezTo>
                    <a:pt x="183" y="2"/>
                    <a:pt x="178" y="0"/>
                    <a:pt x="174" y="0"/>
                  </a:cubicBezTo>
                  <a:cubicBezTo>
                    <a:pt x="165" y="0"/>
                    <a:pt x="95" y="53"/>
                    <a:pt x="48" y="152"/>
                  </a:cubicBezTo>
                  <a:cubicBezTo>
                    <a:pt x="9" y="238"/>
                    <a:pt x="0" y="323"/>
                    <a:pt x="0" y="387"/>
                  </a:cubicBezTo>
                  <a:cubicBezTo>
                    <a:pt x="0" y="449"/>
                    <a:pt x="9" y="541"/>
                    <a:pt x="51" y="629"/>
                  </a:cubicBezTo>
                  <a:cubicBezTo>
                    <a:pt x="99" y="726"/>
                    <a:pt x="165" y="774"/>
                    <a:pt x="174" y="774"/>
                  </a:cubicBezTo>
                  <a:cubicBezTo>
                    <a:pt x="178" y="774"/>
                    <a:pt x="183" y="772"/>
                    <a:pt x="183" y="76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5" name="Freeform 373">
              <a:extLst>
                <a:ext uri="{FF2B5EF4-FFF2-40B4-BE49-F238E27FC236}">
                  <a16:creationId xmlns:a16="http://schemas.microsoft.com/office/drawing/2014/main" id="{D58AB8CA-B186-E7F3-DB58-BF1F5E02DCED}"/>
                </a:ext>
              </a:extLst>
            </p:cNvPr>
            <p:cNvSpPr/>
            <p:nvPr/>
          </p:nvSpPr>
          <p:spPr>
            <a:xfrm>
              <a:off x="2742761" y="4992384"/>
              <a:ext cx="78435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0" h="517">
                  <a:moveTo>
                    <a:pt x="59" y="458"/>
                  </a:moveTo>
                  <a:lnTo>
                    <a:pt x="143" y="378"/>
                  </a:lnTo>
                  <a:cubicBezTo>
                    <a:pt x="264" y="271"/>
                    <a:pt x="310" y="229"/>
                    <a:pt x="310" y="150"/>
                  </a:cubicBezTo>
                  <a:cubicBezTo>
                    <a:pt x="310" y="62"/>
                    <a:pt x="240" y="0"/>
                    <a:pt x="145" y="0"/>
                  </a:cubicBezTo>
                  <a:cubicBezTo>
                    <a:pt x="57" y="0"/>
                    <a:pt x="0" y="70"/>
                    <a:pt x="0" y="141"/>
                  </a:cubicBezTo>
                  <a:cubicBezTo>
                    <a:pt x="0" y="185"/>
                    <a:pt x="40" y="185"/>
                    <a:pt x="42" y="185"/>
                  </a:cubicBezTo>
                  <a:cubicBezTo>
                    <a:pt x="55" y="185"/>
                    <a:pt x="81" y="174"/>
                    <a:pt x="81" y="143"/>
                  </a:cubicBezTo>
                  <a:cubicBezTo>
                    <a:pt x="81" y="123"/>
                    <a:pt x="68" y="103"/>
                    <a:pt x="40" y="103"/>
                  </a:cubicBezTo>
                  <a:cubicBezTo>
                    <a:pt x="35" y="103"/>
                    <a:pt x="33" y="103"/>
                    <a:pt x="31" y="103"/>
                  </a:cubicBezTo>
                  <a:cubicBezTo>
                    <a:pt x="48" y="53"/>
                    <a:pt x="90" y="24"/>
                    <a:pt x="136" y="24"/>
                  </a:cubicBezTo>
                  <a:cubicBezTo>
                    <a:pt x="207" y="24"/>
                    <a:pt x="240" y="88"/>
                    <a:pt x="240" y="150"/>
                  </a:cubicBezTo>
                  <a:cubicBezTo>
                    <a:pt x="240" y="213"/>
                    <a:pt x="200" y="275"/>
                    <a:pt x="158" y="321"/>
                  </a:cubicBezTo>
                  <a:lnTo>
                    <a:pt x="9" y="488"/>
                  </a:lnTo>
                  <a:cubicBezTo>
                    <a:pt x="0" y="497"/>
                    <a:pt x="0" y="499"/>
                    <a:pt x="0" y="517"/>
                  </a:cubicBezTo>
                  <a:lnTo>
                    <a:pt x="288" y="517"/>
                  </a:lnTo>
                  <a:lnTo>
                    <a:pt x="310" y="383"/>
                  </a:lnTo>
                  <a:lnTo>
                    <a:pt x="290" y="383"/>
                  </a:lnTo>
                  <a:cubicBezTo>
                    <a:pt x="288" y="405"/>
                    <a:pt x="282" y="440"/>
                    <a:pt x="275" y="451"/>
                  </a:cubicBezTo>
                  <a:cubicBezTo>
                    <a:pt x="268" y="458"/>
                    <a:pt x="218" y="458"/>
                    <a:pt x="200" y="4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6" name="Freeform 374">
              <a:extLst>
                <a:ext uri="{FF2B5EF4-FFF2-40B4-BE49-F238E27FC236}">
                  <a16:creationId xmlns:a16="http://schemas.microsoft.com/office/drawing/2014/main" id="{0F101385-9FB2-BCD4-B5AB-2AF9C4FD7D2C}"/>
                </a:ext>
              </a:extLst>
            </p:cNvPr>
            <p:cNvSpPr/>
            <p:nvPr/>
          </p:nvSpPr>
          <p:spPr>
            <a:xfrm>
              <a:off x="2840997" y="4985262"/>
              <a:ext cx="116511" cy="1434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0" h="565">
                  <a:moveTo>
                    <a:pt x="460" y="9"/>
                  </a:moveTo>
                  <a:cubicBezTo>
                    <a:pt x="460" y="4"/>
                    <a:pt x="460" y="0"/>
                    <a:pt x="453" y="0"/>
                  </a:cubicBezTo>
                  <a:cubicBezTo>
                    <a:pt x="449" y="0"/>
                    <a:pt x="447" y="0"/>
                    <a:pt x="438" y="11"/>
                  </a:cubicBezTo>
                  <a:lnTo>
                    <a:pt x="400" y="55"/>
                  </a:lnTo>
                  <a:cubicBezTo>
                    <a:pt x="381" y="20"/>
                    <a:pt x="341" y="0"/>
                    <a:pt x="290" y="0"/>
                  </a:cubicBezTo>
                  <a:cubicBezTo>
                    <a:pt x="191" y="0"/>
                    <a:pt x="97" y="90"/>
                    <a:pt x="97" y="183"/>
                  </a:cubicBezTo>
                  <a:cubicBezTo>
                    <a:pt x="97" y="246"/>
                    <a:pt x="139" y="282"/>
                    <a:pt x="178" y="293"/>
                  </a:cubicBezTo>
                  <a:lnTo>
                    <a:pt x="262" y="315"/>
                  </a:lnTo>
                  <a:cubicBezTo>
                    <a:pt x="290" y="321"/>
                    <a:pt x="334" y="334"/>
                    <a:pt x="334" y="398"/>
                  </a:cubicBezTo>
                  <a:cubicBezTo>
                    <a:pt x="334" y="466"/>
                    <a:pt x="271" y="541"/>
                    <a:pt x="194" y="541"/>
                  </a:cubicBezTo>
                  <a:cubicBezTo>
                    <a:pt x="143" y="541"/>
                    <a:pt x="57" y="524"/>
                    <a:pt x="57" y="427"/>
                  </a:cubicBezTo>
                  <a:cubicBezTo>
                    <a:pt x="57" y="409"/>
                    <a:pt x="62" y="389"/>
                    <a:pt x="62" y="385"/>
                  </a:cubicBezTo>
                  <a:cubicBezTo>
                    <a:pt x="64" y="383"/>
                    <a:pt x="64" y="381"/>
                    <a:pt x="64" y="381"/>
                  </a:cubicBezTo>
                  <a:cubicBezTo>
                    <a:pt x="64" y="372"/>
                    <a:pt x="57" y="372"/>
                    <a:pt x="55" y="372"/>
                  </a:cubicBezTo>
                  <a:cubicBezTo>
                    <a:pt x="51" y="372"/>
                    <a:pt x="48" y="372"/>
                    <a:pt x="46" y="374"/>
                  </a:cubicBezTo>
                  <a:cubicBezTo>
                    <a:pt x="44" y="376"/>
                    <a:pt x="0" y="554"/>
                    <a:pt x="0" y="557"/>
                  </a:cubicBezTo>
                  <a:cubicBezTo>
                    <a:pt x="0" y="561"/>
                    <a:pt x="4" y="565"/>
                    <a:pt x="9" y="565"/>
                  </a:cubicBezTo>
                  <a:cubicBezTo>
                    <a:pt x="13" y="565"/>
                    <a:pt x="13" y="563"/>
                    <a:pt x="22" y="552"/>
                  </a:cubicBezTo>
                  <a:lnTo>
                    <a:pt x="62" y="508"/>
                  </a:lnTo>
                  <a:cubicBezTo>
                    <a:pt x="95" y="554"/>
                    <a:pt x="147" y="565"/>
                    <a:pt x="191" y="565"/>
                  </a:cubicBezTo>
                  <a:cubicBezTo>
                    <a:pt x="297" y="565"/>
                    <a:pt x="389" y="462"/>
                    <a:pt x="389" y="365"/>
                  </a:cubicBezTo>
                  <a:cubicBezTo>
                    <a:pt x="389" y="310"/>
                    <a:pt x="363" y="284"/>
                    <a:pt x="352" y="275"/>
                  </a:cubicBezTo>
                  <a:cubicBezTo>
                    <a:pt x="334" y="255"/>
                    <a:pt x="321" y="253"/>
                    <a:pt x="253" y="235"/>
                  </a:cubicBezTo>
                  <a:cubicBezTo>
                    <a:pt x="235" y="231"/>
                    <a:pt x="207" y="222"/>
                    <a:pt x="200" y="222"/>
                  </a:cubicBezTo>
                  <a:cubicBezTo>
                    <a:pt x="180" y="213"/>
                    <a:pt x="154" y="191"/>
                    <a:pt x="154" y="150"/>
                  </a:cubicBezTo>
                  <a:cubicBezTo>
                    <a:pt x="154" y="88"/>
                    <a:pt x="216" y="22"/>
                    <a:pt x="288" y="22"/>
                  </a:cubicBezTo>
                  <a:cubicBezTo>
                    <a:pt x="354" y="22"/>
                    <a:pt x="400" y="55"/>
                    <a:pt x="400" y="143"/>
                  </a:cubicBezTo>
                  <a:cubicBezTo>
                    <a:pt x="400" y="167"/>
                    <a:pt x="398" y="180"/>
                    <a:pt x="398" y="185"/>
                  </a:cubicBezTo>
                  <a:cubicBezTo>
                    <a:pt x="398" y="187"/>
                    <a:pt x="398" y="194"/>
                    <a:pt x="407" y="194"/>
                  </a:cubicBezTo>
                  <a:cubicBezTo>
                    <a:pt x="416" y="194"/>
                    <a:pt x="416" y="191"/>
                    <a:pt x="418" y="1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7" name="Freeform 375">
              <a:extLst>
                <a:ext uri="{FF2B5EF4-FFF2-40B4-BE49-F238E27FC236}">
                  <a16:creationId xmlns:a16="http://schemas.microsoft.com/office/drawing/2014/main" id="{6CA63991-1AFF-B6E0-EAAD-EC10AE140C42}"/>
                </a:ext>
              </a:extLst>
            </p:cNvPr>
            <p:cNvSpPr/>
            <p:nvPr/>
          </p:nvSpPr>
          <p:spPr>
            <a:xfrm>
              <a:off x="2968423" y="5036640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8" name="Freeform 376">
              <a:extLst>
                <a:ext uri="{FF2B5EF4-FFF2-40B4-BE49-F238E27FC236}">
                  <a16:creationId xmlns:a16="http://schemas.microsoft.com/office/drawing/2014/main" id="{33EF4924-3434-1F9F-3711-24617552D838}"/>
                </a:ext>
              </a:extLst>
            </p:cNvPr>
            <p:cNvSpPr/>
            <p:nvPr/>
          </p:nvSpPr>
          <p:spPr>
            <a:xfrm>
              <a:off x="3091787" y="4976360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387"/>
                  </a:moveTo>
                  <a:cubicBezTo>
                    <a:pt x="183" y="328"/>
                    <a:pt x="174" y="233"/>
                    <a:pt x="130" y="145"/>
                  </a:cubicBezTo>
                  <a:cubicBezTo>
                    <a:pt x="84" y="51"/>
                    <a:pt x="15" y="0"/>
                    <a:pt x="9" y="0"/>
                  </a:cubicBezTo>
                  <a:cubicBezTo>
                    <a:pt x="2" y="0"/>
                    <a:pt x="0" y="2"/>
                    <a:pt x="0" y="9"/>
                  </a:cubicBezTo>
                  <a:cubicBezTo>
                    <a:pt x="0" y="11"/>
                    <a:pt x="0" y="11"/>
                    <a:pt x="15" y="26"/>
                  </a:cubicBezTo>
                  <a:cubicBezTo>
                    <a:pt x="92" y="103"/>
                    <a:pt x="136" y="227"/>
                    <a:pt x="136" y="387"/>
                  </a:cubicBezTo>
                  <a:cubicBezTo>
                    <a:pt x="136" y="521"/>
                    <a:pt x="108" y="658"/>
                    <a:pt x="11" y="755"/>
                  </a:cubicBezTo>
                  <a:cubicBezTo>
                    <a:pt x="0" y="763"/>
                    <a:pt x="0" y="766"/>
                    <a:pt x="0" y="768"/>
                  </a:cubicBezTo>
                  <a:cubicBezTo>
                    <a:pt x="0" y="772"/>
                    <a:pt x="2" y="774"/>
                    <a:pt x="9" y="774"/>
                  </a:cubicBezTo>
                  <a:cubicBezTo>
                    <a:pt x="15" y="774"/>
                    <a:pt x="86" y="722"/>
                    <a:pt x="132" y="625"/>
                  </a:cubicBezTo>
                  <a:cubicBezTo>
                    <a:pt x="172" y="539"/>
                    <a:pt x="183" y="453"/>
                    <a:pt x="183" y="3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59" name="Freeform 377">
              <a:extLst>
                <a:ext uri="{FF2B5EF4-FFF2-40B4-BE49-F238E27FC236}">
                  <a16:creationId xmlns:a16="http://schemas.microsoft.com/office/drawing/2014/main" id="{1DCD8467-89B7-CFE0-DFF8-4D331140EA91}"/>
                </a:ext>
              </a:extLst>
            </p:cNvPr>
            <p:cNvSpPr/>
            <p:nvPr/>
          </p:nvSpPr>
          <p:spPr>
            <a:xfrm>
              <a:off x="3176061" y="4976360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768"/>
                  </a:moveTo>
                  <a:cubicBezTo>
                    <a:pt x="183" y="766"/>
                    <a:pt x="183" y="763"/>
                    <a:pt x="167" y="750"/>
                  </a:cubicBezTo>
                  <a:cubicBezTo>
                    <a:pt x="70" y="653"/>
                    <a:pt x="46" y="506"/>
                    <a:pt x="46" y="387"/>
                  </a:cubicBezTo>
                  <a:cubicBezTo>
                    <a:pt x="46" y="253"/>
                    <a:pt x="75" y="119"/>
                    <a:pt x="172" y="22"/>
                  </a:cubicBezTo>
                  <a:cubicBezTo>
                    <a:pt x="183" y="11"/>
                    <a:pt x="183" y="11"/>
                    <a:pt x="183" y="9"/>
                  </a:cubicBezTo>
                  <a:cubicBezTo>
                    <a:pt x="183" y="2"/>
                    <a:pt x="178" y="0"/>
                    <a:pt x="174" y="0"/>
                  </a:cubicBezTo>
                  <a:cubicBezTo>
                    <a:pt x="165" y="0"/>
                    <a:pt x="95" y="53"/>
                    <a:pt x="48" y="152"/>
                  </a:cubicBezTo>
                  <a:cubicBezTo>
                    <a:pt x="9" y="238"/>
                    <a:pt x="0" y="323"/>
                    <a:pt x="0" y="387"/>
                  </a:cubicBezTo>
                  <a:cubicBezTo>
                    <a:pt x="0" y="449"/>
                    <a:pt x="9" y="541"/>
                    <a:pt x="51" y="629"/>
                  </a:cubicBezTo>
                  <a:cubicBezTo>
                    <a:pt x="99" y="726"/>
                    <a:pt x="165" y="774"/>
                    <a:pt x="174" y="774"/>
                  </a:cubicBezTo>
                  <a:cubicBezTo>
                    <a:pt x="178" y="774"/>
                    <a:pt x="183" y="772"/>
                    <a:pt x="183" y="76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0" name="Freeform 378">
              <a:extLst>
                <a:ext uri="{FF2B5EF4-FFF2-40B4-BE49-F238E27FC236}">
                  <a16:creationId xmlns:a16="http://schemas.microsoft.com/office/drawing/2014/main" id="{1B677F78-F4B7-ECCD-BF89-069CA614D654}"/>
                </a:ext>
              </a:extLst>
            </p:cNvPr>
            <p:cNvSpPr/>
            <p:nvPr/>
          </p:nvSpPr>
          <p:spPr>
            <a:xfrm>
              <a:off x="3250181" y="4992384"/>
              <a:ext cx="64982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7" h="517">
                  <a:moveTo>
                    <a:pt x="161" y="20"/>
                  </a:moveTo>
                  <a:cubicBezTo>
                    <a:pt x="161" y="2"/>
                    <a:pt x="161" y="0"/>
                    <a:pt x="143" y="0"/>
                  </a:cubicBezTo>
                  <a:cubicBezTo>
                    <a:pt x="95" y="51"/>
                    <a:pt x="24" y="51"/>
                    <a:pt x="0" y="51"/>
                  </a:cubicBezTo>
                  <a:lnTo>
                    <a:pt x="0" y="75"/>
                  </a:lnTo>
                  <a:cubicBezTo>
                    <a:pt x="15" y="75"/>
                    <a:pt x="62" y="75"/>
                    <a:pt x="101" y="53"/>
                  </a:cubicBezTo>
                  <a:lnTo>
                    <a:pt x="101" y="455"/>
                  </a:lnTo>
                  <a:cubicBezTo>
                    <a:pt x="101" y="484"/>
                    <a:pt x="99" y="493"/>
                    <a:pt x="29" y="493"/>
                  </a:cubicBezTo>
                  <a:lnTo>
                    <a:pt x="4" y="493"/>
                  </a:lnTo>
                  <a:lnTo>
                    <a:pt x="4" y="517"/>
                  </a:lnTo>
                  <a:cubicBezTo>
                    <a:pt x="33" y="515"/>
                    <a:pt x="99" y="515"/>
                    <a:pt x="132" y="515"/>
                  </a:cubicBezTo>
                  <a:cubicBezTo>
                    <a:pt x="163" y="515"/>
                    <a:pt x="231" y="515"/>
                    <a:pt x="257" y="517"/>
                  </a:cubicBezTo>
                  <a:lnTo>
                    <a:pt x="257" y="493"/>
                  </a:lnTo>
                  <a:lnTo>
                    <a:pt x="233" y="493"/>
                  </a:lnTo>
                  <a:cubicBezTo>
                    <a:pt x="163" y="493"/>
                    <a:pt x="161" y="484"/>
                    <a:pt x="161" y="4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1" name="Freeform 379">
              <a:extLst>
                <a:ext uri="{FF2B5EF4-FFF2-40B4-BE49-F238E27FC236}">
                  <a16:creationId xmlns:a16="http://schemas.microsoft.com/office/drawing/2014/main" id="{969BE4CB-ED50-2364-F3AD-DB2A4FC00BBD}"/>
                </a:ext>
              </a:extLst>
            </p:cNvPr>
            <p:cNvSpPr/>
            <p:nvPr/>
          </p:nvSpPr>
          <p:spPr>
            <a:xfrm>
              <a:off x="3391060" y="5070214"/>
              <a:ext cx="120318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5" h="33">
                  <a:moveTo>
                    <a:pt x="447" y="33"/>
                  </a:moveTo>
                  <a:cubicBezTo>
                    <a:pt x="460" y="33"/>
                    <a:pt x="475" y="33"/>
                    <a:pt x="475" y="18"/>
                  </a:cubicBezTo>
                  <a:cubicBezTo>
                    <a:pt x="475" y="0"/>
                    <a:pt x="460" y="0"/>
                    <a:pt x="447" y="0"/>
                  </a:cubicBezTo>
                  <a:lnTo>
                    <a:pt x="26" y="0"/>
                  </a:lnTo>
                  <a:cubicBezTo>
                    <a:pt x="13" y="0"/>
                    <a:pt x="0" y="0"/>
                    <a:pt x="0" y="18"/>
                  </a:cubicBezTo>
                  <a:cubicBezTo>
                    <a:pt x="0" y="33"/>
                    <a:pt x="13" y="33"/>
                    <a:pt x="26" y="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2" name="Freeform 380">
              <a:extLst>
                <a:ext uri="{FF2B5EF4-FFF2-40B4-BE49-F238E27FC236}">
                  <a16:creationId xmlns:a16="http://schemas.microsoft.com/office/drawing/2014/main" id="{D01E3AFD-05B3-8523-3F00-DD71B894B678}"/>
                </a:ext>
              </a:extLst>
            </p:cNvPr>
            <p:cNvSpPr/>
            <p:nvPr/>
          </p:nvSpPr>
          <p:spPr>
            <a:xfrm>
              <a:off x="3600475" y="4903616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3" name="Freeform 381">
              <a:extLst>
                <a:ext uri="{FF2B5EF4-FFF2-40B4-BE49-F238E27FC236}">
                  <a16:creationId xmlns:a16="http://schemas.microsoft.com/office/drawing/2014/main" id="{17BE715F-BFC5-9896-E7B7-E88063CBC1F2}"/>
                </a:ext>
              </a:extLst>
            </p:cNvPr>
            <p:cNvSpPr/>
            <p:nvPr/>
          </p:nvSpPr>
          <p:spPr>
            <a:xfrm>
              <a:off x="3772323" y="4937699"/>
              <a:ext cx="120318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5" h="33">
                  <a:moveTo>
                    <a:pt x="447" y="33"/>
                  </a:moveTo>
                  <a:cubicBezTo>
                    <a:pt x="460" y="33"/>
                    <a:pt x="475" y="33"/>
                    <a:pt x="475" y="18"/>
                  </a:cubicBezTo>
                  <a:cubicBezTo>
                    <a:pt x="475" y="0"/>
                    <a:pt x="460" y="0"/>
                    <a:pt x="447" y="0"/>
                  </a:cubicBezTo>
                  <a:lnTo>
                    <a:pt x="26" y="0"/>
                  </a:lnTo>
                  <a:cubicBezTo>
                    <a:pt x="13" y="0"/>
                    <a:pt x="0" y="0"/>
                    <a:pt x="0" y="18"/>
                  </a:cubicBezTo>
                  <a:cubicBezTo>
                    <a:pt x="0" y="33"/>
                    <a:pt x="13" y="33"/>
                    <a:pt x="26" y="33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4" name="Freeform 382">
              <a:extLst>
                <a:ext uri="{FF2B5EF4-FFF2-40B4-BE49-F238E27FC236}">
                  <a16:creationId xmlns:a16="http://schemas.microsoft.com/office/drawing/2014/main" id="{9AD8B3B7-FC6B-F20F-DB44-85AD186FB7B5}"/>
                </a:ext>
              </a:extLst>
            </p:cNvPr>
            <p:cNvSpPr/>
            <p:nvPr/>
          </p:nvSpPr>
          <p:spPr>
            <a:xfrm>
              <a:off x="3969554" y="4859359"/>
              <a:ext cx="64982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7" h="517">
                  <a:moveTo>
                    <a:pt x="161" y="20"/>
                  </a:moveTo>
                  <a:cubicBezTo>
                    <a:pt x="161" y="2"/>
                    <a:pt x="161" y="0"/>
                    <a:pt x="143" y="0"/>
                  </a:cubicBezTo>
                  <a:cubicBezTo>
                    <a:pt x="95" y="51"/>
                    <a:pt x="24" y="51"/>
                    <a:pt x="0" y="51"/>
                  </a:cubicBezTo>
                  <a:lnTo>
                    <a:pt x="0" y="75"/>
                  </a:lnTo>
                  <a:cubicBezTo>
                    <a:pt x="15" y="75"/>
                    <a:pt x="62" y="75"/>
                    <a:pt x="101" y="53"/>
                  </a:cubicBezTo>
                  <a:lnTo>
                    <a:pt x="101" y="455"/>
                  </a:lnTo>
                  <a:cubicBezTo>
                    <a:pt x="101" y="484"/>
                    <a:pt x="99" y="493"/>
                    <a:pt x="29" y="493"/>
                  </a:cubicBezTo>
                  <a:lnTo>
                    <a:pt x="4" y="493"/>
                  </a:lnTo>
                  <a:lnTo>
                    <a:pt x="4" y="517"/>
                  </a:lnTo>
                  <a:cubicBezTo>
                    <a:pt x="33" y="515"/>
                    <a:pt x="99" y="515"/>
                    <a:pt x="132" y="515"/>
                  </a:cubicBezTo>
                  <a:cubicBezTo>
                    <a:pt x="163" y="515"/>
                    <a:pt x="231" y="515"/>
                    <a:pt x="257" y="517"/>
                  </a:cubicBezTo>
                  <a:lnTo>
                    <a:pt x="257" y="493"/>
                  </a:lnTo>
                  <a:lnTo>
                    <a:pt x="233" y="493"/>
                  </a:lnTo>
                  <a:cubicBezTo>
                    <a:pt x="163" y="493"/>
                    <a:pt x="161" y="484"/>
                    <a:pt x="161" y="455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5" name="Freeform 383">
              <a:extLst>
                <a:ext uri="{FF2B5EF4-FFF2-40B4-BE49-F238E27FC236}">
                  <a16:creationId xmlns:a16="http://schemas.microsoft.com/office/drawing/2014/main" id="{15584919-6477-5DCC-FE5B-4F6C85F742DF}"/>
                </a:ext>
              </a:extLst>
            </p:cNvPr>
            <p:cNvSpPr/>
            <p:nvPr/>
          </p:nvSpPr>
          <p:spPr>
            <a:xfrm>
              <a:off x="3717240" y="5127443"/>
              <a:ext cx="78435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0" h="517">
                  <a:moveTo>
                    <a:pt x="59" y="458"/>
                  </a:moveTo>
                  <a:lnTo>
                    <a:pt x="143" y="378"/>
                  </a:lnTo>
                  <a:cubicBezTo>
                    <a:pt x="264" y="271"/>
                    <a:pt x="310" y="229"/>
                    <a:pt x="310" y="150"/>
                  </a:cubicBezTo>
                  <a:cubicBezTo>
                    <a:pt x="310" y="62"/>
                    <a:pt x="240" y="0"/>
                    <a:pt x="145" y="0"/>
                  </a:cubicBezTo>
                  <a:cubicBezTo>
                    <a:pt x="57" y="0"/>
                    <a:pt x="0" y="70"/>
                    <a:pt x="0" y="141"/>
                  </a:cubicBezTo>
                  <a:cubicBezTo>
                    <a:pt x="0" y="185"/>
                    <a:pt x="40" y="185"/>
                    <a:pt x="42" y="185"/>
                  </a:cubicBezTo>
                  <a:cubicBezTo>
                    <a:pt x="55" y="185"/>
                    <a:pt x="81" y="174"/>
                    <a:pt x="81" y="143"/>
                  </a:cubicBezTo>
                  <a:cubicBezTo>
                    <a:pt x="81" y="123"/>
                    <a:pt x="68" y="103"/>
                    <a:pt x="40" y="103"/>
                  </a:cubicBezTo>
                  <a:cubicBezTo>
                    <a:pt x="35" y="103"/>
                    <a:pt x="33" y="103"/>
                    <a:pt x="31" y="103"/>
                  </a:cubicBezTo>
                  <a:cubicBezTo>
                    <a:pt x="48" y="53"/>
                    <a:pt x="90" y="24"/>
                    <a:pt x="136" y="24"/>
                  </a:cubicBezTo>
                  <a:cubicBezTo>
                    <a:pt x="207" y="24"/>
                    <a:pt x="240" y="88"/>
                    <a:pt x="240" y="150"/>
                  </a:cubicBezTo>
                  <a:cubicBezTo>
                    <a:pt x="240" y="213"/>
                    <a:pt x="200" y="275"/>
                    <a:pt x="158" y="321"/>
                  </a:cubicBezTo>
                  <a:lnTo>
                    <a:pt x="9" y="488"/>
                  </a:lnTo>
                  <a:cubicBezTo>
                    <a:pt x="0" y="497"/>
                    <a:pt x="0" y="499"/>
                    <a:pt x="0" y="517"/>
                  </a:cubicBezTo>
                  <a:lnTo>
                    <a:pt x="288" y="517"/>
                  </a:lnTo>
                  <a:lnTo>
                    <a:pt x="310" y="383"/>
                  </a:lnTo>
                  <a:lnTo>
                    <a:pt x="290" y="383"/>
                  </a:lnTo>
                  <a:cubicBezTo>
                    <a:pt x="288" y="405"/>
                    <a:pt x="282" y="440"/>
                    <a:pt x="275" y="451"/>
                  </a:cubicBezTo>
                  <a:cubicBezTo>
                    <a:pt x="268" y="458"/>
                    <a:pt x="218" y="458"/>
                    <a:pt x="200" y="458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6" name="Freeform 384">
              <a:extLst>
                <a:ext uri="{FF2B5EF4-FFF2-40B4-BE49-F238E27FC236}">
                  <a16:creationId xmlns:a16="http://schemas.microsoft.com/office/drawing/2014/main" id="{86A8433A-ADD2-6F6D-C42E-FFBFF5D4D7F3}"/>
                </a:ext>
              </a:extLst>
            </p:cNvPr>
            <p:cNvSpPr/>
            <p:nvPr/>
          </p:nvSpPr>
          <p:spPr>
            <a:xfrm>
              <a:off x="3815983" y="5120066"/>
              <a:ext cx="116511" cy="1434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0" h="565">
                  <a:moveTo>
                    <a:pt x="460" y="9"/>
                  </a:moveTo>
                  <a:cubicBezTo>
                    <a:pt x="460" y="4"/>
                    <a:pt x="460" y="0"/>
                    <a:pt x="453" y="0"/>
                  </a:cubicBezTo>
                  <a:cubicBezTo>
                    <a:pt x="449" y="0"/>
                    <a:pt x="447" y="0"/>
                    <a:pt x="438" y="11"/>
                  </a:cubicBezTo>
                  <a:lnTo>
                    <a:pt x="400" y="55"/>
                  </a:lnTo>
                  <a:cubicBezTo>
                    <a:pt x="381" y="20"/>
                    <a:pt x="341" y="0"/>
                    <a:pt x="290" y="0"/>
                  </a:cubicBezTo>
                  <a:cubicBezTo>
                    <a:pt x="191" y="0"/>
                    <a:pt x="97" y="90"/>
                    <a:pt x="97" y="183"/>
                  </a:cubicBezTo>
                  <a:cubicBezTo>
                    <a:pt x="97" y="246"/>
                    <a:pt x="139" y="282"/>
                    <a:pt x="178" y="293"/>
                  </a:cubicBezTo>
                  <a:lnTo>
                    <a:pt x="262" y="315"/>
                  </a:lnTo>
                  <a:cubicBezTo>
                    <a:pt x="290" y="321"/>
                    <a:pt x="334" y="334"/>
                    <a:pt x="334" y="398"/>
                  </a:cubicBezTo>
                  <a:cubicBezTo>
                    <a:pt x="334" y="466"/>
                    <a:pt x="271" y="541"/>
                    <a:pt x="194" y="541"/>
                  </a:cubicBezTo>
                  <a:cubicBezTo>
                    <a:pt x="143" y="541"/>
                    <a:pt x="57" y="524"/>
                    <a:pt x="57" y="427"/>
                  </a:cubicBezTo>
                  <a:cubicBezTo>
                    <a:pt x="57" y="409"/>
                    <a:pt x="62" y="389"/>
                    <a:pt x="62" y="385"/>
                  </a:cubicBezTo>
                  <a:cubicBezTo>
                    <a:pt x="64" y="383"/>
                    <a:pt x="64" y="381"/>
                    <a:pt x="64" y="381"/>
                  </a:cubicBezTo>
                  <a:cubicBezTo>
                    <a:pt x="64" y="372"/>
                    <a:pt x="57" y="372"/>
                    <a:pt x="55" y="372"/>
                  </a:cubicBezTo>
                  <a:cubicBezTo>
                    <a:pt x="51" y="372"/>
                    <a:pt x="48" y="372"/>
                    <a:pt x="46" y="374"/>
                  </a:cubicBezTo>
                  <a:cubicBezTo>
                    <a:pt x="44" y="376"/>
                    <a:pt x="0" y="554"/>
                    <a:pt x="0" y="557"/>
                  </a:cubicBezTo>
                  <a:cubicBezTo>
                    <a:pt x="0" y="561"/>
                    <a:pt x="4" y="565"/>
                    <a:pt x="9" y="565"/>
                  </a:cubicBezTo>
                  <a:cubicBezTo>
                    <a:pt x="13" y="565"/>
                    <a:pt x="13" y="563"/>
                    <a:pt x="22" y="552"/>
                  </a:cubicBezTo>
                  <a:lnTo>
                    <a:pt x="62" y="508"/>
                  </a:lnTo>
                  <a:cubicBezTo>
                    <a:pt x="95" y="554"/>
                    <a:pt x="147" y="565"/>
                    <a:pt x="191" y="565"/>
                  </a:cubicBezTo>
                  <a:cubicBezTo>
                    <a:pt x="297" y="565"/>
                    <a:pt x="389" y="462"/>
                    <a:pt x="389" y="365"/>
                  </a:cubicBezTo>
                  <a:cubicBezTo>
                    <a:pt x="389" y="310"/>
                    <a:pt x="363" y="284"/>
                    <a:pt x="352" y="275"/>
                  </a:cubicBezTo>
                  <a:cubicBezTo>
                    <a:pt x="334" y="255"/>
                    <a:pt x="321" y="253"/>
                    <a:pt x="253" y="235"/>
                  </a:cubicBezTo>
                  <a:cubicBezTo>
                    <a:pt x="235" y="231"/>
                    <a:pt x="207" y="222"/>
                    <a:pt x="200" y="222"/>
                  </a:cubicBezTo>
                  <a:cubicBezTo>
                    <a:pt x="180" y="213"/>
                    <a:pt x="154" y="191"/>
                    <a:pt x="154" y="150"/>
                  </a:cubicBezTo>
                  <a:cubicBezTo>
                    <a:pt x="154" y="88"/>
                    <a:pt x="216" y="22"/>
                    <a:pt x="288" y="22"/>
                  </a:cubicBezTo>
                  <a:cubicBezTo>
                    <a:pt x="354" y="22"/>
                    <a:pt x="400" y="55"/>
                    <a:pt x="400" y="143"/>
                  </a:cubicBezTo>
                  <a:cubicBezTo>
                    <a:pt x="400" y="167"/>
                    <a:pt x="398" y="180"/>
                    <a:pt x="398" y="185"/>
                  </a:cubicBezTo>
                  <a:cubicBezTo>
                    <a:pt x="398" y="187"/>
                    <a:pt x="398" y="194"/>
                    <a:pt x="407" y="194"/>
                  </a:cubicBezTo>
                  <a:cubicBezTo>
                    <a:pt x="416" y="194"/>
                    <a:pt x="416" y="191"/>
                    <a:pt x="418" y="178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7" name="Freeform 385">
              <a:extLst>
                <a:ext uri="{FF2B5EF4-FFF2-40B4-BE49-F238E27FC236}">
                  <a16:creationId xmlns:a16="http://schemas.microsoft.com/office/drawing/2014/main" id="{D5B95C1C-7FA8-2B2E-9544-4DBC1EADB7CB}"/>
                </a:ext>
              </a:extLst>
            </p:cNvPr>
            <p:cNvSpPr/>
            <p:nvPr/>
          </p:nvSpPr>
          <p:spPr>
            <a:xfrm>
              <a:off x="3594383" y="5070214"/>
              <a:ext cx="455890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97" h="33">
                  <a:moveTo>
                    <a:pt x="900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797" y="0"/>
                  </a:lnTo>
                  <a:lnTo>
                    <a:pt x="1797" y="3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8" name="Freeform 386">
              <a:extLst>
                <a:ext uri="{FF2B5EF4-FFF2-40B4-BE49-F238E27FC236}">
                  <a16:creationId xmlns:a16="http://schemas.microsoft.com/office/drawing/2014/main" id="{BEA9FEDE-B150-CBB6-990E-21C8F354BED6}"/>
                </a:ext>
              </a:extLst>
            </p:cNvPr>
            <p:cNvSpPr/>
            <p:nvPr/>
          </p:nvSpPr>
          <p:spPr>
            <a:xfrm>
              <a:off x="4085049" y="4976360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387"/>
                  </a:moveTo>
                  <a:cubicBezTo>
                    <a:pt x="183" y="328"/>
                    <a:pt x="174" y="233"/>
                    <a:pt x="130" y="145"/>
                  </a:cubicBezTo>
                  <a:cubicBezTo>
                    <a:pt x="84" y="51"/>
                    <a:pt x="15" y="0"/>
                    <a:pt x="9" y="0"/>
                  </a:cubicBezTo>
                  <a:cubicBezTo>
                    <a:pt x="2" y="0"/>
                    <a:pt x="0" y="2"/>
                    <a:pt x="0" y="9"/>
                  </a:cubicBezTo>
                  <a:cubicBezTo>
                    <a:pt x="0" y="11"/>
                    <a:pt x="0" y="11"/>
                    <a:pt x="15" y="26"/>
                  </a:cubicBezTo>
                  <a:cubicBezTo>
                    <a:pt x="92" y="103"/>
                    <a:pt x="136" y="227"/>
                    <a:pt x="136" y="387"/>
                  </a:cubicBezTo>
                  <a:cubicBezTo>
                    <a:pt x="136" y="521"/>
                    <a:pt x="108" y="658"/>
                    <a:pt x="11" y="755"/>
                  </a:cubicBezTo>
                  <a:cubicBezTo>
                    <a:pt x="0" y="763"/>
                    <a:pt x="0" y="766"/>
                    <a:pt x="0" y="768"/>
                  </a:cubicBezTo>
                  <a:cubicBezTo>
                    <a:pt x="0" y="772"/>
                    <a:pt x="2" y="774"/>
                    <a:pt x="9" y="774"/>
                  </a:cubicBezTo>
                  <a:cubicBezTo>
                    <a:pt x="15" y="774"/>
                    <a:pt x="86" y="722"/>
                    <a:pt x="132" y="625"/>
                  </a:cubicBezTo>
                  <a:cubicBezTo>
                    <a:pt x="172" y="539"/>
                    <a:pt x="183" y="453"/>
                    <a:pt x="183" y="3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69" name="Freeform 387">
              <a:extLst>
                <a:ext uri="{FF2B5EF4-FFF2-40B4-BE49-F238E27FC236}">
                  <a16:creationId xmlns:a16="http://schemas.microsoft.com/office/drawing/2014/main" id="{A7F814CC-91AF-6D2E-BACB-EE23323D2D77}"/>
                </a:ext>
              </a:extLst>
            </p:cNvPr>
            <p:cNvSpPr/>
            <p:nvPr/>
          </p:nvSpPr>
          <p:spPr>
            <a:xfrm>
              <a:off x="4173384" y="4976360"/>
              <a:ext cx="8123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" h="774">
                  <a:moveTo>
                    <a:pt x="33" y="29"/>
                  </a:moveTo>
                  <a:cubicBezTo>
                    <a:pt x="33" y="13"/>
                    <a:pt x="33" y="0"/>
                    <a:pt x="18" y="0"/>
                  </a:cubicBezTo>
                  <a:cubicBezTo>
                    <a:pt x="0" y="0"/>
                    <a:pt x="0" y="13"/>
                    <a:pt x="0" y="29"/>
                  </a:cubicBezTo>
                  <a:lnTo>
                    <a:pt x="0" y="748"/>
                  </a:lnTo>
                  <a:cubicBezTo>
                    <a:pt x="0" y="761"/>
                    <a:pt x="0" y="774"/>
                    <a:pt x="18" y="774"/>
                  </a:cubicBezTo>
                  <a:cubicBezTo>
                    <a:pt x="33" y="774"/>
                    <a:pt x="33" y="761"/>
                    <a:pt x="33" y="7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0" name="Freeform 388">
              <a:extLst>
                <a:ext uri="{FF2B5EF4-FFF2-40B4-BE49-F238E27FC236}">
                  <a16:creationId xmlns:a16="http://schemas.microsoft.com/office/drawing/2014/main" id="{D0507D2F-AE26-B8FA-F530-043358A898D0}"/>
                </a:ext>
              </a:extLst>
            </p:cNvPr>
            <p:cNvSpPr/>
            <p:nvPr/>
          </p:nvSpPr>
          <p:spPr>
            <a:xfrm>
              <a:off x="4210191" y="5036640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1" name="Freeform 389">
              <a:extLst>
                <a:ext uri="{FF2B5EF4-FFF2-40B4-BE49-F238E27FC236}">
                  <a16:creationId xmlns:a16="http://schemas.microsoft.com/office/drawing/2014/main" id="{E4F6B9EB-785F-0976-A20F-B9CA681F13C5}"/>
                </a:ext>
              </a:extLst>
            </p:cNvPr>
            <p:cNvSpPr/>
            <p:nvPr/>
          </p:nvSpPr>
          <p:spPr>
            <a:xfrm>
              <a:off x="4382292" y="5070214"/>
              <a:ext cx="120318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5" h="33">
                  <a:moveTo>
                    <a:pt x="447" y="33"/>
                  </a:moveTo>
                  <a:cubicBezTo>
                    <a:pt x="460" y="33"/>
                    <a:pt x="475" y="33"/>
                    <a:pt x="475" y="18"/>
                  </a:cubicBezTo>
                  <a:cubicBezTo>
                    <a:pt x="475" y="0"/>
                    <a:pt x="460" y="0"/>
                    <a:pt x="447" y="0"/>
                  </a:cubicBezTo>
                  <a:lnTo>
                    <a:pt x="26" y="0"/>
                  </a:lnTo>
                  <a:cubicBezTo>
                    <a:pt x="13" y="0"/>
                    <a:pt x="0" y="0"/>
                    <a:pt x="0" y="18"/>
                  </a:cubicBezTo>
                  <a:cubicBezTo>
                    <a:pt x="0" y="33"/>
                    <a:pt x="13" y="33"/>
                    <a:pt x="26" y="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2" name="Freeform 390">
              <a:extLst>
                <a:ext uri="{FF2B5EF4-FFF2-40B4-BE49-F238E27FC236}">
                  <a16:creationId xmlns:a16="http://schemas.microsoft.com/office/drawing/2014/main" id="{FA965037-033A-889F-E65B-76963464EED9}"/>
                </a:ext>
              </a:extLst>
            </p:cNvPr>
            <p:cNvSpPr/>
            <p:nvPr/>
          </p:nvSpPr>
          <p:spPr>
            <a:xfrm>
              <a:off x="4580030" y="4992384"/>
              <a:ext cx="64982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7" h="517">
                  <a:moveTo>
                    <a:pt x="161" y="20"/>
                  </a:moveTo>
                  <a:cubicBezTo>
                    <a:pt x="161" y="2"/>
                    <a:pt x="161" y="0"/>
                    <a:pt x="143" y="0"/>
                  </a:cubicBezTo>
                  <a:cubicBezTo>
                    <a:pt x="95" y="51"/>
                    <a:pt x="24" y="51"/>
                    <a:pt x="0" y="51"/>
                  </a:cubicBezTo>
                  <a:lnTo>
                    <a:pt x="0" y="75"/>
                  </a:lnTo>
                  <a:cubicBezTo>
                    <a:pt x="15" y="75"/>
                    <a:pt x="62" y="75"/>
                    <a:pt x="101" y="53"/>
                  </a:cubicBezTo>
                  <a:lnTo>
                    <a:pt x="101" y="455"/>
                  </a:lnTo>
                  <a:cubicBezTo>
                    <a:pt x="101" y="484"/>
                    <a:pt x="99" y="493"/>
                    <a:pt x="29" y="493"/>
                  </a:cubicBezTo>
                  <a:lnTo>
                    <a:pt x="4" y="493"/>
                  </a:lnTo>
                  <a:lnTo>
                    <a:pt x="4" y="517"/>
                  </a:lnTo>
                  <a:cubicBezTo>
                    <a:pt x="33" y="515"/>
                    <a:pt x="99" y="515"/>
                    <a:pt x="132" y="515"/>
                  </a:cubicBezTo>
                  <a:cubicBezTo>
                    <a:pt x="163" y="515"/>
                    <a:pt x="231" y="515"/>
                    <a:pt x="257" y="517"/>
                  </a:cubicBezTo>
                  <a:lnTo>
                    <a:pt x="257" y="493"/>
                  </a:lnTo>
                  <a:lnTo>
                    <a:pt x="233" y="493"/>
                  </a:lnTo>
                  <a:cubicBezTo>
                    <a:pt x="163" y="493"/>
                    <a:pt x="161" y="484"/>
                    <a:pt x="161" y="4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3" name="Freeform 391">
              <a:extLst>
                <a:ext uri="{FF2B5EF4-FFF2-40B4-BE49-F238E27FC236}">
                  <a16:creationId xmlns:a16="http://schemas.microsoft.com/office/drawing/2014/main" id="{E9C40E3C-C7BC-303E-081F-054F5089289F}"/>
                </a:ext>
              </a:extLst>
            </p:cNvPr>
            <p:cNvSpPr/>
            <p:nvPr/>
          </p:nvSpPr>
          <p:spPr>
            <a:xfrm>
              <a:off x="4671412" y="4976360"/>
              <a:ext cx="43914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4" h="774">
                  <a:moveTo>
                    <a:pt x="172" y="400"/>
                  </a:moveTo>
                  <a:cubicBezTo>
                    <a:pt x="174" y="392"/>
                    <a:pt x="174" y="389"/>
                    <a:pt x="174" y="387"/>
                  </a:cubicBezTo>
                  <a:cubicBezTo>
                    <a:pt x="174" y="385"/>
                    <a:pt x="174" y="383"/>
                    <a:pt x="172" y="374"/>
                  </a:cubicBezTo>
                  <a:lnTo>
                    <a:pt x="33" y="18"/>
                  </a:lnTo>
                  <a:cubicBezTo>
                    <a:pt x="29" y="4"/>
                    <a:pt x="24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18"/>
                    <a:pt x="0" y="20"/>
                    <a:pt x="4" y="29"/>
                  </a:cubicBezTo>
                  <a:lnTo>
                    <a:pt x="143" y="387"/>
                  </a:lnTo>
                  <a:lnTo>
                    <a:pt x="4" y="746"/>
                  </a:lnTo>
                  <a:cubicBezTo>
                    <a:pt x="0" y="755"/>
                    <a:pt x="0" y="757"/>
                    <a:pt x="0" y="759"/>
                  </a:cubicBezTo>
                  <a:cubicBezTo>
                    <a:pt x="0" y="768"/>
                    <a:pt x="7" y="774"/>
                    <a:pt x="15" y="774"/>
                  </a:cubicBezTo>
                  <a:cubicBezTo>
                    <a:pt x="26" y="774"/>
                    <a:pt x="29" y="768"/>
                    <a:pt x="33" y="7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4" name="Freeform 392">
              <a:extLst>
                <a:ext uri="{FF2B5EF4-FFF2-40B4-BE49-F238E27FC236}">
                  <a16:creationId xmlns:a16="http://schemas.microsoft.com/office/drawing/2014/main" id="{DA5E95BA-0DCB-6B9D-1AD2-66E36065D0CD}"/>
                </a:ext>
              </a:extLst>
            </p:cNvPr>
            <p:cNvSpPr/>
            <p:nvPr/>
          </p:nvSpPr>
          <p:spPr>
            <a:xfrm>
              <a:off x="1673349" y="5449703"/>
              <a:ext cx="3163818" cy="4725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465" h="1859">
                  <a:moveTo>
                    <a:pt x="6233" y="1859"/>
                  </a:moveTo>
                  <a:lnTo>
                    <a:pt x="0" y="1859"/>
                  </a:lnTo>
                  <a:lnTo>
                    <a:pt x="0" y="0"/>
                  </a:lnTo>
                  <a:lnTo>
                    <a:pt x="12465" y="0"/>
                  </a:lnTo>
                  <a:lnTo>
                    <a:pt x="12465" y="18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5" name="Freeform 393">
              <a:extLst>
                <a:ext uri="{FF2B5EF4-FFF2-40B4-BE49-F238E27FC236}">
                  <a16:creationId xmlns:a16="http://schemas.microsoft.com/office/drawing/2014/main" id="{6D792929-CA1E-88DB-1A5B-22C770E9CC0B}"/>
                </a:ext>
              </a:extLst>
            </p:cNvPr>
            <p:cNvSpPr/>
            <p:nvPr/>
          </p:nvSpPr>
          <p:spPr>
            <a:xfrm>
              <a:off x="1729192" y="5559327"/>
              <a:ext cx="52798" cy="305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9" h="121">
                  <a:moveTo>
                    <a:pt x="106" y="0"/>
                  </a:moveTo>
                  <a:lnTo>
                    <a:pt x="0" y="108"/>
                  </a:lnTo>
                  <a:lnTo>
                    <a:pt x="13" y="121"/>
                  </a:lnTo>
                  <a:lnTo>
                    <a:pt x="106" y="42"/>
                  </a:lnTo>
                  <a:lnTo>
                    <a:pt x="194" y="121"/>
                  </a:lnTo>
                  <a:lnTo>
                    <a:pt x="209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6" name="Freeform 394">
              <a:extLst>
                <a:ext uri="{FF2B5EF4-FFF2-40B4-BE49-F238E27FC236}">
                  <a16:creationId xmlns:a16="http://schemas.microsoft.com/office/drawing/2014/main" id="{953AAB56-2467-E6AC-5382-3A740C3AF908}"/>
                </a:ext>
              </a:extLst>
            </p:cNvPr>
            <p:cNvSpPr/>
            <p:nvPr/>
          </p:nvSpPr>
          <p:spPr>
            <a:xfrm>
              <a:off x="1683502" y="5606891"/>
              <a:ext cx="116511" cy="1434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0" h="565">
                  <a:moveTo>
                    <a:pt x="460" y="9"/>
                  </a:moveTo>
                  <a:cubicBezTo>
                    <a:pt x="460" y="4"/>
                    <a:pt x="460" y="0"/>
                    <a:pt x="453" y="0"/>
                  </a:cubicBezTo>
                  <a:cubicBezTo>
                    <a:pt x="449" y="0"/>
                    <a:pt x="447" y="0"/>
                    <a:pt x="438" y="11"/>
                  </a:cubicBezTo>
                  <a:lnTo>
                    <a:pt x="400" y="55"/>
                  </a:lnTo>
                  <a:cubicBezTo>
                    <a:pt x="381" y="20"/>
                    <a:pt x="341" y="0"/>
                    <a:pt x="290" y="0"/>
                  </a:cubicBezTo>
                  <a:cubicBezTo>
                    <a:pt x="191" y="0"/>
                    <a:pt x="97" y="90"/>
                    <a:pt x="97" y="183"/>
                  </a:cubicBezTo>
                  <a:cubicBezTo>
                    <a:pt x="97" y="246"/>
                    <a:pt x="139" y="282"/>
                    <a:pt x="178" y="293"/>
                  </a:cubicBezTo>
                  <a:lnTo>
                    <a:pt x="262" y="315"/>
                  </a:lnTo>
                  <a:cubicBezTo>
                    <a:pt x="290" y="321"/>
                    <a:pt x="334" y="334"/>
                    <a:pt x="334" y="398"/>
                  </a:cubicBezTo>
                  <a:cubicBezTo>
                    <a:pt x="334" y="466"/>
                    <a:pt x="271" y="541"/>
                    <a:pt x="194" y="541"/>
                  </a:cubicBezTo>
                  <a:cubicBezTo>
                    <a:pt x="143" y="541"/>
                    <a:pt x="57" y="524"/>
                    <a:pt x="57" y="427"/>
                  </a:cubicBezTo>
                  <a:cubicBezTo>
                    <a:pt x="57" y="409"/>
                    <a:pt x="62" y="389"/>
                    <a:pt x="62" y="385"/>
                  </a:cubicBezTo>
                  <a:cubicBezTo>
                    <a:pt x="64" y="383"/>
                    <a:pt x="64" y="381"/>
                    <a:pt x="64" y="381"/>
                  </a:cubicBezTo>
                  <a:cubicBezTo>
                    <a:pt x="64" y="372"/>
                    <a:pt x="57" y="372"/>
                    <a:pt x="55" y="372"/>
                  </a:cubicBezTo>
                  <a:cubicBezTo>
                    <a:pt x="51" y="372"/>
                    <a:pt x="48" y="372"/>
                    <a:pt x="46" y="374"/>
                  </a:cubicBezTo>
                  <a:cubicBezTo>
                    <a:pt x="44" y="376"/>
                    <a:pt x="0" y="554"/>
                    <a:pt x="0" y="557"/>
                  </a:cubicBezTo>
                  <a:cubicBezTo>
                    <a:pt x="0" y="561"/>
                    <a:pt x="4" y="565"/>
                    <a:pt x="9" y="565"/>
                  </a:cubicBezTo>
                  <a:cubicBezTo>
                    <a:pt x="13" y="565"/>
                    <a:pt x="13" y="563"/>
                    <a:pt x="22" y="552"/>
                  </a:cubicBezTo>
                  <a:lnTo>
                    <a:pt x="62" y="508"/>
                  </a:lnTo>
                  <a:cubicBezTo>
                    <a:pt x="95" y="554"/>
                    <a:pt x="147" y="565"/>
                    <a:pt x="191" y="565"/>
                  </a:cubicBezTo>
                  <a:cubicBezTo>
                    <a:pt x="297" y="565"/>
                    <a:pt x="389" y="462"/>
                    <a:pt x="389" y="365"/>
                  </a:cubicBezTo>
                  <a:cubicBezTo>
                    <a:pt x="389" y="310"/>
                    <a:pt x="363" y="284"/>
                    <a:pt x="352" y="275"/>
                  </a:cubicBezTo>
                  <a:cubicBezTo>
                    <a:pt x="334" y="255"/>
                    <a:pt x="321" y="253"/>
                    <a:pt x="253" y="235"/>
                  </a:cubicBezTo>
                  <a:cubicBezTo>
                    <a:pt x="235" y="231"/>
                    <a:pt x="207" y="222"/>
                    <a:pt x="200" y="222"/>
                  </a:cubicBezTo>
                  <a:cubicBezTo>
                    <a:pt x="180" y="213"/>
                    <a:pt x="154" y="191"/>
                    <a:pt x="154" y="150"/>
                  </a:cubicBezTo>
                  <a:cubicBezTo>
                    <a:pt x="154" y="88"/>
                    <a:pt x="216" y="22"/>
                    <a:pt x="288" y="22"/>
                  </a:cubicBezTo>
                  <a:cubicBezTo>
                    <a:pt x="354" y="22"/>
                    <a:pt x="400" y="55"/>
                    <a:pt x="400" y="143"/>
                  </a:cubicBezTo>
                  <a:cubicBezTo>
                    <a:pt x="400" y="167"/>
                    <a:pt x="398" y="180"/>
                    <a:pt x="398" y="185"/>
                  </a:cubicBezTo>
                  <a:cubicBezTo>
                    <a:pt x="398" y="187"/>
                    <a:pt x="398" y="194"/>
                    <a:pt x="407" y="194"/>
                  </a:cubicBezTo>
                  <a:cubicBezTo>
                    <a:pt x="416" y="194"/>
                    <a:pt x="416" y="191"/>
                    <a:pt x="418" y="1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7" name="Freeform 395">
              <a:extLst>
                <a:ext uri="{FF2B5EF4-FFF2-40B4-BE49-F238E27FC236}">
                  <a16:creationId xmlns:a16="http://schemas.microsoft.com/office/drawing/2014/main" id="{2DB94724-F8C8-A30C-2600-9B8E67D2CF88}"/>
                </a:ext>
              </a:extLst>
            </p:cNvPr>
            <p:cNvSpPr/>
            <p:nvPr/>
          </p:nvSpPr>
          <p:spPr>
            <a:xfrm>
              <a:off x="1819559" y="5626475"/>
              <a:ext cx="92904" cy="71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7" h="29">
                  <a:moveTo>
                    <a:pt x="345" y="29"/>
                  </a:moveTo>
                  <a:cubicBezTo>
                    <a:pt x="354" y="29"/>
                    <a:pt x="367" y="29"/>
                    <a:pt x="367" y="15"/>
                  </a:cubicBezTo>
                  <a:cubicBezTo>
                    <a:pt x="367" y="0"/>
                    <a:pt x="356" y="0"/>
                    <a:pt x="345" y="0"/>
                  </a:cubicBezTo>
                  <a:lnTo>
                    <a:pt x="22" y="0"/>
                  </a:lnTo>
                  <a:cubicBezTo>
                    <a:pt x="13" y="0"/>
                    <a:pt x="0" y="0"/>
                    <a:pt x="0" y="13"/>
                  </a:cubicBezTo>
                  <a:cubicBezTo>
                    <a:pt x="0" y="29"/>
                    <a:pt x="13" y="29"/>
                    <a:pt x="22" y="2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8" name="Freeform 396">
              <a:extLst>
                <a:ext uri="{FF2B5EF4-FFF2-40B4-BE49-F238E27FC236}">
                  <a16:creationId xmlns:a16="http://schemas.microsoft.com/office/drawing/2014/main" id="{B316CC54-C068-8422-989B-84E30F832C02}"/>
                </a:ext>
              </a:extLst>
            </p:cNvPr>
            <p:cNvSpPr/>
            <p:nvPr/>
          </p:nvSpPr>
          <p:spPr>
            <a:xfrm>
              <a:off x="1960946" y="5597988"/>
              <a:ext cx="8123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" h="774">
                  <a:moveTo>
                    <a:pt x="33" y="29"/>
                  </a:moveTo>
                  <a:cubicBezTo>
                    <a:pt x="33" y="13"/>
                    <a:pt x="33" y="0"/>
                    <a:pt x="18" y="0"/>
                  </a:cubicBezTo>
                  <a:cubicBezTo>
                    <a:pt x="0" y="0"/>
                    <a:pt x="0" y="13"/>
                    <a:pt x="0" y="29"/>
                  </a:cubicBezTo>
                  <a:lnTo>
                    <a:pt x="0" y="748"/>
                  </a:lnTo>
                  <a:cubicBezTo>
                    <a:pt x="0" y="761"/>
                    <a:pt x="0" y="774"/>
                    <a:pt x="18" y="774"/>
                  </a:cubicBezTo>
                  <a:cubicBezTo>
                    <a:pt x="33" y="774"/>
                    <a:pt x="33" y="761"/>
                    <a:pt x="33" y="7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79" name="Freeform 397">
              <a:extLst>
                <a:ext uri="{FF2B5EF4-FFF2-40B4-BE49-F238E27FC236}">
                  <a16:creationId xmlns:a16="http://schemas.microsoft.com/office/drawing/2014/main" id="{20F81482-32AB-B428-6E9D-A7037B01385C}"/>
                </a:ext>
              </a:extLst>
            </p:cNvPr>
            <p:cNvSpPr/>
            <p:nvPr/>
          </p:nvSpPr>
          <p:spPr>
            <a:xfrm>
              <a:off x="1997752" y="5658523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0" name="Freeform 398">
              <a:extLst>
                <a:ext uri="{FF2B5EF4-FFF2-40B4-BE49-F238E27FC236}">
                  <a16:creationId xmlns:a16="http://schemas.microsoft.com/office/drawing/2014/main" id="{2EE3A6B0-63A4-8648-BC35-D24C8EED9D92}"/>
                </a:ext>
              </a:extLst>
            </p:cNvPr>
            <p:cNvSpPr/>
            <p:nvPr/>
          </p:nvSpPr>
          <p:spPr>
            <a:xfrm>
              <a:off x="2120609" y="5597988"/>
              <a:ext cx="43914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4" h="774">
                  <a:moveTo>
                    <a:pt x="172" y="400"/>
                  </a:moveTo>
                  <a:cubicBezTo>
                    <a:pt x="174" y="392"/>
                    <a:pt x="174" y="389"/>
                    <a:pt x="174" y="387"/>
                  </a:cubicBezTo>
                  <a:cubicBezTo>
                    <a:pt x="174" y="385"/>
                    <a:pt x="174" y="383"/>
                    <a:pt x="172" y="374"/>
                  </a:cubicBezTo>
                  <a:lnTo>
                    <a:pt x="33" y="18"/>
                  </a:lnTo>
                  <a:cubicBezTo>
                    <a:pt x="29" y="4"/>
                    <a:pt x="24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18"/>
                    <a:pt x="0" y="20"/>
                    <a:pt x="4" y="29"/>
                  </a:cubicBezTo>
                  <a:lnTo>
                    <a:pt x="143" y="387"/>
                  </a:lnTo>
                  <a:lnTo>
                    <a:pt x="4" y="746"/>
                  </a:lnTo>
                  <a:cubicBezTo>
                    <a:pt x="0" y="755"/>
                    <a:pt x="0" y="757"/>
                    <a:pt x="0" y="759"/>
                  </a:cubicBezTo>
                  <a:cubicBezTo>
                    <a:pt x="0" y="768"/>
                    <a:pt x="7" y="774"/>
                    <a:pt x="15" y="774"/>
                  </a:cubicBezTo>
                  <a:cubicBezTo>
                    <a:pt x="26" y="774"/>
                    <a:pt x="29" y="768"/>
                    <a:pt x="33" y="7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1" name="Freeform 399">
              <a:extLst>
                <a:ext uri="{FF2B5EF4-FFF2-40B4-BE49-F238E27FC236}">
                  <a16:creationId xmlns:a16="http://schemas.microsoft.com/office/drawing/2014/main" id="{09990E34-686E-F596-4637-11020CBDF871}"/>
                </a:ext>
              </a:extLst>
            </p:cNvPr>
            <p:cNvSpPr/>
            <p:nvPr/>
          </p:nvSpPr>
          <p:spPr>
            <a:xfrm>
              <a:off x="2251842" y="5673530"/>
              <a:ext cx="130980" cy="4629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7" h="183">
                  <a:moveTo>
                    <a:pt x="491" y="31"/>
                  </a:moveTo>
                  <a:cubicBezTo>
                    <a:pt x="502" y="31"/>
                    <a:pt x="517" y="31"/>
                    <a:pt x="517" y="15"/>
                  </a:cubicBezTo>
                  <a:cubicBezTo>
                    <a:pt x="517" y="0"/>
                    <a:pt x="502" y="0"/>
                    <a:pt x="491" y="0"/>
                  </a:cubicBezTo>
                  <a:lnTo>
                    <a:pt x="26" y="0"/>
                  </a:lnTo>
                  <a:cubicBezTo>
                    <a:pt x="15" y="0"/>
                    <a:pt x="0" y="0"/>
                    <a:pt x="0" y="15"/>
                  </a:cubicBezTo>
                  <a:cubicBezTo>
                    <a:pt x="0" y="31"/>
                    <a:pt x="15" y="31"/>
                    <a:pt x="26" y="31"/>
                  </a:cubicBezTo>
                  <a:close/>
                  <a:moveTo>
                    <a:pt x="491" y="183"/>
                  </a:moveTo>
                  <a:cubicBezTo>
                    <a:pt x="502" y="183"/>
                    <a:pt x="517" y="183"/>
                    <a:pt x="517" y="167"/>
                  </a:cubicBezTo>
                  <a:cubicBezTo>
                    <a:pt x="517" y="152"/>
                    <a:pt x="502" y="152"/>
                    <a:pt x="491" y="152"/>
                  </a:cubicBezTo>
                  <a:lnTo>
                    <a:pt x="26" y="152"/>
                  </a:lnTo>
                  <a:cubicBezTo>
                    <a:pt x="15" y="152"/>
                    <a:pt x="0" y="152"/>
                    <a:pt x="0" y="167"/>
                  </a:cubicBezTo>
                  <a:cubicBezTo>
                    <a:pt x="0" y="183"/>
                    <a:pt x="15" y="183"/>
                    <a:pt x="26" y="1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2" name="Freeform 400">
              <a:extLst>
                <a:ext uri="{FF2B5EF4-FFF2-40B4-BE49-F238E27FC236}">
                  <a16:creationId xmlns:a16="http://schemas.microsoft.com/office/drawing/2014/main" id="{805636BE-BF5C-1B36-DECE-5EA95F98D152}"/>
                </a:ext>
              </a:extLst>
            </p:cNvPr>
            <p:cNvSpPr/>
            <p:nvPr/>
          </p:nvSpPr>
          <p:spPr>
            <a:xfrm>
              <a:off x="2469634" y="5449703"/>
              <a:ext cx="178447" cy="4725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4" h="1859">
                  <a:moveTo>
                    <a:pt x="275" y="1705"/>
                  </a:moveTo>
                  <a:lnTo>
                    <a:pt x="108" y="928"/>
                  </a:lnTo>
                  <a:lnTo>
                    <a:pt x="4" y="1089"/>
                  </a:lnTo>
                  <a:cubicBezTo>
                    <a:pt x="0" y="1096"/>
                    <a:pt x="0" y="1098"/>
                    <a:pt x="0" y="1098"/>
                  </a:cubicBezTo>
                  <a:cubicBezTo>
                    <a:pt x="0" y="1100"/>
                    <a:pt x="11" y="1109"/>
                    <a:pt x="11" y="1111"/>
                  </a:cubicBezTo>
                  <a:lnTo>
                    <a:pt x="64" y="1027"/>
                  </a:lnTo>
                  <a:lnTo>
                    <a:pt x="242" y="1859"/>
                  </a:lnTo>
                  <a:cubicBezTo>
                    <a:pt x="268" y="1859"/>
                    <a:pt x="271" y="1859"/>
                    <a:pt x="275" y="1837"/>
                  </a:cubicBezTo>
                  <a:lnTo>
                    <a:pt x="702" y="31"/>
                  </a:lnTo>
                  <a:cubicBezTo>
                    <a:pt x="704" y="26"/>
                    <a:pt x="704" y="20"/>
                    <a:pt x="704" y="15"/>
                  </a:cubicBezTo>
                  <a:cubicBezTo>
                    <a:pt x="704" y="7"/>
                    <a:pt x="700" y="0"/>
                    <a:pt x="689" y="0"/>
                  </a:cubicBezTo>
                  <a:cubicBezTo>
                    <a:pt x="678" y="0"/>
                    <a:pt x="675" y="11"/>
                    <a:pt x="673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3" name="Freeform 401">
              <a:extLst>
                <a:ext uri="{FF2B5EF4-FFF2-40B4-BE49-F238E27FC236}">
                  <a16:creationId xmlns:a16="http://schemas.microsoft.com/office/drawing/2014/main" id="{940528C5-DBE1-E129-E7FD-A09E41094CAC}"/>
                </a:ext>
              </a:extLst>
            </p:cNvPr>
            <p:cNvSpPr/>
            <p:nvPr/>
          </p:nvSpPr>
          <p:spPr>
            <a:xfrm>
              <a:off x="2644020" y="5449703"/>
              <a:ext cx="1606277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329" h="33">
                  <a:moveTo>
                    <a:pt x="3164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6329" y="0"/>
                  </a:lnTo>
                  <a:lnTo>
                    <a:pt x="6329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4" name="Freeform 402">
              <a:extLst>
                <a:ext uri="{FF2B5EF4-FFF2-40B4-BE49-F238E27FC236}">
                  <a16:creationId xmlns:a16="http://schemas.microsoft.com/office/drawing/2014/main" id="{7B73D0B6-ECB8-DEFA-23F2-FF2113F552A8}"/>
                </a:ext>
              </a:extLst>
            </p:cNvPr>
            <p:cNvSpPr/>
            <p:nvPr/>
          </p:nvSpPr>
          <p:spPr>
            <a:xfrm>
              <a:off x="2653919" y="5614775"/>
              <a:ext cx="78435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0" h="517">
                  <a:moveTo>
                    <a:pt x="59" y="458"/>
                  </a:moveTo>
                  <a:lnTo>
                    <a:pt x="143" y="378"/>
                  </a:lnTo>
                  <a:cubicBezTo>
                    <a:pt x="264" y="271"/>
                    <a:pt x="310" y="229"/>
                    <a:pt x="310" y="150"/>
                  </a:cubicBezTo>
                  <a:cubicBezTo>
                    <a:pt x="310" y="62"/>
                    <a:pt x="240" y="0"/>
                    <a:pt x="145" y="0"/>
                  </a:cubicBezTo>
                  <a:cubicBezTo>
                    <a:pt x="57" y="0"/>
                    <a:pt x="0" y="70"/>
                    <a:pt x="0" y="141"/>
                  </a:cubicBezTo>
                  <a:cubicBezTo>
                    <a:pt x="0" y="185"/>
                    <a:pt x="40" y="185"/>
                    <a:pt x="42" y="185"/>
                  </a:cubicBezTo>
                  <a:cubicBezTo>
                    <a:pt x="55" y="185"/>
                    <a:pt x="81" y="174"/>
                    <a:pt x="81" y="143"/>
                  </a:cubicBezTo>
                  <a:cubicBezTo>
                    <a:pt x="81" y="123"/>
                    <a:pt x="68" y="103"/>
                    <a:pt x="40" y="103"/>
                  </a:cubicBezTo>
                  <a:cubicBezTo>
                    <a:pt x="35" y="103"/>
                    <a:pt x="33" y="103"/>
                    <a:pt x="31" y="103"/>
                  </a:cubicBezTo>
                  <a:cubicBezTo>
                    <a:pt x="48" y="53"/>
                    <a:pt x="90" y="24"/>
                    <a:pt x="136" y="24"/>
                  </a:cubicBezTo>
                  <a:cubicBezTo>
                    <a:pt x="207" y="24"/>
                    <a:pt x="240" y="88"/>
                    <a:pt x="240" y="150"/>
                  </a:cubicBezTo>
                  <a:cubicBezTo>
                    <a:pt x="240" y="213"/>
                    <a:pt x="200" y="275"/>
                    <a:pt x="158" y="321"/>
                  </a:cubicBezTo>
                  <a:lnTo>
                    <a:pt x="9" y="488"/>
                  </a:lnTo>
                  <a:cubicBezTo>
                    <a:pt x="0" y="497"/>
                    <a:pt x="0" y="499"/>
                    <a:pt x="0" y="517"/>
                  </a:cubicBezTo>
                  <a:lnTo>
                    <a:pt x="288" y="517"/>
                  </a:lnTo>
                  <a:lnTo>
                    <a:pt x="310" y="383"/>
                  </a:lnTo>
                  <a:lnTo>
                    <a:pt x="290" y="383"/>
                  </a:lnTo>
                  <a:cubicBezTo>
                    <a:pt x="288" y="405"/>
                    <a:pt x="282" y="440"/>
                    <a:pt x="275" y="451"/>
                  </a:cubicBezTo>
                  <a:cubicBezTo>
                    <a:pt x="268" y="458"/>
                    <a:pt x="218" y="458"/>
                    <a:pt x="200" y="4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5" name="Freeform 403">
              <a:extLst>
                <a:ext uri="{FF2B5EF4-FFF2-40B4-BE49-F238E27FC236}">
                  <a16:creationId xmlns:a16="http://schemas.microsoft.com/office/drawing/2014/main" id="{6C3A900C-8C8B-FD65-4898-4317448B1A2E}"/>
                </a:ext>
              </a:extLst>
            </p:cNvPr>
            <p:cNvSpPr/>
            <p:nvPr/>
          </p:nvSpPr>
          <p:spPr>
            <a:xfrm>
              <a:off x="2752153" y="5606891"/>
              <a:ext cx="116511" cy="1434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0" h="565">
                  <a:moveTo>
                    <a:pt x="460" y="9"/>
                  </a:moveTo>
                  <a:cubicBezTo>
                    <a:pt x="460" y="4"/>
                    <a:pt x="460" y="0"/>
                    <a:pt x="453" y="0"/>
                  </a:cubicBezTo>
                  <a:cubicBezTo>
                    <a:pt x="449" y="0"/>
                    <a:pt x="447" y="0"/>
                    <a:pt x="438" y="11"/>
                  </a:cubicBezTo>
                  <a:lnTo>
                    <a:pt x="400" y="55"/>
                  </a:lnTo>
                  <a:cubicBezTo>
                    <a:pt x="381" y="20"/>
                    <a:pt x="341" y="0"/>
                    <a:pt x="290" y="0"/>
                  </a:cubicBezTo>
                  <a:cubicBezTo>
                    <a:pt x="191" y="0"/>
                    <a:pt x="97" y="90"/>
                    <a:pt x="97" y="183"/>
                  </a:cubicBezTo>
                  <a:cubicBezTo>
                    <a:pt x="97" y="246"/>
                    <a:pt x="139" y="282"/>
                    <a:pt x="178" y="293"/>
                  </a:cubicBezTo>
                  <a:lnTo>
                    <a:pt x="262" y="315"/>
                  </a:lnTo>
                  <a:cubicBezTo>
                    <a:pt x="290" y="321"/>
                    <a:pt x="334" y="334"/>
                    <a:pt x="334" y="398"/>
                  </a:cubicBezTo>
                  <a:cubicBezTo>
                    <a:pt x="334" y="466"/>
                    <a:pt x="271" y="541"/>
                    <a:pt x="194" y="541"/>
                  </a:cubicBezTo>
                  <a:cubicBezTo>
                    <a:pt x="143" y="541"/>
                    <a:pt x="57" y="524"/>
                    <a:pt x="57" y="427"/>
                  </a:cubicBezTo>
                  <a:cubicBezTo>
                    <a:pt x="57" y="409"/>
                    <a:pt x="62" y="389"/>
                    <a:pt x="62" y="385"/>
                  </a:cubicBezTo>
                  <a:cubicBezTo>
                    <a:pt x="64" y="383"/>
                    <a:pt x="64" y="381"/>
                    <a:pt x="64" y="381"/>
                  </a:cubicBezTo>
                  <a:cubicBezTo>
                    <a:pt x="64" y="372"/>
                    <a:pt x="57" y="372"/>
                    <a:pt x="55" y="372"/>
                  </a:cubicBezTo>
                  <a:cubicBezTo>
                    <a:pt x="51" y="372"/>
                    <a:pt x="48" y="372"/>
                    <a:pt x="46" y="374"/>
                  </a:cubicBezTo>
                  <a:cubicBezTo>
                    <a:pt x="44" y="376"/>
                    <a:pt x="0" y="554"/>
                    <a:pt x="0" y="557"/>
                  </a:cubicBezTo>
                  <a:cubicBezTo>
                    <a:pt x="0" y="561"/>
                    <a:pt x="4" y="565"/>
                    <a:pt x="9" y="565"/>
                  </a:cubicBezTo>
                  <a:cubicBezTo>
                    <a:pt x="13" y="565"/>
                    <a:pt x="13" y="563"/>
                    <a:pt x="22" y="552"/>
                  </a:cubicBezTo>
                  <a:lnTo>
                    <a:pt x="62" y="508"/>
                  </a:lnTo>
                  <a:cubicBezTo>
                    <a:pt x="95" y="554"/>
                    <a:pt x="147" y="565"/>
                    <a:pt x="191" y="565"/>
                  </a:cubicBezTo>
                  <a:cubicBezTo>
                    <a:pt x="297" y="565"/>
                    <a:pt x="389" y="462"/>
                    <a:pt x="389" y="365"/>
                  </a:cubicBezTo>
                  <a:cubicBezTo>
                    <a:pt x="389" y="310"/>
                    <a:pt x="363" y="284"/>
                    <a:pt x="352" y="275"/>
                  </a:cubicBezTo>
                  <a:cubicBezTo>
                    <a:pt x="334" y="255"/>
                    <a:pt x="321" y="253"/>
                    <a:pt x="253" y="235"/>
                  </a:cubicBezTo>
                  <a:cubicBezTo>
                    <a:pt x="235" y="231"/>
                    <a:pt x="207" y="222"/>
                    <a:pt x="200" y="222"/>
                  </a:cubicBezTo>
                  <a:cubicBezTo>
                    <a:pt x="180" y="213"/>
                    <a:pt x="154" y="191"/>
                    <a:pt x="154" y="150"/>
                  </a:cubicBezTo>
                  <a:cubicBezTo>
                    <a:pt x="154" y="88"/>
                    <a:pt x="216" y="22"/>
                    <a:pt x="288" y="22"/>
                  </a:cubicBezTo>
                  <a:cubicBezTo>
                    <a:pt x="354" y="22"/>
                    <a:pt x="400" y="55"/>
                    <a:pt x="400" y="143"/>
                  </a:cubicBezTo>
                  <a:cubicBezTo>
                    <a:pt x="400" y="167"/>
                    <a:pt x="398" y="180"/>
                    <a:pt x="398" y="185"/>
                  </a:cubicBezTo>
                  <a:cubicBezTo>
                    <a:pt x="398" y="187"/>
                    <a:pt x="398" y="194"/>
                    <a:pt x="407" y="194"/>
                  </a:cubicBezTo>
                  <a:cubicBezTo>
                    <a:pt x="416" y="194"/>
                    <a:pt x="416" y="191"/>
                    <a:pt x="418" y="1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6" name="Freeform 404">
              <a:extLst>
                <a:ext uri="{FF2B5EF4-FFF2-40B4-BE49-F238E27FC236}">
                  <a16:creationId xmlns:a16="http://schemas.microsoft.com/office/drawing/2014/main" id="{8DE4E45A-78E5-E085-DBEE-055B2CD976C1}"/>
                </a:ext>
              </a:extLst>
            </p:cNvPr>
            <p:cNvSpPr/>
            <p:nvPr/>
          </p:nvSpPr>
          <p:spPr>
            <a:xfrm>
              <a:off x="2893541" y="5597988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768"/>
                  </a:moveTo>
                  <a:cubicBezTo>
                    <a:pt x="183" y="766"/>
                    <a:pt x="183" y="763"/>
                    <a:pt x="167" y="750"/>
                  </a:cubicBezTo>
                  <a:cubicBezTo>
                    <a:pt x="70" y="653"/>
                    <a:pt x="46" y="506"/>
                    <a:pt x="46" y="387"/>
                  </a:cubicBezTo>
                  <a:cubicBezTo>
                    <a:pt x="46" y="253"/>
                    <a:pt x="75" y="119"/>
                    <a:pt x="172" y="22"/>
                  </a:cubicBezTo>
                  <a:cubicBezTo>
                    <a:pt x="183" y="11"/>
                    <a:pt x="183" y="11"/>
                    <a:pt x="183" y="9"/>
                  </a:cubicBezTo>
                  <a:cubicBezTo>
                    <a:pt x="183" y="2"/>
                    <a:pt x="178" y="0"/>
                    <a:pt x="174" y="0"/>
                  </a:cubicBezTo>
                  <a:cubicBezTo>
                    <a:pt x="165" y="0"/>
                    <a:pt x="95" y="53"/>
                    <a:pt x="48" y="152"/>
                  </a:cubicBezTo>
                  <a:cubicBezTo>
                    <a:pt x="9" y="238"/>
                    <a:pt x="0" y="323"/>
                    <a:pt x="0" y="387"/>
                  </a:cubicBezTo>
                  <a:cubicBezTo>
                    <a:pt x="0" y="449"/>
                    <a:pt x="9" y="541"/>
                    <a:pt x="51" y="629"/>
                  </a:cubicBezTo>
                  <a:cubicBezTo>
                    <a:pt x="99" y="726"/>
                    <a:pt x="165" y="774"/>
                    <a:pt x="174" y="774"/>
                  </a:cubicBezTo>
                  <a:cubicBezTo>
                    <a:pt x="178" y="774"/>
                    <a:pt x="183" y="772"/>
                    <a:pt x="183" y="768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7" name="Freeform 405">
              <a:extLst>
                <a:ext uri="{FF2B5EF4-FFF2-40B4-BE49-F238E27FC236}">
                  <a16:creationId xmlns:a16="http://schemas.microsoft.com/office/drawing/2014/main" id="{75F969D5-A5B5-BB30-507E-C7B1299CA153}"/>
                </a:ext>
              </a:extLst>
            </p:cNvPr>
            <p:cNvSpPr/>
            <p:nvPr/>
          </p:nvSpPr>
          <p:spPr>
            <a:xfrm>
              <a:off x="2955985" y="5658523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8" name="Freeform 406">
              <a:extLst>
                <a:ext uri="{FF2B5EF4-FFF2-40B4-BE49-F238E27FC236}">
                  <a16:creationId xmlns:a16="http://schemas.microsoft.com/office/drawing/2014/main" id="{50511AC4-812D-15EB-46DE-D211D1B182B8}"/>
                </a:ext>
              </a:extLst>
            </p:cNvPr>
            <p:cNvSpPr/>
            <p:nvPr/>
          </p:nvSpPr>
          <p:spPr>
            <a:xfrm>
              <a:off x="3122501" y="5631054"/>
              <a:ext cx="130980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7" h="517">
                  <a:moveTo>
                    <a:pt x="275" y="275"/>
                  </a:moveTo>
                  <a:lnTo>
                    <a:pt x="491" y="275"/>
                  </a:lnTo>
                  <a:cubicBezTo>
                    <a:pt x="502" y="275"/>
                    <a:pt x="517" y="275"/>
                    <a:pt x="517" y="260"/>
                  </a:cubicBezTo>
                  <a:cubicBezTo>
                    <a:pt x="517" y="242"/>
                    <a:pt x="502" y="242"/>
                    <a:pt x="491" y="242"/>
                  </a:cubicBezTo>
                  <a:lnTo>
                    <a:pt x="275" y="242"/>
                  </a:lnTo>
                  <a:lnTo>
                    <a:pt x="275" y="26"/>
                  </a:lnTo>
                  <a:cubicBezTo>
                    <a:pt x="275" y="15"/>
                    <a:pt x="275" y="0"/>
                    <a:pt x="260" y="0"/>
                  </a:cubicBezTo>
                  <a:cubicBezTo>
                    <a:pt x="242" y="0"/>
                    <a:pt x="242" y="15"/>
                    <a:pt x="242" y="26"/>
                  </a:cubicBezTo>
                  <a:lnTo>
                    <a:pt x="242" y="242"/>
                  </a:lnTo>
                  <a:lnTo>
                    <a:pt x="26" y="242"/>
                  </a:lnTo>
                  <a:cubicBezTo>
                    <a:pt x="15" y="242"/>
                    <a:pt x="0" y="242"/>
                    <a:pt x="0" y="260"/>
                  </a:cubicBezTo>
                  <a:cubicBezTo>
                    <a:pt x="0" y="275"/>
                    <a:pt x="15" y="275"/>
                    <a:pt x="26" y="275"/>
                  </a:cubicBezTo>
                  <a:lnTo>
                    <a:pt x="242" y="275"/>
                  </a:lnTo>
                  <a:lnTo>
                    <a:pt x="242" y="491"/>
                  </a:lnTo>
                  <a:cubicBezTo>
                    <a:pt x="242" y="502"/>
                    <a:pt x="242" y="517"/>
                    <a:pt x="260" y="517"/>
                  </a:cubicBezTo>
                  <a:cubicBezTo>
                    <a:pt x="275" y="517"/>
                    <a:pt x="275" y="502"/>
                    <a:pt x="275" y="49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89" name="Freeform 407">
              <a:extLst>
                <a:ext uri="{FF2B5EF4-FFF2-40B4-BE49-F238E27FC236}">
                  <a16:creationId xmlns:a16="http://schemas.microsoft.com/office/drawing/2014/main" id="{346CD99C-D831-AA61-D060-960B867B41AC}"/>
                </a:ext>
              </a:extLst>
            </p:cNvPr>
            <p:cNvSpPr/>
            <p:nvPr/>
          </p:nvSpPr>
          <p:spPr>
            <a:xfrm>
              <a:off x="3325063" y="5614775"/>
              <a:ext cx="64982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7" h="517">
                  <a:moveTo>
                    <a:pt x="161" y="20"/>
                  </a:moveTo>
                  <a:cubicBezTo>
                    <a:pt x="161" y="2"/>
                    <a:pt x="161" y="0"/>
                    <a:pt x="143" y="0"/>
                  </a:cubicBezTo>
                  <a:cubicBezTo>
                    <a:pt x="95" y="51"/>
                    <a:pt x="24" y="51"/>
                    <a:pt x="0" y="51"/>
                  </a:cubicBezTo>
                  <a:lnTo>
                    <a:pt x="0" y="75"/>
                  </a:lnTo>
                  <a:cubicBezTo>
                    <a:pt x="15" y="75"/>
                    <a:pt x="62" y="75"/>
                    <a:pt x="101" y="53"/>
                  </a:cubicBezTo>
                  <a:lnTo>
                    <a:pt x="101" y="455"/>
                  </a:lnTo>
                  <a:cubicBezTo>
                    <a:pt x="101" y="484"/>
                    <a:pt x="99" y="493"/>
                    <a:pt x="29" y="493"/>
                  </a:cubicBezTo>
                  <a:lnTo>
                    <a:pt x="4" y="493"/>
                  </a:lnTo>
                  <a:lnTo>
                    <a:pt x="4" y="517"/>
                  </a:lnTo>
                  <a:cubicBezTo>
                    <a:pt x="33" y="515"/>
                    <a:pt x="99" y="515"/>
                    <a:pt x="132" y="515"/>
                  </a:cubicBezTo>
                  <a:cubicBezTo>
                    <a:pt x="163" y="515"/>
                    <a:pt x="231" y="515"/>
                    <a:pt x="257" y="517"/>
                  </a:cubicBezTo>
                  <a:lnTo>
                    <a:pt x="257" y="493"/>
                  </a:lnTo>
                  <a:lnTo>
                    <a:pt x="233" y="493"/>
                  </a:lnTo>
                  <a:cubicBezTo>
                    <a:pt x="163" y="493"/>
                    <a:pt x="161" y="484"/>
                    <a:pt x="161" y="455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0" name="Freeform 408">
              <a:extLst>
                <a:ext uri="{FF2B5EF4-FFF2-40B4-BE49-F238E27FC236}">
                  <a16:creationId xmlns:a16="http://schemas.microsoft.com/office/drawing/2014/main" id="{DDD73D63-DE95-E1A7-AB43-1AFD3A40CD72}"/>
                </a:ext>
              </a:extLst>
            </p:cNvPr>
            <p:cNvSpPr/>
            <p:nvPr/>
          </p:nvSpPr>
          <p:spPr>
            <a:xfrm>
              <a:off x="3417206" y="5597988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387"/>
                  </a:moveTo>
                  <a:cubicBezTo>
                    <a:pt x="183" y="328"/>
                    <a:pt x="174" y="233"/>
                    <a:pt x="130" y="145"/>
                  </a:cubicBezTo>
                  <a:cubicBezTo>
                    <a:pt x="84" y="51"/>
                    <a:pt x="15" y="0"/>
                    <a:pt x="9" y="0"/>
                  </a:cubicBezTo>
                  <a:cubicBezTo>
                    <a:pt x="2" y="0"/>
                    <a:pt x="0" y="2"/>
                    <a:pt x="0" y="9"/>
                  </a:cubicBezTo>
                  <a:cubicBezTo>
                    <a:pt x="0" y="11"/>
                    <a:pt x="0" y="11"/>
                    <a:pt x="15" y="26"/>
                  </a:cubicBezTo>
                  <a:cubicBezTo>
                    <a:pt x="92" y="103"/>
                    <a:pt x="136" y="227"/>
                    <a:pt x="136" y="387"/>
                  </a:cubicBezTo>
                  <a:cubicBezTo>
                    <a:pt x="136" y="521"/>
                    <a:pt x="108" y="658"/>
                    <a:pt x="11" y="755"/>
                  </a:cubicBezTo>
                  <a:cubicBezTo>
                    <a:pt x="0" y="763"/>
                    <a:pt x="0" y="766"/>
                    <a:pt x="0" y="768"/>
                  </a:cubicBezTo>
                  <a:cubicBezTo>
                    <a:pt x="0" y="772"/>
                    <a:pt x="2" y="774"/>
                    <a:pt x="9" y="774"/>
                  </a:cubicBezTo>
                  <a:cubicBezTo>
                    <a:pt x="15" y="774"/>
                    <a:pt x="86" y="722"/>
                    <a:pt x="132" y="625"/>
                  </a:cubicBezTo>
                  <a:cubicBezTo>
                    <a:pt x="172" y="539"/>
                    <a:pt x="183" y="453"/>
                    <a:pt x="183" y="387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1" name="Freeform 409">
              <a:extLst>
                <a:ext uri="{FF2B5EF4-FFF2-40B4-BE49-F238E27FC236}">
                  <a16:creationId xmlns:a16="http://schemas.microsoft.com/office/drawing/2014/main" id="{81430827-3A9A-6484-4449-8BCC80468667}"/>
                </a:ext>
              </a:extLst>
            </p:cNvPr>
            <p:cNvSpPr/>
            <p:nvPr/>
          </p:nvSpPr>
          <p:spPr>
            <a:xfrm>
              <a:off x="3501732" y="5597988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768"/>
                  </a:moveTo>
                  <a:cubicBezTo>
                    <a:pt x="183" y="766"/>
                    <a:pt x="183" y="763"/>
                    <a:pt x="167" y="750"/>
                  </a:cubicBezTo>
                  <a:cubicBezTo>
                    <a:pt x="70" y="653"/>
                    <a:pt x="46" y="506"/>
                    <a:pt x="46" y="387"/>
                  </a:cubicBezTo>
                  <a:cubicBezTo>
                    <a:pt x="46" y="253"/>
                    <a:pt x="75" y="119"/>
                    <a:pt x="172" y="22"/>
                  </a:cubicBezTo>
                  <a:cubicBezTo>
                    <a:pt x="183" y="11"/>
                    <a:pt x="183" y="11"/>
                    <a:pt x="183" y="9"/>
                  </a:cubicBezTo>
                  <a:cubicBezTo>
                    <a:pt x="183" y="2"/>
                    <a:pt x="178" y="0"/>
                    <a:pt x="174" y="0"/>
                  </a:cubicBezTo>
                  <a:cubicBezTo>
                    <a:pt x="165" y="0"/>
                    <a:pt x="95" y="53"/>
                    <a:pt x="48" y="152"/>
                  </a:cubicBezTo>
                  <a:cubicBezTo>
                    <a:pt x="9" y="238"/>
                    <a:pt x="0" y="323"/>
                    <a:pt x="0" y="387"/>
                  </a:cubicBezTo>
                  <a:cubicBezTo>
                    <a:pt x="0" y="449"/>
                    <a:pt x="9" y="541"/>
                    <a:pt x="51" y="629"/>
                  </a:cubicBezTo>
                  <a:cubicBezTo>
                    <a:pt x="99" y="726"/>
                    <a:pt x="165" y="774"/>
                    <a:pt x="174" y="774"/>
                  </a:cubicBezTo>
                  <a:cubicBezTo>
                    <a:pt x="178" y="774"/>
                    <a:pt x="183" y="772"/>
                    <a:pt x="183" y="76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2" name="Freeform 410">
              <a:extLst>
                <a:ext uri="{FF2B5EF4-FFF2-40B4-BE49-F238E27FC236}">
                  <a16:creationId xmlns:a16="http://schemas.microsoft.com/office/drawing/2014/main" id="{5B966079-576B-B892-C801-305A860D224C}"/>
                </a:ext>
              </a:extLst>
            </p:cNvPr>
            <p:cNvSpPr/>
            <p:nvPr/>
          </p:nvSpPr>
          <p:spPr>
            <a:xfrm>
              <a:off x="3575853" y="5614775"/>
              <a:ext cx="64982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7" h="517">
                  <a:moveTo>
                    <a:pt x="161" y="20"/>
                  </a:moveTo>
                  <a:cubicBezTo>
                    <a:pt x="161" y="2"/>
                    <a:pt x="161" y="0"/>
                    <a:pt x="143" y="0"/>
                  </a:cubicBezTo>
                  <a:cubicBezTo>
                    <a:pt x="95" y="51"/>
                    <a:pt x="24" y="51"/>
                    <a:pt x="0" y="51"/>
                  </a:cubicBezTo>
                  <a:lnTo>
                    <a:pt x="0" y="75"/>
                  </a:lnTo>
                  <a:cubicBezTo>
                    <a:pt x="15" y="75"/>
                    <a:pt x="62" y="75"/>
                    <a:pt x="101" y="53"/>
                  </a:cubicBezTo>
                  <a:lnTo>
                    <a:pt x="101" y="455"/>
                  </a:lnTo>
                  <a:cubicBezTo>
                    <a:pt x="101" y="484"/>
                    <a:pt x="99" y="493"/>
                    <a:pt x="29" y="493"/>
                  </a:cubicBezTo>
                  <a:lnTo>
                    <a:pt x="4" y="493"/>
                  </a:lnTo>
                  <a:lnTo>
                    <a:pt x="4" y="517"/>
                  </a:lnTo>
                  <a:cubicBezTo>
                    <a:pt x="33" y="515"/>
                    <a:pt x="99" y="515"/>
                    <a:pt x="132" y="515"/>
                  </a:cubicBezTo>
                  <a:cubicBezTo>
                    <a:pt x="163" y="515"/>
                    <a:pt x="231" y="515"/>
                    <a:pt x="257" y="517"/>
                  </a:cubicBezTo>
                  <a:lnTo>
                    <a:pt x="257" y="493"/>
                  </a:lnTo>
                  <a:lnTo>
                    <a:pt x="233" y="493"/>
                  </a:lnTo>
                  <a:cubicBezTo>
                    <a:pt x="163" y="493"/>
                    <a:pt x="161" y="484"/>
                    <a:pt x="161" y="4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3" name="Freeform 411">
              <a:extLst>
                <a:ext uri="{FF2B5EF4-FFF2-40B4-BE49-F238E27FC236}">
                  <a16:creationId xmlns:a16="http://schemas.microsoft.com/office/drawing/2014/main" id="{7257985C-BE75-17F9-C43D-88E3245B5B54}"/>
                </a:ext>
              </a:extLst>
            </p:cNvPr>
            <p:cNvSpPr/>
            <p:nvPr/>
          </p:nvSpPr>
          <p:spPr>
            <a:xfrm>
              <a:off x="3716733" y="5692606"/>
              <a:ext cx="120318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5" h="33">
                  <a:moveTo>
                    <a:pt x="447" y="33"/>
                  </a:moveTo>
                  <a:cubicBezTo>
                    <a:pt x="460" y="33"/>
                    <a:pt x="475" y="33"/>
                    <a:pt x="475" y="18"/>
                  </a:cubicBezTo>
                  <a:cubicBezTo>
                    <a:pt x="475" y="0"/>
                    <a:pt x="460" y="0"/>
                    <a:pt x="447" y="0"/>
                  </a:cubicBezTo>
                  <a:lnTo>
                    <a:pt x="26" y="0"/>
                  </a:lnTo>
                  <a:cubicBezTo>
                    <a:pt x="13" y="0"/>
                    <a:pt x="0" y="0"/>
                    <a:pt x="0" y="18"/>
                  </a:cubicBezTo>
                  <a:cubicBezTo>
                    <a:pt x="0" y="33"/>
                    <a:pt x="13" y="33"/>
                    <a:pt x="26" y="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4" name="Freeform 412">
              <a:extLst>
                <a:ext uri="{FF2B5EF4-FFF2-40B4-BE49-F238E27FC236}">
                  <a16:creationId xmlns:a16="http://schemas.microsoft.com/office/drawing/2014/main" id="{C4A3FDEE-70FA-7E1D-0CAC-1CE28032C576}"/>
                </a:ext>
              </a:extLst>
            </p:cNvPr>
            <p:cNvSpPr/>
            <p:nvPr/>
          </p:nvSpPr>
          <p:spPr>
            <a:xfrm>
              <a:off x="3981992" y="5525753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5" name="Freeform 413">
              <a:extLst>
                <a:ext uri="{FF2B5EF4-FFF2-40B4-BE49-F238E27FC236}">
                  <a16:creationId xmlns:a16="http://schemas.microsoft.com/office/drawing/2014/main" id="{682D49DD-351E-8224-8BF3-1F4CE068A097}"/>
                </a:ext>
              </a:extLst>
            </p:cNvPr>
            <p:cNvSpPr/>
            <p:nvPr/>
          </p:nvSpPr>
          <p:spPr>
            <a:xfrm>
              <a:off x="3929955" y="5749580"/>
              <a:ext cx="78435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0" h="517">
                  <a:moveTo>
                    <a:pt x="59" y="458"/>
                  </a:moveTo>
                  <a:lnTo>
                    <a:pt x="143" y="378"/>
                  </a:lnTo>
                  <a:cubicBezTo>
                    <a:pt x="264" y="271"/>
                    <a:pt x="310" y="229"/>
                    <a:pt x="310" y="150"/>
                  </a:cubicBezTo>
                  <a:cubicBezTo>
                    <a:pt x="310" y="62"/>
                    <a:pt x="240" y="0"/>
                    <a:pt x="145" y="0"/>
                  </a:cubicBezTo>
                  <a:cubicBezTo>
                    <a:pt x="57" y="0"/>
                    <a:pt x="0" y="70"/>
                    <a:pt x="0" y="141"/>
                  </a:cubicBezTo>
                  <a:cubicBezTo>
                    <a:pt x="0" y="185"/>
                    <a:pt x="40" y="185"/>
                    <a:pt x="42" y="185"/>
                  </a:cubicBezTo>
                  <a:cubicBezTo>
                    <a:pt x="55" y="185"/>
                    <a:pt x="81" y="174"/>
                    <a:pt x="81" y="143"/>
                  </a:cubicBezTo>
                  <a:cubicBezTo>
                    <a:pt x="81" y="123"/>
                    <a:pt x="68" y="103"/>
                    <a:pt x="40" y="103"/>
                  </a:cubicBezTo>
                  <a:cubicBezTo>
                    <a:pt x="35" y="103"/>
                    <a:pt x="33" y="103"/>
                    <a:pt x="31" y="103"/>
                  </a:cubicBezTo>
                  <a:cubicBezTo>
                    <a:pt x="48" y="53"/>
                    <a:pt x="90" y="24"/>
                    <a:pt x="136" y="24"/>
                  </a:cubicBezTo>
                  <a:cubicBezTo>
                    <a:pt x="207" y="24"/>
                    <a:pt x="240" y="88"/>
                    <a:pt x="240" y="150"/>
                  </a:cubicBezTo>
                  <a:cubicBezTo>
                    <a:pt x="240" y="213"/>
                    <a:pt x="200" y="275"/>
                    <a:pt x="158" y="321"/>
                  </a:cubicBezTo>
                  <a:lnTo>
                    <a:pt x="9" y="488"/>
                  </a:lnTo>
                  <a:cubicBezTo>
                    <a:pt x="0" y="497"/>
                    <a:pt x="0" y="499"/>
                    <a:pt x="0" y="517"/>
                  </a:cubicBezTo>
                  <a:lnTo>
                    <a:pt x="288" y="517"/>
                  </a:lnTo>
                  <a:lnTo>
                    <a:pt x="310" y="383"/>
                  </a:lnTo>
                  <a:lnTo>
                    <a:pt x="290" y="383"/>
                  </a:lnTo>
                  <a:cubicBezTo>
                    <a:pt x="288" y="405"/>
                    <a:pt x="282" y="440"/>
                    <a:pt x="275" y="451"/>
                  </a:cubicBezTo>
                  <a:cubicBezTo>
                    <a:pt x="268" y="458"/>
                    <a:pt x="218" y="458"/>
                    <a:pt x="200" y="458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6" name="Freeform 414">
              <a:extLst>
                <a:ext uri="{FF2B5EF4-FFF2-40B4-BE49-F238E27FC236}">
                  <a16:creationId xmlns:a16="http://schemas.microsoft.com/office/drawing/2014/main" id="{38E45434-BD89-1300-2E8A-696C51574136}"/>
                </a:ext>
              </a:extLst>
            </p:cNvPr>
            <p:cNvSpPr/>
            <p:nvPr/>
          </p:nvSpPr>
          <p:spPr>
            <a:xfrm>
              <a:off x="4028698" y="5741695"/>
              <a:ext cx="116511" cy="1434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0" h="565">
                  <a:moveTo>
                    <a:pt x="460" y="9"/>
                  </a:moveTo>
                  <a:cubicBezTo>
                    <a:pt x="460" y="4"/>
                    <a:pt x="460" y="0"/>
                    <a:pt x="453" y="0"/>
                  </a:cubicBezTo>
                  <a:cubicBezTo>
                    <a:pt x="449" y="0"/>
                    <a:pt x="447" y="0"/>
                    <a:pt x="438" y="11"/>
                  </a:cubicBezTo>
                  <a:lnTo>
                    <a:pt x="400" y="55"/>
                  </a:lnTo>
                  <a:cubicBezTo>
                    <a:pt x="381" y="20"/>
                    <a:pt x="341" y="0"/>
                    <a:pt x="290" y="0"/>
                  </a:cubicBezTo>
                  <a:cubicBezTo>
                    <a:pt x="191" y="0"/>
                    <a:pt x="97" y="90"/>
                    <a:pt x="97" y="183"/>
                  </a:cubicBezTo>
                  <a:cubicBezTo>
                    <a:pt x="97" y="246"/>
                    <a:pt x="139" y="282"/>
                    <a:pt x="178" y="293"/>
                  </a:cubicBezTo>
                  <a:lnTo>
                    <a:pt x="262" y="315"/>
                  </a:lnTo>
                  <a:cubicBezTo>
                    <a:pt x="290" y="321"/>
                    <a:pt x="334" y="334"/>
                    <a:pt x="334" y="398"/>
                  </a:cubicBezTo>
                  <a:cubicBezTo>
                    <a:pt x="334" y="466"/>
                    <a:pt x="271" y="541"/>
                    <a:pt x="194" y="541"/>
                  </a:cubicBezTo>
                  <a:cubicBezTo>
                    <a:pt x="143" y="541"/>
                    <a:pt x="57" y="524"/>
                    <a:pt x="57" y="427"/>
                  </a:cubicBezTo>
                  <a:cubicBezTo>
                    <a:pt x="57" y="409"/>
                    <a:pt x="62" y="389"/>
                    <a:pt x="62" y="385"/>
                  </a:cubicBezTo>
                  <a:cubicBezTo>
                    <a:pt x="64" y="383"/>
                    <a:pt x="64" y="381"/>
                    <a:pt x="64" y="381"/>
                  </a:cubicBezTo>
                  <a:cubicBezTo>
                    <a:pt x="64" y="372"/>
                    <a:pt x="57" y="372"/>
                    <a:pt x="55" y="372"/>
                  </a:cubicBezTo>
                  <a:cubicBezTo>
                    <a:pt x="51" y="372"/>
                    <a:pt x="48" y="372"/>
                    <a:pt x="46" y="374"/>
                  </a:cubicBezTo>
                  <a:cubicBezTo>
                    <a:pt x="44" y="376"/>
                    <a:pt x="0" y="554"/>
                    <a:pt x="0" y="557"/>
                  </a:cubicBezTo>
                  <a:cubicBezTo>
                    <a:pt x="0" y="561"/>
                    <a:pt x="4" y="565"/>
                    <a:pt x="9" y="565"/>
                  </a:cubicBezTo>
                  <a:cubicBezTo>
                    <a:pt x="13" y="565"/>
                    <a:pt x="13" y="563"/>
                    <a:pt x="22" y="552"/>
                  </a:cubicBezTo>
                  <a:lnTo>
                    <a:pt x="62" y="508"/>
                  </a:lnTo>
                  <a:cubicBezTo>
                    <a:pt x="95" y="554"/>
                    <a:pt x="147" y="565"/>
                    <a:pt x="191" y="565"/>
                  </a:cubicBezTo>
                  <a:cubicBezTo>
                    <a:pt x="297" y="565"/>
                    <a:pt x="389" y="462"/>
                    <a:pt x="389" y="365"/>
                  </a:cubicBezTo>
                  <a:cubicBezTo>
                    <a:pt x="389" y="310"/>
                    <a:pt x="363" y="284"/>
                    <a:pt x="352" y="275"/>
                  </a:cubicBezTo>
                  <a:cubicBezTo>
                    <a:pt x="334" y="255"/>
                    <a:pt x="321" y="253"/>
                    <a:pt x="253" y="235"/>
                  </a:cubicBezTo>
                  <a:cubicBezTo>
                    <a:pt x="235" y="231"/>
                    <a:pt x="207" y="222"/>
                    <a:pt x="200" y="222"/>
                  </a:cubicBezTo>
                  <a:cubicBezTo>
                    <a:pt x="180" y="213"/>
                    <a:pt x="154" y="191"/>
                    <a:pt x="154" y="150"/>
                  </a:cubicBezTo>
                  <a:cubicBezTo>
                    <a:pt x="154" y="88"/>
                    <a:pt x="216" y="22"/>
                    <a:pt x="288" y="22"/>
                  </a:cubicBezTo>
                  <a:cubicBezTo>
                    <a:pt x="354" y="22"/>
                    <a:pt x="400" y="55"/>
                    <a:pt x="400" y="143"/>
                  </a:cubicBezTo>
                  <a:cubicBezTo>
                    <a:pt x="400" y="167"/>
                    <a:pt x="398" y="180"/>
                    <a:pt x="398" y="185"/>
                  </a:cubicBezTo>
                  <a:cubicBezTo>
                    <a:pt x="398" y="187"/>
                    <a:pt x="398" y="194"/>
                    <a:pt x="407" y="194"/>
                  </a:cubicBezTo>
                  <a:cubicBezTo>
                    <a:pt x="416" y="194"/>
                    <a:pt x="416" y="191"/>
                    <a:pt x="418" y="178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7" name="Freeform 415">
              <a:extLst>
                <a:ext uri="{FF2B5EF4-FFF2-40B4-BE49-F238E27FC236}">
                  <a16:creationId xmlns:a16="http://schemas.microsoft.com/office/drawing/2014/main" id="{435A6B17-8888-7EB0-A5FA-3273AC34C91E}"/>
                </a:ext>
              </a:extLst>
            </p:cNvPr>
            <p:cNvSpPr/>
            <p:nvPr/>
          </p:nvSpPr>
          <p:spPr>
            <a:xfrm>
              <a:off x="3920563" y="5692606"/>
              <a:ext cx="230484" cy="81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9" h="33">
                  <a:moveTo>
                    <a:pt x="4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909" y="0"/>
                  </a:lnTo>
                  <a:lnTo>
                    <a:pt x="909" y="3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8" name="Freeform 416">
              <a:extLst>
                <a:ext uri="{FF2B5EF4-FFF2-40B4-BE49-F238E27FC236}">
                  <a16:creationId xmlns:a16="http://schemas.microsoft.com/office/drawing/2014/main" id="{EC3C927B-8A7F-8062-8758-BDD2CBD236E4}"/>
                </a:ext>
              </a:extLst>
            </p:cNvPr>
            <p:cNvSpPr/>
            <p:nvPr/>
          </p:nvSpPr>
          <p:spPr>
            <a:xfrm>
              <a:off x="4184553" y="5597988"/>
              <a:ext cx="46198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3" h="774">
                  <a:moveTo>
                    <a:pt x="183" y="387"/>
                  </a:moveTo>
                  <a:cubicBezTo>
                    <a:pt x="183" y="328"/>
                    <a:pt x="174" y="233"/>
                    <a:pt x="130" y="145"/>
                  </a:cubicBezTo>
                  <a:cubicBezTo>
                    <a:pt x="84" y="51"/>
                    <a:pt x="15" y="0"/>
                    <a:pt x="9" y="0"/>
                  </a:cubicBezTo>
                  <a:cubicBezTo>
                    <a:pt x="2" y="0"/>
                    <a:pt x="0" y="2"/>
                    <a:pt x="0" y="9"/>
                  </a:cubicBezTo>
                  <a:cubicBezTo>
                    <a:pt x="0" y="11"/>
                    <a:pt x="0" y="11"/>
                    <a:pt x="15" y="26"/>
                  </a:cubicBezTo>
                  <a:cubicBezTo>
                    <a:pt x="92" y="103"/>
                    <a:pt x="136" y="227"/>
                    <a:pt x="136" y="387"/>
                  </a:cubicBezTo>
                  <a:cubicBezTo>
                    <a:pt x="136" y="521"/>
                    <a:pt x="108" y="658"/>
                    <a:pt x="11" y="755"/>
                  </a:cubicBezTo>
                  <a:cubicBezTo>
                    <a:pt x="0" y="763"/>
                    <a:pt x="0" y="766"/>
                    <a:pt x="0" y="768"/>
                  </a:cubicBezTo>
                  <a:cubicBezTo>
                    <a:pt x="0" y="772"/>
                    <a:pt x="2" y="774"/>
                    <a:pt x="9" y="774"/>
                  </a:cubicBezTo>
                  <a:cubicBezTo>
                    <a:pt x="15" y="774"/>
                    <a:pt x="86" y="722"/>
                    <a:pt x="132" y="625"/>
                  </a:cubicBezTo>
                  <a:cubicBezTo>
                    <a:pt x="172" y="539"/>
                    <a:pt x="183" y="453"/>
                    <a:pt x="183" y="3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99" name="Freeform 417">
              <a:extLst>
                <a:ext uri="{FF2B5EF4-FFF2-40B4-BE49-F238E27FC236}">
                  <a16:creationId xmlns:a16="http://schemas.microsoft.com/office/drawing/2014/main" id="{A183D169-FAB5-4D5D-EFF1-FB28050C37E1}"/>
                </a:ext>
              </a:extLst>
            </p:cNvPr>
            <p:cNvSpPr/>
            <p:nvPr/>
          </p:nvSpPr>
          <p:spPr>
            <a:xfrm>
              <a:off x="4273395" y="5597988"/>
              <a:ext cx="8123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" h="774">
                  <a:moveTo>
                    <a:pt x="33" y="29"/>
                  </a:moveTo>
                  <a:cubicBezTo>
                    <a:pt x="33" y="13"/>
                    <a:pt x="33" y="0"/>
                    <a:pt x="18" y="0"/>
                  </a:cubicBezTo>
                  <a:cubicBezTo>
                    <a:pt x="0" y="0"/>
                    <a:pt x="0" y="13"/>
                    <a:pt x="0" y="29"/>
                  </a:cubicBezTo>
                  <a:lnTo>
                    <a:pt x="0" y="748"/>
                  </a:lnTo>
                  <a:cubicBezTo>
                    <a:pt x="0" y="761"/>
                    <a:pt x="0" y="774"/>
                    <a:pt x="18" y="774"/>
                  </a:cubicBezTo>
                  <a:cubicBezTo>
                    <a:pt x="33" y="774"/>
                    <a:pt x="33" y="761"/>
                    <a:pt x="33" y="7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0" name="Freeform 418">
              <a:extLst>
                <a:ext uri="{FF2B5EF4-FFF2-40B4-BE49-F238E27FC236}">
                  <a16:creationId xmlns:a16="http://schemas.microsoft.com/office/drawing/2014/main" id="{20D5C962-221A-940D-8C51-0EE9DB80BB82}"/>
                </a:ext>
              </a:extLst>
            </p:cNvPr>
            <p:cNvSpPr/>
            <p:nvPr/>
          </p:nvSpPr>
          <p:spPr>
            <a:xfrm>
              <a:off x="4310202" y="5658523"/>
              <a:ext cx="106357" cy="8927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352">
                  <a:moveTo>
                    <a:pt x="46" y="297"/>
                  </a:moveTo>
                  <a:cubicBezTo>
                    <a:pt x="44" y="310"/>
                    <a:pt x="40" y="328"/>
                    <a:pt x="40" y="332"/>
                  </a:cubicBezTo>
                  <a:cubicBezTo>
                    <a:pt x="40" y="345"/>
                    <a:pt x="51" y="352"/>
                    <a:pt x="62" y="352"/>
                  </a:cubicBezTo>
                  <a:cubicBezTo>
                    <a:pt x="70" y="352"/>
                    <a:pt x="86" y="345"/>
                    <a:pt x="90" y="330"/>
                  </a:cubicBezTo>
                  <a:cubicBezTo>
                    <a:pt x="90" y="330"/>
                    <a:pt x="101" y="293"/>
                    <a:pt x="106" y="273"/>
                  </a:cubicBezTo>
                  <a:lnTo>
                    <a:pt x="121" y="202"/>
                  </a:lnTo>
                  <a:cubicBezTo>
                    <a:pt x="128" y="187"/>
                    <a:pt x="132" y="169"/>
                    <a:pt x="134" y="152"/>
                  </a:cubicBezTo>
                  <a:cubicBezTo>
                    <a:pt x="139" y="139"/>
                    <a:pt x="145" y="114"/>
                    <a:pt x="145" y="112"/>
                  </a:cubicBezTo>
                  <a:cubicBezTo>
                    <a:pt x="156" y="88"/>
                    <a:pt x="198" y="18"/>
                    <a:pt x="273" y="18"/>
                  </a:cubicBezTo>
                  <a:cubicBezTo>
                    <a:pt x="308" y="18"/>
                    <a:pt x="315" y="46"/>
                    <a:pt x="315" y="73"/>
                  </a:cubicBezTo>
                  <a:cubicBezTo>
                    <a:pt x="315" y="119"/>
                    <a:pt x="275" y="220"/>
                    <a:pt x="264" y="253"/>
                  </a:cubicBezTo>
                  <a:cubicBezTo>
                    <a:pt x="257" y="271"/>
                    <a:pt x="255" y="279"/>
                    <a:pt x="255" y="288"/>
                  </a:cubicBezTo>
                  <a:cubicBezTo>
                    <a:pt x="255" y="326"/>
                    <a:pt x="284" y="352"/>
                    <a:pt x="319" y="352"/>
                  </a:cubicBezTo>
                  <a:cubicBezTo>
                    <a:pt x="392" y="352"/>
                    <a:pt x="420" y="240"/>
                    <a:pt x="420" y="233"/>
                  </a:cubicBezTo>
                  <a:cubicBezTo>
                    <a:pt x="420" y="224"/>
                    <a:pt x="414" y="224"/>
                    <a:pt x="411" y="224"/>
                  </a:cubicBezTo>
                  <a:cubicBezTo>
                    <a:pt x="405" y="224"/>
                    <a:pt x="405" y="227"/>
                    <a:pt x="400" y="240"/>
                  </a:cubicBezTo>
                  <a:cubicBezTo>
                    <a:pt x="385" y="293"/>
                    <a:pt x="359" y="334"/>
                    <a:pt x="321" y="334"/>
                  </a:cubicBezTo>
                  <a:cubicBezTo>
                    <a:pt x="308" y="334"/>
                    <a:pt x="301" y="328"/>
                    <a:pt x="301" y="310"/>
                  </a:cubicBezTo>
                  <a:cubicBezTo>
                    <a:pt x="301" y="290"/>
                    <a:pt x="310" y="271"/>
                    <a:pt x="317" y="255"/>
                  </a:cubicBezTo>
                  <a:cubicBezTo>
                    <a:pt x="332" y="213"/>
                    <a:pt x="363" y="128"/>
                    <a:pt x="363" y="84"/>
                  </a:cubicBezTo>
                  <a:cubicBezTo>
                    <a:pt x="363" y="31"/>
                    <a:pt x="330" y="0"/>
                    <a:pt x="275" y="0"/>
                  </a:cubicBezTo>
                  <a:cubicBezTo>
                    <a:pt x="205" y="0"/>
                    <a:pt x="167" y="51"/>
                    <a:pt x="154" y="68"/>
                  </a:cubicBezTo>
                  <a:cubicBezTo>
                    <a:pt x="150" y="24"/>
                    <a:pt x="117" y="0"/>
                    <a:pt x="81" y="0"/>
                  </a:cubicBezTo>
                  <a:cubicBezTo>
                    <a:pt x="46" y="0"/>
                    <a:pt x="31" y="31"/>
                    <a:pt x="24" y="44"/>
                  </a:cubicBezTo>
                  <a:cubicBezTo>
                    <a:pt x="11" y="70"/>
                    <a:pt x="0" y="117"/>
                    <a:pt x="0" y="119"/>
                  </a:cubicBezTo>
                  <a:cubicBezTo>
                    <a:pt x="0" y="128"/>
                    <a:pt x="9" y="128"/>
                    <a:pt x="9" y="128"/>
                  </a:cubicBezTo>
                  <a:cubicBezTo>
                    <a:pt x="18" y="128"/>
                    <a:pt x="18" y="128"/>
                    <a:pt x="22" y="110"/>
                  </a:cubicBezTo>
                  <a:cubicBezTo>
                    <a:pt x="35" y="55"/>
                    <a:pt x="51" y="18"/>
                    <a:pt x="79" y="18"/>
                  </a:cubicBezTo>
                  <a:cubicBezTo>
                    <a:pt x="95" y="18"/>
                    <a:pt x="103" y="26"/>
                    <a:pt x="103" y="53"/>
                  </a:cubicBezTo>
                  <a:cubicBezTo>
                    <a:pt x="103" y="68"/>
                    <a:pt x="101" y="77"/>
                    <a:pt x="90" y="1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1" name="Freeform 419">
              <a:extLst>
                <a:ext uri="{FF2B5EF4-FFF2-40B4-BE49-F238E27FC236}">
                  <a16:creationId xmlns:a16="http://schemas.microsoft.com/office/drawing/2014/main" id="{07A2B56E-6E16-E9EB-F500-092DA6BC30F5}"/>
                </a:ext>
              </a:extLst>
            </p:cNvPr>
            <p:cNvSpPr/>
            <p:nvPr/>
          </p:nvSpPr>
          <p:spPr>
            <a:xfrm>
              <a:off x="4476718" y="5631054"/>
              <a:ext cx="130980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7" h="517">
                  <a:moveTo>
                    <a:pt x="275" y="275"/>
                  </a:moveTo>
                  <a:lnTo>
                    <a:pt x="491" y="275"/>
                  </a:lnTo>
                  <a:cubicBezTo>
                    <a:pt x="502" y="275"/>
                    <a:pt x="517" y="275"/>
                    <a:pt x="517" y="260"/>
                  </a:cubicBezTo>
                  <a:cubicBezTo>
                    <a:pt x="517" y="242"/>
                    <a:pt x="502" y="242"/>
                    <a:pt x="491" y="242"/>
                  </a:cubicBezTo>
                  <a:lnTo>
                    <a:pt x="275" y="242"/>
                  </a:lnTo>
                  <a:lnTo>
                    <a:pt x="275" y="26"/>
                  </a:lnTo>
                  <a:cubicBezTo>
                    <a:pt x="275" y="15"/>
                    <a:pt x="275" y="0"/>
                    <a:pt x="260" y="0"/>
                  </a:cubicBezTo>
                  <a:cubicBezTo>
                    <a:pt x="242" y="0"/>
                    <a:pt x="242" y="15"/>
                    <a:pt x="242" y="26"/>
                  </a:cubicBezTo>
                  <a:lnTo>
                    <a:pt x="242" y="242"/>
                  </a:lnTo>
                  <a:lnTo>
                    <a:pt x="26" y="242"/>
                  </a:lnTo>
                  <a:cubicBezTo>
                    <a:pt x="15" y="242"/>
                    <a:pt x="0" y="242"/>
                    <a:pt x="0" y="260"/>
                  </a:cubicBezTo>
                  <a:cubicBezTo>
                    <a:pt x="0" y="275"/>
                    <a:pt x="15" y="275"/>
                    <a:pt x="26" y="275"/>
                  </a:cubicBezTo>
                  <a:lnTo>
                    <a:pt x="242" y="275"/>
                  </a:lnTo>
                  <a:lnTo>
                    <a:pt x="242" y="491"/>
                  </a:lnTo>
                  <a:cubicBezTo>
                    <a:pt x="242" y="502"/>
                    <a:pt x="242" y="517"/>
                    <a:pt x="260" y="517"/>
                  </a:cubicBezTo>
                  <a:cubicBezTo>
                    <a:pt x="275" y="517"/>
                    <a:pt x="275" y="502"/>
                    <a:pt x="275" y="4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2" name="Freeform 420">
              <a:extLst>
                <a:ext uri="{FF2B5EF4-FFF2-40B4-BE49-F238E27FC236}">
                  <a16:creationId xmlns:a16="http://schemas.microsoft.com/office/drawing/2014/main" id="{50FD878D-60DC-6F6D-24EB-77F12F254513}"/>
                </a:ext>
              </a:extLst>
            </p:cNvPr>
            <p:cNvSpPr/>
            <p:nvPr/>
          </p:nvSpPr>
          <p:spPr>
            <a:xfrm>
              <a:off x="4679280" y="5614775"/>
              <a:ext cx="64982" cy="13124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7" h="517">
                  <a:moveTo>
                    <a:pt x="161" y="20"/>
                  </a:moveTo>
                  <a:cubicBezTo>
                    <a:pt x="161" y="2"/>
                    <a:pt x="161" y="0"/>
                    <a:pt x="143" y="0"/>
                  </a:cubicBezTo>
                  <a:cubicBezTo>
                    <a:pt x="95" y="51"/>
                    <a:pt x="24" y="51"/>
                    <a:pt x="0" y="51"/>
                  </a:cubicBezTo>
                  <a:lnTo>
                    <a:pt x="0" y="75"/>
                  </a:lnTo>
                  <a:cubicBezTo>
                    <a:pt x="15" y="75"/>
                    <a:pt x="62" y="75"/>
                    <a:pt x="101" y="53"/>
                  </a:cubicBezTo>
                  <a:lnTo>
                    <a:pt x="101" y="455"/>
                  </a:lnTo>
                  <a:cubicBezTo>
                    <a:pt x="101" y="484"/>
                    <a:pt x="99" y="493"/>
                    <a:pt x="29" y="493"/>
                  </a:cubicBezTo>
                  <a:lnTo>
                    <a:pt x="4" y="493"/>
                  </a:lnTo>
                  <a:lnTo>
                    <a:pt x="4" y="517"/>
                  </a:lnTo>
                  <a:cubicBezTo>
                    <a:pt x="33" y="515"/>
                    <a:pt x="99" y="515"/>
                    <a:pt x="132" y="515"/>
                  </a:cubicBezTo>
                  <a:cubicBezTo>
                    <a:pt x="163" y="515"/>
                    <a:pt x="231" y="515"/>
                    <a:pt x="257" y="517"/>
                  </a:cubicBezTo>
                  <a:lnTo>
                    <a:pt x="257" y="493"/>
                  </a:lnTo>
                  <a:lnTo>
                    <a:pt x="233" y="493"/>
                  </a:lnTo>
                  <a:cubicBezTo>
                    <a:pt x="163" y="493"/>
                    <a:pt x="161" y="484"/>
                    <a:pt x="161" y="4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3" name="Freeform 421">
              <a:extLst>
                <a:ext uri="{FF2B5EF4-FFF2-40B4-BE49-F238E27FC236}">
                  <a16:creationId xmlns:a16="http://schemas.microsoft.com/office/drawing/2014/main" id="{E67767BB-1227-675E-C85A-160ED39EA577}"/>
                </a:ext>
              </a:extLst>
            </p:cNvPr>
            <p:cNvSpPr/>
            <p:nvPr/>
          </p:nvSpPr>
          <p:spPr>
            <a:xfrm>
              <a:off x="4770915" y="5597988"/>
              <a:ext cx="43914" cy="1966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4" h="774">
                  <a:moveTo>
                    <a:pt x="172" y="400"/>
                  </a:moveTo>
                  <a:cubicBezTo>
                    <a:pt x="174" y="392"/>
                    <a:pt x="174" y="389"/>
                    <a:pt x="174" y="387"/>
                  </a:cubicBezTo>
                  <a:cubicBezTo>
                    <a:pt x="174" y="385"/>
                    <a:pt x="174" y="383"/>
                    <a:pt x="172" y="374"/>
                  </a:cubicBezTo>
                  <a:lnTo>
                    <a:pt x="33" y="18"/>
                  </a:lnTo>
                  <a:cubicBezTo>
                    <a:pt x="29" y="4"/>
                    <a:pt x="24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18"/>
                    <a:pt x="0" y="20"/>
                    <a:pt x="4" y="29"/>
                  </a:cubicBezTo>
                  <a:lnTo>
                    <a:pt x="143" y="387"/>
                  </a:lnTo>
                  <a:lnTo>
                    <a:pt x="4" y="746"/>
                  </a:lnTo>
                  <a:cubicBezTo>
                    <a:pt x="0" y="755"/>
                    <a:pt x="0" y="757"/>
                    <a:pt x="0" y="759"/>
                  </a:cubicBezTo>
                  <a:cubicBezTo>
                    <a:pt x="0" y="768"/>
                    <a:pt x="7" y="774"/>
                    <a:pt x="15" y="774"/>
                  </a:cubicBezTo>
                  <a:cubicBezTo>
                    <a:pt x="26" y="774"/>
                    <a:pt x="29" y="768"/>
                    <a:pt x="33" y="7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4" name="Freeform 454">
              <a:extLst>
                <a:ext uri="{FF2B5EF4-FFF2-40B4-BE49-F238E27FC236}">
                  <a16:creationId xmlns:a16="http://schemas.microsoft.com/office/drawing/2014/main" id="{753BD1DD-E740-35EC-8C87-10909E1D5D2C}"/>
                </a:ext>
              </a:extLst>
            </p:cNvPr>
            <p:cNvSpPr/>
            <p:nvPr/>
          </p:nvSpPr>
          <p:spPr>
            <a:xfrm>
              <a:off x="1488810" y="4743885"/>
              <a:ext cx="3524773" cy="1225961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223786">
                <a:alpha val="20000"/>
              </a:srgbClr>
            </a:solidFill>
            <a:ln w="0">
              <a:solidFill>
                <a:srgbClr val="666465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F3B42671-0ED5-1D8F-F9C6-5FFE9F0FC2A6}"/>
              </a:ext>
            </a:extLst>
          </p:cNvPr>
          <p:cNvSpPr txBox="1"/>
          <p:nvPr/>
        </p:nvSpPr>
        <p:spPr>
          <a:xfrm>
            <a:off x="8129831" y="5294133"/>
            <a:ext cx="2323158" cy="7987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linear </a:t>
            </a:r>
            <a:r>
              <a:rPr lang="en-US" sz="1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spin wave theory means ignoring the terms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 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Droid Sans Fallback" pitchFamily="2"/>
                <a:cs typeface="FreeSans" pitchFamily="2"/>
              </a:rPr>
              <a:t>blue</a:t>
            </a:r>
            <a:r>
              <a:rPr lang="en-US" sz="1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39BE84B-2F42-1BF4-0C52-668F3930CBFF}"/>
              </a:ext>
            </a:extLst>
          </p:cNvPr>
          <p:cNvGrpSpPr/>
          <p:nvPr/>
        </p:nvGrpSpPr>
        <p:grpSpPr>
          <a:xfrm>
            <a:off x="2828202" y="6297030"/>
            <a:ext cx="6079383" cy="300895"/>
            <a:chOff x="901940" y="6221397"/>
            <a:chExt cx="6079383" cy="300895"/>
          </a:xfrm>
        </p:grpSpPr>
        <p:sp>
          <p:nvSpPr>
            <p:cNvPr id="207" name="Freeform 456">
              <a:extLst>
                <a:ext uri="{FF2B5EF4-FFF2-40B4-BE49-F238E27FC236}">
                  <a16:creationId xmlns:a16="http://schemas.microsoft.com/office/drawing/2014/main" id="{92B4CF9C-7B2F-D80C-719A-02AFC3D489E1}"/>
                </a:ext>
              </a:extLst>
            </p:cNvPr>
            <p:cNvSpPr/>
            <p:nvPr/>
          </p:nvSpPr>
          <p:spPr>
            <a:xfrm>
              <a:off x="901940" y="6221397"/>
              <a:ext cx="6079383" cy="30089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951" h="1184">
                  <a:moveTo>
                    <a:pt x="11976" y="1184"/>
                  </a:moveTo>
                  <a:lnTo>
                    <a:pt x="0" y="1184"/>
                  </a:lnTo>
                  <a:lnTo>
                    <a:pt x="0" y="0"/>
                  </a:lnTo>
                  <a:lnTo>
                    <a:pt x="23951" y="0"/>
                  </a:lnTo>
                  <a:lnTo>
                    <a:pt x="23951" y="1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8" name="Freeform 457">
              <a:extLst>
                <a:ext uri="{FF2B5EF4-FFF2-40B4-BE49-F238E27FC236}">
                  <a16:creationId xmlns:a16="http://schemas.microsoft.com/office/drawing/2014/main" id="{161AC773-C522-B9C1-D636-87138331DD80}"/>
                </a:ext>
              </a:extLst>
            </p:cNvPr>
            <p:cNvSpPr/>
            <p:nvPr/>
          </p:nvSpPr>
          <p:spPr>
            <a:xfrm>
              <a:off x="973014" y="6244797"/>
              <a:ext cx="67267" cy="389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6" h="154">
                  <a:moveTo>
                    <a:pt x="134" y="0"/>
                  </a:moveTo>
                  <a:lnTo>
                    <a:pt x="0" y="137"/>
                  </a:lnTo>
                  <a:lnTo>
                    <a:pt x="17" y="154"/>
                  </a:lnTo>
                  <a:lnTo>
                    <a:pt x="134" y="53"/>
                  </a:lnTo>
                  <a:lnTo>
                    <a:pt x="246" y="154"/>
                  </a:lnTo>
                  <a:lnTo>
                    <a:pt x="266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09" name="Freeform 458">
              <a:extLst>
                <a:ext uri="{FF2B5EF4-FFF2-40B4-BE49-F238E27FC236}">
                  <a16:creationId xmlns:a16="http://schemas.microsoft.com/office/drawing/2014/main" id="{61BA8381-E2E6-CA14-A33B-B480E0AA112F}"/>
                </a:ext>
              </a:extLst>
            </p:cNvPr>
            <p:cNvSpPr/>
            <p:nvPr/>
          </p:nvSpPr>
          <p:spPr>
            <a:xfrm>
              <a:off x="914632" y="6305332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0" name="Freeform 459">
              <a:extLst>
                <a:ext uri="{FF2B5EF4-FFF2-40B4-BE49-F238E27FC236}">
                  <a16:creationId xmlns:a16="http://schemas.microsoft.com/office/drawing/2014/main" id="{E8A79D15-9571-4FD7-F7B3-7E298DF45630}"/>
                </a:ext>
              </a:extLst>
            </p:cNvPr>
            <p:cNvSpPr/>
            <p:nvPr/>
          </p:nvSpPr>
          <p:spPr>
            <a:xfrm>
              <a:off x="1088256" y="6330259"/>
              <a:ext cx="118542" cy="89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8" h="36">
                  <a:moveTo>
                    <a:pt x="440" y="36"/>
                  </a:moveTo>
                  <a:cubicBezTo>
                    <a:pt x="451" y="36"/>
                    <a:pt x="468" y="36"/>
                    <a:pt x="468" y="20"/>
                  </a:cubicBezTo>
                  <a:cubicBezTo>
                    <a:pt x="468" y="0"/>
                    <a:pt x="454" y="0"/>
                    <a:pt x="440" y="0"/>
                  </a:cubicBezTo>
                  <a:lnTo>
                    <a:pt x="28" y="0"/>
                  </a:lnTo>
                  <a:cubicBezTo>
                    <a:pt x="17" y="0"/>
                    <a:pt x="0" y="0"/>
                    <a:pt x="0" y="17"/>
                  </a:cubicBezTo>
                  <a:cubicBezTo>
                    <a:pt x="0" y="36"/>
                    <a:pt x="17" y="36"/>
                    <a:pt x="28" y="3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1" name="Freeform 460">
              <a:extLst>
                <a:ext uri="{FF2B5EF4-FFF2-40B4-BE49-F238E27FC236}">
                  <a16:creationId xmlns:a16="http://schemas.microsoft.com/office/drawing/2014/main" id="{40557E3E-5071-94E7-841F-8671D890310E}"/>
                </a:ext>
              </a:extLst>
            </p:cNvPr>
            <p:cNvSpPr/>
            <p:nvPr/>
          </p:nvSpPr>
          <p:spPr>
            <a:xfrm>
              <a:off x="1321278" y="6389521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2" name="Freeform 461">
              <a:extLst>
                <a:ext uri="{FF2B5EF4-FFF2-40B4-BE49-F238E27FC236}">
                  <a16:creationId xmlns:a16="http://schemas.microsoft.com/office/drawing/2014/main" id="{2654B80C-13F9-C9B7-63A6-0F0E30473079}"/>
                </a:ext>
              </a:extLst>
            </p:cNvPr>
            <p:cNvSpPr/>
            <p:nvPr/>
          </p:nvSpPr>
          <p:spPr>
            <a:xfrm>
              <a:off x="1581460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3" name="Freeform 462">
              <a:extLst>
                <a:ext uri="{FF2B5EF4-FFF2-40B4-BE49-F238E27FC236}">
                  <a16:creationId xmlns:a16="http://schemas.microsoft.com/office/drawing/2014/main" id="{3FE8B7CA-A2A0-7A4D-3333-1F324A87BFD8}"/>
                </a:ext>
              </a:extLst>
            </p:cNvPr>
            <p:cNvSpPr/>
            <p:nvPr/>
          </p:nvSpPr>
          <p:spPr>
            <a:xfrm>
              <a:off x="1716501" y="6254971"/>
              <a:ext cx="65236" cy="1612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5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299"/>
                    <a:pt x="101" y="336"/>
                  </a:cubicBezTo>
                  <a:cubicBezTo>
                    <a:pt x="101" y="470"/>
                    <a:pt x="115" y="610"/>
                    <a:pt x="118" y="624"/>
                  </a:cubicBezTo>
                  <a:cubicBezTo>
                    <a:pt x="118" y="630"/>
                    <a:pt x="120" y="635"/>
                    <a:pt x="129" y="635"/>
                  </a:cubicBezTo>
                  <a:cubicBezTo>
                    <a:pt x="140" y="635"/>
                    <a:pt x="140" y="630"/>
                    <a:pt x="140" y="621"/>
                  </a:cubicBezTo>
                  <a:cubicBezTo>
                    <a:pt x="140" y="621"/>
                    <a:pt x="146" y="560"/>
                    <a:pt x="148" y="518"/>
                  </a:cubicBezTo>
                  <a:cubicBezTo>
                    <a:pt x="154" y="456"/>
                    <a:pt x="157" y="397"/>
                    <a:pt x="157" y="336"/>
                  </a:cubicBezTo>
                  <a:cubicBezTo>
                    <a:pt x="157" y="299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4" name="Freeform 463">
              <a:extLst>
                <a:ext uri="{FF2B5EF4-FFF2-40B4-BE49-F238E27FC236}">
                  <a16:creationId xmlns:a16="http://schemas.microsoft.com/office/drawing/2014/main" id="{8793E286-3B32-409F-CE26-DEE5AFD56138}"/>
                </a:ext>
              </a:extLst>
            </p:cNvPr>
            <p:cNvSpPr/>
            <p:nvPr/>
          </p:nvSpPr>
          <p:spPr>
            <a:xfrm>
              <a:off x="1834534" y="6221397"/>
              <a:ext cx="227945" cy="30089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9" h="1184">
                  <a:moveTo>
                    <a:pt x="311" y="1184"/>
                  </a:moveTo>
                  <a:cubicBezTo>
                    <a:pt x="342" y="1184"/>
                    <a:pt x="342" y="1181"/>
                    <a:pt x="353" y="1164"/>
                  </a:cubicBezTo>
                  <a:lnTo>
                    <a:pt x="890" y="36"/>
                  </a:lnTo>
                  <a:cubicBezTo>
                    <a:pt x="899" y="25"/>
                    <a:pt x="899" y="22"/>
                    <a:pt x="899" y="20"/>
                  </a:cubicBezTo>
                  <a:cubicBezTo>
                    <a:pt x="899" y="8"/>
                    <a:pt x="890" y="0"/>
                    <a:pt x="879" y="0"/>
                  </a:cubicBezTo>
                  <a:cubicBezTo>
                    <a:pt x="865" y="0"/>
                    <a:pt x="862" y="8"/>
                    <a:pt x="857" y="20"/>
                  </a:cubicBezTo>
                  <a:lnTo>
                    <a:pt x="347" y="1080"/>
                  </a:lnTo>
                  <a:lnTo>
                    <a:pt x="137" y="591"/>
                  </a:lnTo>
                  <a:lnTo>
                    <a:pt x="0" y="697"/>
                  </a:lnTo>
                  <a:lnTo>
                    <a:pt x="14" y="714"/>
                  </a:lnTo>
                  <a:lnTo>
                    <a:pt x="84" y="6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5" name="Freeform 464">
              <a:extLst>
                <a:ext uri="{FF2B5EF4-FFF2-40B4-BE49-F238E27FC236}">
                  <a16:creationId xmlns:a16="http://schemas.microsoft.com/office/drawing/2014/main" id="{B9D53852-E92B-16BA-8E70-D1E824FA9069}"/>
                </a:ext>
              </a:extLst>
            </p:cNvPr>
            <p:cNvSpPr/>
            <p:nvPr/>
          </p:nvSpPr>
          <p:spPr>
            <a:xfrm>
              <a:off x="2056896" y="6221397"/>
              <a:ext cx="966355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08" h="42">
                  <a:moveTo>
                    <a:pt x="1904" y="42"/>
                  </a:moveTo>
                  <a:lnTo>
                    <a:pt x="0" y="42"/>
                  </a:lnTo>
                  <a:lnTo>
                    <a:pt x="0" y="0"/>
                  </a:lnTo>
                  <a:lnTo>
                    <a:pt x="3808" y="0"/>
                  </a:lnTo>
                  <a:lnTo>
                    <a:pt x="3808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6" name="Freeform 465">
              <a:extLst>
                <a:ext uri="{FF2B5EF4-FFF2-40B4-BE49-F238E27FC236}">
                  <a16:creationId xmlns:a16="http://schemas.microsoft.com/office/drawing/2014/main" id="{818B1D78-67D7-6017-3801-91097B72DC2B}"/>
                </a:ext>
              </a:extLst>
            </p:cNvPr>
            <p:cNvSpPr/>
            <p:nvPr/>
          </p:nvSpPr>
          <p:spPr>
            <a:xfrm>
              <a:off x="2069588" y="6314743"/>
              <a:ext cx="100012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5" h="658">
                  <a:moveTo>
                    <a:pt x="76" y="582"/>
                  </a:moveTo>
                  <a:lnTo>
                    <a:pt x="182" y="481"/>
                  </a:lnTo>
                  <a:cubicBezTo>
                    <a:pt x="336" y="344"/>
                    <a:pt x="395" y="291"/>
                    <a:pt x="395" y="190"/>
                  </a:cubicBezTo>
                  <a:cubicBezTo>
                    <a:pt x="395" y="78"/>
                    <a:pt x="305" y="0"/>
                    <a:pt x="185" y="0"/>
                  </a:cubicBezTo>
                  <a:cubicBezTo>
                    <a:pt x="73" y="0"/>
                    <a:pt x="0" y="90"/>
                    <a:pt x="0" y="179"/>
                  </a:cubicBezTo>
                  <a:cubicBezTo>
                    <a:pt x="0" y="235"/>
                    <a:pt x="50" y="235"/>
                    <a:pt x="53" y="235"/>
                  </a:cubicBezTo>
                  <a:cubicBezTo>
                    <a:pt x="70" y="235"/>
                    <a:pt x="104" y="221"/>
                    <a:pt x="104" y="182"/>
                  </a:cubicBezTo>
                  <a:cubicBezTo>
                    <a:pt x="104" y="157"/>
                    <a:pt x="87" y="132"/>
                    <a:pt x="50" y="132"/>
                  </a:cubicBezTo>
                  <a:cubicBezTo>
                    <a:pt x="45" y="132"/>
                    <a:pt x="42" y="132"/>
                    <a:pt x="39" y="132"/>
                  </a:cubicBezTo>
                  <a:cubicBezTo>
                    <a:pt x="62" y="67"/>
                    <a:pt x="115" y="31"/>
                    <a:pt x="174" y="31"/>
                  </a:cubicBezTo>
                  <a:cubicBezTo>
                    <a:pt x="263" y="31"/>
                    <a:pt x="305" y="112"/>
                    <a:pt x="305" y="190"/>
                  </a:cubicBezTo>
                  <a:cubicBezTo>
                    <a:pt x="305" y="272"/>
                    <a:pt x="255" y="350"/>
                    <a:pt x="202" y="409"/>
                  </a:cubicBezTo>
                  <a:lnTo>
                    <a:pt x="11" y="621"/>
                  </a:lnTo>
                  <a:cubicBezTo>
                    <a:pt x="0" y="633"/>
                    <a:pt x="0" y="635"/>
                    <a:pt x="0" y="658"/>
                  </a:cubicBezTo>
                  <a:lnTo>
                    <a:pt x="367" y="658"/>
                  </a:lnTo>
                  <a:lnTo>
                    <a:pt x="395" y="487"/>
                  </a:lnTo>
                  <a:lnTo>
                    <a:pt x="370" y="487"/>
                  </a:lnTo>
                  <a:cubicBezTo>
                    <a:pt x="367" y="515"/>
                    <a:pt x="358" y="560"/>
                    <a:pt x="350" y="574"/>
                  </a:cubicBezTo>
                  <a:cubicBezTo>
                    <a:pt x="342" y="582"/>
                    <a:pt x="277" y="582"/>
                    <a:pt x="255" y="5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7" name="Freeform 466">
              <a:extLst>
                <a:ext uri="{FF2B5EF4-FFF2-40B4-BE49-F238E27FC236}">
                  <a16:creationId xmlns:a16="http://schemas.microsoft.com/office/drawing/2014/main" id="{49C2C973-F5A3-CBC5-1165-24EB7A29D944}"/>
                </a:ext>
              </a:extLst>
            </p:cNvPr>
            <p:cNvSpPr/>
            <p:nvPr/>
          </p:nvSpPr>
          <p:spPr>
            <a:xfrm>
              <a:off x="2194729" y="6305332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8" name="Freeform 467">
              <a:extLst>
                <a:ext uri="{FF2B5EF4-FFF2-40B4-BE49-F238E27FC236}">
                  <a16:creationId xmlns:a16="http://schemas.microsoft.com/office/drawing/2014/main" id="{D491841F-E6BB-3A50-8915-D95A38232D7A}"/>
                </a:ext>
              </a:extLst>
            </p:cNvPr>
            <p:cNvSpPr/>
            <p:nvPr/>
          </p:nvSpPr>
          <p:spPr>
            <a:xfrm>
              <a:off x="2425720" y="6414448"/>
              <a:ext cx="153317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5" h="42">
                  <a:moveTo>
                    <a:pt x="568" y="42"/>
                  </a:moveTo>
                  <a:cubicBezTo>
                    <a:pt x="585" y="42"/>
                    <a:pt x="605" y="42"/>
                    <a:pt x="605" y="22"/>
                  </a:cubicBezTo>
                  <a:cubicBezTo>
                    <a:pt x="605" y="0"/>
                    <a:pt x="585" y="0"/>
                    <a:pt x="568" y="0"/>
                  </a:cubicBezTo>
                  <a:lnTo>
                    <a:pt x="34" y="0"/>
                  </a:lnTo>
                  <a:cubicBezTo>
                    <a:pt x="17" y="0"/>
                    <a:pt x="0" y="0"/>
                    <a:pt x="0" y="22"/>
                  </a:cubicBezTo>
                  <a:cubicBezTo>
                    <a:pt x="0" y="42"/>
                    <a:pt x="17" y="42"/>
                    <a:pt x="34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19" name="Freeform 468">
              <a:extLst>
                <a:ext uri="{FF2B5EF4-FFF2-40B4-BE49-F238E27FC236}">
                  <a16:creationId xmlns:a16="http://schemas.microsoft.com/office/drawing/2014/main" id="{8AE33971-B941-A8A4-A2DD-1B046D6A226E}"/>
                </a:ext>
              </a:extLst>
            </p:cNvPr>
            <p:cNvSpPr/>
            <p:nvPr/>
          </p:nvSpPr>
          <p:spPr>
            <a:xfrm>
              <a:off x="2664580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0" name="Freeform 469">
              <a:extLst>
                <a:ext uri="{FF2B5EF4-FFF2-40B4-BE49-F238E27FC236}">
                  <a16:creationId xmlns:a16="http://schemas.microsoft.com/office/drawing/2014/main" id="{CCC84F71-FE1B-B377-6487-EB587E13EBCE}"/>
                </a:ext>
              </a:extLst>
            </p:cNvPr>
            <p:cNvSpPr/>
            <p:nvPr/>
          </p:nvSpPr>
          <p:spPr>
            <a:xfrm>
              <a:off x="2800383" y="6286256"/>
              <a:ext cx="65236" cy="1612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5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299"/>
                    <a:pt x="101" y="336"/>
                  </a:cubicBezTo>
                  <a:cubicBezTo>
                    <a:pt x="101" y="470"/>
                    <a:pt x="115" y="610"/>
                    <a:pt x="118" y="624"/>
                  </a:cubicBezTo>
                  <a:cubicBezTo>
                    <a:pt x="118" y="630"/>
                    <a:pt x="120" y="635"/>
                    <a:pt x="129" y="635"/>
                  </a:cubicBezTo>
                  <a:cubicBezTo>
                    <a:pt x="140" y="635"/>
                    <a:pt x="140" y="630"/>
                    <a:pt x="140" y="621"/>
                  </a:cubicBezTo>
                  <a:cubicBezTo>
                    <a:pt x="140" y="621"/>
                    <a:pt x="146" y="560"/>
                    <a:pt x="148" y="518"/>
                  </a:cubicBezTo>
                  <a:cubicBezTo>
                    <a:pt x="154" y="456"/>
                    <a:pt x="157" y="397"/>
                    <a:pt x="157" y="336"/>
                  </a:cubicBezTo>
                  <a:cubicBezTo>
                    <a:pt x="157" y="299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1" name="Freeform 470">
              <a:extLst>
                <a:ext uri="{FF2B5EF4-FFF2-40B4-BE49-F238E27FC236}">
                  <a16:creationId xmlns:a16="http://schemas.microsoft.com/office/drawing/2014/main" id="{1FF1FFAE-A83D-68AC-5580-3E0CA5F40E87}"/>
                </a:ext>
              </a:extLst>
            </p:cNvPr>
            <p:cNvSpPr/>
            <p:nvPr/>
          </p:nvSpPr>
          <p:spPr>
            <a:xfrm>
              <a:off x="2901156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2" name="Freeform 471">
              <a:extLst>
                <a:ext uri="{FF2B5EF4-FFF2-40B4-BE49-F238E27FC236}">
                  <a16:creationId xmlns:a16="http://schemas.microsoft.com/office/drawing/2014/main" id="{F416BC3C-D51E-16D3-AE27-199942E1DB61}"/>
                </a:ext>
              </a:extLst>
            </p:cNvPr>
            <p:cNvSpPr/>
            <p:nvPr/>
          </p:nvSpPr>
          <p:spPr>
            <a:xfrm>
              <a:off x="3344101" y="6244797"/>
              <a:ext cx="67267" cy="389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6" h="154">
                  <a:moveTo>
                    <a:pt x="134" y="0"/>
                  </a:moveTo>
                  <a:lnTo>
                    <a:pt x="0" y="137"/>
                  </a:lnTo>
                  <a:lnTo>
                    <a:pt x="17" y="154"/>
                  </a:lnTo>
                  <a:lnTo>
                    <a:pt x="134" y="53"/>
                  </a:lnTo>
                  <a:lnTo>
                    <a:pt x="246" y="154"/>
                  </a:lnTo>
                  <a:lnTo>
                    <a:pt x="266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3" name="Freeform 472">
              <a:extLst>
                <a:ext uri="{FF2B5EF4-FFF2-40B4-BE49-F238E27FC236}">
                  <a16:creationId xmlns:a16="http://schemas.microsoft.com/office/drawing/2014/main" id="{38C9DF39-8CE5-D601-9D18-C81A2B893DE9}"/>
                </a:ext>
              </a:extLst>
            </p:cNvPr>
            <p:cNvSpPr/>
            <p:nvPr/>
          </p:nvSpPr>
          <p:spPr>
            <a:xfrm>
              <a:off x="3285718" y="6305332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4" name="Freeform 473">
              <a:extLst>
                <a:ext uri="{FF2B5EF4-FFF2-40B4-BE49-F238E27FC236}">
                  <a16:creationId xmlns:a16="http://schemas.microsoft.com/office/drawing/2014/main" id="{CBCF8A23-8C80-EABD-6E4B-639BDCA81795}"/>
                </a:ext>
              </a:extLst>
            </p:cNvPr>
            <p:cNvSpPr/>
            <p:nvPr/>
          </p:nvSpPr>
          <p:spPr>
            <a:xfrm>
              <a:off x="3452743" y="6269724"/>
              <a:ext cx="129203" cy="12920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0" h="509">
                  <a:moveTo>
                    <a:pt x="272" y="272"/>
                  </a:moveTo>
                  <a:lnTo>
                    <a:pt x="484" y="272"/>
                  </a:lnTo>
                  <a:cubicBezTo>
                    <a:pt x="493" y="272"/>
                    <a:pt x="510" y="272"/>
                    <a:pt x="510" y="255"/>
                  </a:cubicBezTo>
                  <a:cubicBezTo>
                    <a:pt x="510" y="238"/>
                    <a:pt x="493" y="238"/>
                    <a:pt x="484" y="238"/>
                  </a:cubicBezTo>
                  <a:lnTo>
                    <a:pt x="272" y="238"/>
                  </a:lnTo>
                  <a:lnTo>
                    <a:pt x="272" y="25"/>
                  </a:lnTo>
                  <a:cubicBezTo>
                    <a:pt x="272" y="17"/>
                    <a:pt x="272" y="0"/>
                    <a:pt x="255" y="0"/>
                  </a:cubicBezTo>
                  <a:cubicBezTo>
                    <a:pt x="238" y="0"/>
                    <a:pt x="238" y="17"/>
                    <a:pt x="238" y="25"/>
                  </a:cubicBezTo>
                  <a:lnTo>
                    <a:pt x="238" y="238"/>
                  </a:lnTo>
                  <a:lnTo>
                    <a:pt x="25" y="238"/>
                  </a:lnTo>
                  <a:cubicBezTo>
                    <a:pt x="17" y="238"/>
                    <a:pt x="0" y="238"/>
                    <a:pt x="0" y="255"/>
                  </a:cubicBezTo>
                  <a:cubicBezTo>
                    <a:pt x="0" y="272"/>
                    <a:pt x="17" y="272"/>
                    <a:pt x="25" y="272"/>
                  </a:cubicBezTo>
                  <a:lnTo>
                    <a:pt x="238" y="272"/>
                  </a:lnTo>
                  <a:lnTo>
                    <a:pt x="238" y="484"/>
                  </a:lnTo>
                  <a:cubicBezTo>
                    <a:pt x="238" y="493"/>
                    <a:pt x="238" y="509"/>
                    <a:pt x="255" y="509"/>
                  </a:cubicBezTo>
                  <a:cubicBezTo>
                    <a:pt x="272" y="509"/>
                    <a:pt x="272" y="495"/>
                    <a:pt x="272" y="4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5" name="Freeform 474">
              <a:extLst>
                <a:ext uri="{FF2B5EF4-FFF2-40B4-BE49-F238E27FC236}">
                  <a16:creationId xmlns:a16="http://schemas.microsoft.com/office/drawing/2014/main" id="{16EC854C-4FC9-18A5-BD70-9F622945EFAA}"/>
                </a:ext>
              </a:extLst>
            </p:cNvPr>
            <p:cNvSpPr/>
            <p:nvPr/>
          </p:nvSpPr>
          <p:spPr>
            <a:xfrm>
              <a:off x="3689572" y="6389521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6" name="Freeform 475">
              <a:extLst>
                <a:ext uri="{FF2B5EF4-FFF2-40B4-BE49-F238E27FC236}">
                  <a16:creationId xmlns:a16="http://schemas.microsoft.com/office/drawing/2014/main" id="{C74F205F-7287-768A-2D7F-46B860900492}"/>
                </a:ext>
              </a:extLst>
            </p:cNvPr>
            <p:cNvSpPr/>
            <p:nvPr/>
          </p:nvSpPr>
          <p:spPr>
            <a:xfrm>
              <a:off x="3949501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7" name="Freeform 476">
              <a:extLst>
                <a:ext uri="{FF2B5EF4-FFF2-40B4-BE49-F238E27FC236}">
                  <a16:creationId xmlns:a16="http://schemas.microsoft.com/office/drawing/2014/main" id="{103D8A52-270B-DF3B-DA7A-42F6749DE27C}"/>
                </a:ext>
              </a:extLst>
            </p:cNvPr>
            <p:cNvSpPr/>
            <p:nvPr/>
          </p:nvSpPr>
          <p:spPr>
            <a:xfrm>
              <a:off x="4098756" y="6221397"/>
              <a:ext cx="227945" cy="30089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9" h="1184">
                  <a:moveTo>
                    <a:pt x="311" y="1184"/>
                  </a:moveTo>
                  <a:cubicBezTo>
                    <a:pt x="342" y="1184"/>
                    <a:pt x="342" y="1181"/>
                    <a:pt x="353" y="1164"/>
                  </a:cubicBezTo>
                  <a:lnTo>
                    <a:pt x="890" y="36"/>
                  </a:lnTo>
                  <a:cubicBezTo>
                    <a:pt x="899" y="25"/>
                    <a:pt x="899" y="22"/>
                    <a:pt x="899" y="20"/>
                  </a:cubicBezTo>
                  <a:cubicBezTo>
                    <a:pt x="899" y="8"/>
                    <a:pt x="890" y="0"/>
                    <a:pt x="879" y="0"/>
                  </a:cubicBezTo>
                  <a:cubicBezTo>
                    <a:pt x="865" y="0"/>
                    <a:pt x="862" y="8"/>
                    <a:pt x="857" y="20"/>
                  </a:cubicBezTo>
                  <a:lnTo>
                    <a:pt x="347" y="1080"/>
                  </a:lnTo>
                  <a:lnTo>
                    <a:pt x="137" y="591"/>
                  </a:lnTo>
                  <a:lnTo>
                    <a:pt x="0" y="697"/>
                  </a:lnTo>
                  <a:lnTo>
                    <a:pt x="14" y="714"/>
                  </a:lnTo>
                  <a:lnTo>
                    <a:pt x="84" y="6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8" name="Freeform 477">
              <a:extLst>
                <a:ext uri="{FF2B5EF4-FFF2-40B4-BE49-F238E27FC236}">
                  <a16:creationId xmlns:a16="http://schemas.microsoft.com/office/drawing/2014/main" id="{E8CCF4F8-ECE9-41A3-A126-7CACF7E7FB63}"/>
                </a:ext>
              </a:extLst>
            </p:cNvPr>
            <p:cNvSpPr/>
            <p:nvPr/>
          </p:nvSpPr>
          <p:spPr>
            <a:xfrm>
              <a:off x="4321371" y="6221397"/>
              <a:ext cx="966355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08" h="42">
                  <a:moveTo>
                    <a:pt x="1904" y="42"/>
                  </a:moveTo>
                  <a:lnTo>
                    <a:pt x="0" y="42"/>
                  </a:lnTo>
                  <a:lnTo>
                    <a:pt x="0" y="0"/>
                  </a:lnTo>
                  <a:lnTo>
                    <a:pt x="3808" y="0"/>
                  </a:lnTo>
                  <a:lnTo>
                    <a:pt x="3808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29" name="Freeform 478">
              <a:extLst>
                <a:ext uri="{FF2B5EF4-FFF2-40B4-BE49-F238E27FC236}">
                  <a16:creationId xmlns:a16="http://schemas.microsoft.com/office/drawing/2014/main" id="{CD563805-975A-B202-9603-3F078D37D69A}"/>
                </a:ext>
              </a:extLst>
            </p:cNvPr>
            <p:cNvSpPr/>
            <p:nvPr/>
          </p:nvSpPr>
          <p:spPr>
            <a:xfrm>
              <a:off x="4333301" y="6314743"/>
              <a:ext cx="100012" cy="16710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5" h="658">
                  <a:moveTo>
                    <a:pt x="76" y="582"/>
                  </a:moveTo>
                  <a:lnTo>
                    <a:pt x="182" y="481"/>
                  </a:lnTo>
                  <a:cubicBezTo>
                    <a:pt x="336" y="344"/>
                    <a:pt x="395" y="291"/>
                    <a:pt x="395" y="190"/>
                  </a:cubicBezTo>
                  <a:cubicBezTo>
                    <a:pt x="395" y="78"/>
                    <a:pt x="305" y="0"/>
                    <a:pt x="185" y="0"/>
                  </a:cubicBezTo>
                  <a:cubicBezTo>
                    <a:pt x="73" y="0"/>
                    <a:pt x="0" y="90"/>
                    <a:pt x="0" y="179"/>
                  </a:cubicBezTo>
                  <a:cubicBezTo>
                    <a:pt x="0" y="235"/>
                    <a:pt x="50" y="235"/>
                    <a:pt x="53" y="235"/>
                  </a:cubicBezTo>
                  <a:cubicBezTo>
                    <a:pt x="70" y="235"/>
                    <a:pt x="104" y="221"/>
                    <a:pt x="104" y="182"/>
                  </a:cubicBezTo>
                  <a:cubicBezTo>
                    <a:pt x="104" y="157"/>
                    <a:pt x="87" y="132"/>
                    <a:pt x="50" y="132"/>
                  </a:cubicBezTo>
                  <a:cubicBezTo>
                    <a:pt x="45" y="132"/>
                    <a:pt x="42" y="132"/>
                    <a:pt x="39" y="132"/>
                  </a:cubicBezTo>
                  <a:cubicBezTo>
                    <a:pt x="62" y="67"/>
                    <a:pt x="115" y="31"/>
                    <a:pt x="174" y="31"/>
                  </a:cubicBezTo>
                  <a:cubicBezTo>
                    <a:pt x="263" y="31"/>
                    <a:pt x="305" y="112"/>
                    <a:pt x="305" y="190"/>
                  </a:cubicBezTo>
                  <a:cubicBezTo>
                    <a:pt x="305" y="272"/>
                    <a:pt x="255" y="350"/>
                    <a:pt x="202" y="409"/>
                  </a:cubicBezTo>
                  <a:lnTo>
                    <a:pt x="11" y="621"/>
                  </a:lnTo>
                  <a:cubicBezTo>
                    <a:pt x="0" y="633"/>
                    <a:pt x="0" y="635"/>
                    <a:pt x="0" y="658"/>
                  </a:cubicBezTo>
                  <a:lnTo>
                    <a:pt x="367" y="658"/>
                  </a:lnTo>
                  <a:lnTo>
                    <a:pt x="395" y="487"/>
                  </a:lnTo>
                  <a:lnTo>
                    <a:pt x="370" y="487"/>
                  </a:lnTo>
                  <a:cubicBezTo>
                    <a:pt x="367" y="515"/>
                    <a:pt x="358" y="560"/>
                    <a:pt x="350" y="574"/>
                  </a:cubicBezTo>
                  <a:cubicBezTo>
                    <a:pt x="342" y="582"/>
                    <a:pt x="277" y="582"/>
                    <a:pt x="255" y="5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0" name="Freeform 479">
              <a:extLst>
                <a:ext uri="{FF2B5EF4-FFF2-40B4-BE49-F238E27FC236}">
                  <a16:creationId xmlns:a16="http://schemas.microsoft.com/office/drawing/2014/main" id="{8458CE9E-FC9A-28AF-FF3D-728137C79164}"/>
                </a:ext>
              </a:extLst>
            </p:cNvPr>
            <p:cNvSpPr/>
            <p:nvPr/>
          </p:nvSpPr>
          <p:spPr>
            <a:xfrm>
              <a:off x="4459204" y="6305332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1" name="Freeform 480">
              <a:extLst>
                <a:ext uri="{FF2B5EF4-FFF2-40B4-BE49-F238E27FC236}">
                  <a16:creationId xmlns:a16="http://schemas.microsoft.com/office/drawing/2014/main" id="{0A1BDEB5-F4A6-55BC-4814-824DF37789F7}"/>
                </a:ext>
              </a:extLst>
            </p:cNvPr>
            <p:cNvSpPr/>
            <p:nvPr/>
          </p:nvSpPr>
          <p:spPr>
            <a:xfrm>
              <a:off x="4690195" y="6414448"/>
              <a:ext cx="153317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5" h="42">
                  <a:moveTo>
                    <a:pt x="568" y="42"/>
                  </a:moveTo>
                  <a:cubicBezTo>
                    <a:pt x="585" y="42"/>
                    <a:pt x="605" y="42"/>
                    <a:pt x="605" y="22"/>
                  </a:cubicBezTo>
                  <a:cubicBezTo>
                    <a:pt x="605" y="0"/>
                    <a:pt x="585" y="0"/>
                    <a:pt x="568" y="0"/>
                  </a:cubicBezTo>
                  <a:lnTo>
                    <a:pt x="34" y="0"/>
                  </a:lnTo>
                  <a:cubicBezTo>
                    <a:pt x="17" y="0"/>
                    <a:pt x="0" y="0"/>
                    <a:pt x="0" y="22"/>
                  </a:cubicBezTo>
                  <a:cubicBezTo>
                    <a:pt x="0" y="42"/>
                    <a:pt x="17" y="42"/>
                    <a:pt x="34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2" name="Freeform 481">
              <a:extLst>
                <a:ext uri="{FF2B5EF4-FFF2-40B4-BE49-F238E27FC236}">
                  <a16:creationId xmlns:a16="http://schemas.microsoft.com/office/drawing/2014/main" id="{C346A548-2EEC-C4F4-494A-DEFC6BF971CB}"/>
                </a:ext>
              </a:extLst>
            </p:cNvPr>
            <p:cNvSpPr/>
            <p:nvPr/>
          </p:nvSpPr>
          <p:spPr>
            <a:xfrm>
              <a:off x="4929056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3" name="Freeform 482">
              <a:extLst>
                <a:ext uri="{FF2B5EF4-FFF2-40B4-BE49-F238E27FC236}">
                  <a16:creationId xmlns:a16="http://schemas.microsoft.com/office/drawing/2014/main" id="{763F5BCA-B40B-02AC-065A-AB35483C6C67}"/>
                </a:ext>
              </a:extLst>
            </p:cNvPr>
            <p:cNvSpPr/>
            <p:nvPr/>
          </p:nvSpPr>
          <p:spPr>
            <a:xfrm>
              <a:off x="5064604" y="6286256"/>
              <a:ext cx="65236" cy="1612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5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299"/>
                    <a:pt x="101" y="336"/>
                  </a:cubicBezTo>
                  <a:cubicBezTo>
                    <a:pt x="101" y="470"/>
                    <a:pt x="115" y="610"/>
                    <a:pt x="118" y="624"/>
                  </a:cubicBezTo>
                  <a:cubicBezTo>
                    <a:pt x="118" y="630"/>
                    <a:pt x="120" y="635"/>
                    <a:pt x="129" y="635"/>
                  </a:cubicBezTo>
                  <a:cubicBezTo>
                    <a:pt x="140" y="635"/>
                    <a:pt x="140" y="630"/>
                    <a:pt x="140" y="621"/>
                  </a:cubicBezTo>
                  <a:cubicBezTo>
                    <a:pt x="140" y="621"/>
                    <a:pt x="146" y="560"/>
                    <a:pt x="148" y="518"/>
                  </a:cubicBezTo>
                  <a:cubicBezTo>
                    <a:pt x="154" y="456"/>
                    <a:pt x="157" y="397"/>
                    <a:pt x="157" y="336"/>
                  </a:cubicBezTo>
                  <a:cubicBezTo>
                    <a:pt x="157" y="299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4" name="Freeform 483">
              <a:extLst>
                <a:ext uri="{FF2B5EF4-FFF2-40B4-BE49-F238E27FC236}">
                  <a16:creationId xmlns:a16="http://schemas.microsoft.com/office/drawing/2014/main" id="{4405FF79-4AAE-14C2-6151-4DC711F64B32}"/>
                </a:ext>
              </a:extLst>
            </p:cNvPr>
            <p:cNvSpPr/>
            <p:nvPr/>
          </p:nvSpPr>
          <p:spPr>
            <a:xfrm>
              <a:off x="5164870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5" name="Freeform 484">
              <a:extLst>
                <a:ext uri="{FF2B5EF4-FFF2-40B4-BE49-F238E27FC236}">
                  <a16:creationId xmlns:a16="http://schemas.microsoft.com/office/drawing/2014/main" id="{21B2BB04-60D6-73CA-A503-44D3C0087B3D}"/>
                </a:ext>
              </a:extLst>
            </p:cNvPr>
            <p:cNvSpPr/>
            <p:nvPr/>
          </p:nvSpPr>
          <p:spPr>
            <a:xfrm>
              <a:off x="5607814" y="6244797"/>
              <a:ext cx="67267" cy="389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6" h="154">
                  <a:moveTo>
                    <a:pt x="134" y="0"/>
                  </a:moveTo>
                  <a:lnTo>
                    <a:pt x="0" y="137"/>
                  </a:lnTo>
                  <a:lnTo>
                    <a:pt x="17" y="154"/>
                  </a:lnTo>
                  <a:lnTo>
                    <a:pt x="134" y="53"/>
                  </a:lnTo>
                  <a:lnTo>
                    <a:pt x="246" y="154"/>
                  </a:lnTo>
                  <a:lnTo>
                    <a:pt x="266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6" name="Freeform 485">
              <a:extLst>
                <a:ext uri="{FF2B5EF4-FFF2-40B4-BE49-F238E27FC236}">
                  <a16:creationId xmlns:a16="http://schemas.microsoft.com/office/drawing/2014/main" id="{7E0152B8-E450-705C-EDAC-E98E4C1AB0BF}"/>
                </a:ext>
              </a:extLst>
            </p:cNvPr>
            <p:cNvSpPr/>
            <p:nvPr/>
          </p:nvSpPr>
          <p:spPr>
            <a:xfrm>
              <a:off x="5550193" y="6305332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7" name="Freeform 486">
              <a:extLst>
                <a:ext uri="{FF2B5EF4-FFF2-40B4-BE49-F238E27FC236}">
                  <a16:creationId xmlns:a16="http://schemas.microsoft.com/office/drawing/2014/main" id="{B505968C-9A61-60DB-3899-942D8673C6E7}"/>
                </a:ext>
              </a:extLst>
            </p:cNvPr>
            <p:cNvSpPr/>
            <p:nvPr/>
          </p:nvSpPr>
          <p:spPr>
            <a:xfrm>
              <a:off x="5714933" y="6301009"/>
              <a:ext cx="80720" cy="79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9" h="313">
                  <a:moveTo>
                    <a:pt x="76" y="246"/>
                  </a:moveTo>
                  <a:cubicBezTo>
                    <a:pt x="92" y="227"/>
                    <a:pt x="104" y="213"/>
                    <a:pt x="165" y="168"/>
                  </a:cubicBezTo>
                  <a:cubicBezTo>
                    <a:pt x="179" y="154"/>
                    <a:pt x="230" y="112"/>
                    <a:pt x="252" y="95"/>
                  </a:cubicBezTo>
                  <a:cubicBezTo>
                    <a:pt x="294" y="53"/>
                    <a:pt x="319" y="17"/>
                    <a:pt x="319" y="8"/>
                  </a:cubicBezTo>
                  <a:cubicBezTo>
                    <a:pt x="319" y="0"/>
                    <a:pt x="311" y="0"/>
                    <a:pt x="308" y="0"/>
                  </a:cubicBezTo>
                  <a:cubicBezTo>
                    <a:pt x="302" y="0"/>
                    <a:pt x="300" y="0"/>
                    <a:pt x="297" y="6"/>
                  </a:cubicBezTo>
                  <a:cubicBezTo>
                    <a:pt x="274" y="39"/>
                    <a:pt x="260" y="50"/>
                    <a:pt x="244" y="50"/>
                  </a:cubicBezTo>
                  <a:cubicBezTo>
                    <a:pt x="235" y="50"/>
                    <a:pt x="224" y="48"/>
                    <a:pt x="204" y="28"/>
                  </a:cubicBezTo>
                  <a:cubicBezTo>
                    <a:pt x="179" y="6"/>
                    <a:pt x="165" y="0"/>
                    <a:pt x="148" y="0"/>
                  </a:cubicBezTo>
                  <a:cubicBezTo>
                    <a:pt x="92" y="0"/>
                    <a:pt x="56" y="62"/>
                    <a:pt x="56" y="81"/>
                  </a:cubicBezTo>
                  <a:cubicBezTo>
                    <a:pt x="56" y="87"/>
                    <a:pt x="62" y="90"/>
                    <a:pt x="67" y="90"/>
                  </a:cubicBezTo>
                  <a:cubicBezTo>
                    <a:pt x="76" y="90"/>
                    <a:pt x="78" y="87"/>
                    <a:pt x="81" y="81"/>
                  </a:cubicBezTo>
                  <a:cubicBezTo>
                    <a:pt x="90" y="56"/>
                    <a:pt x="129" y="53"/>
                    <a:pt x="140" y="53"/>
                  </a:cubicBezTo>
                  <a:cubicBezTo>
                    <a:pt x="157" y="53"/>
                    <a:pt x="174" y="59"/>
                    <a:pt x="185" y="62"/>
                  </a:cubicBezTo>
                  <a:cubicBezTo>
                    <a:pt x="221" y="70"/>
                    <a:pt x="227" y="70"/>
                    <a:pt x="244" y="70"/>
                  </a:cubicBezTo>
                  <a:cubicBezTo>
                    <a:pt x="227" y="87"/>
                    <a:pt x="213" y="101"/>
                    <a:pt x="148" y="154"/>
                  </a:cubicBezTo>
                  <a:cubicBezTo>
                    <a:pt x="95" y="196"/>
                    <a:pt x="76" y="213"/>
                    <a:pt x="62" y="227"/>
                  </a:cubicBezTo>
                  <a:cubicBezTo>
                    <a:pt x="20" y="269"/>
                    <a:pt x="0" y="299"/>
                    <a:pt x="0" y="305"/>
                  </a:cubicBezTo>
                  <a:cubicBezTo>
                    <a:pt x="0" y="313"/>
                    <a:pt x="8" y="313"/>
                    <a:pt x="11" y="313"/>
                  </a:cubicBezTo>
                  <a:cubicBezTo>
                    <a:pt x="20" y="313"/>
                    <a:pt x="20" y="311"/>
                    <a:pt x="22" y="305"/>
                  </a:cubicBezTo>
                  <a:cubicBezTo>
                    <a:pt x="42" y="280"/>
                    <a:pt x="64" y="263"/>
                    <a:pt x="87" y="263"/>
                  </a:cubicBezTo>
                  <a:cubicBezTo>
                    <a:pt x="95" y="263"/>
                    <a:pt x="106" y="266"/>
                    <a:pt x="126" y="283"/>
                  </a:cubicBezTo>
                  <a:cubicBezTo>
                    <a:pt x="146" y="302"/>
                    <a:pt x="160" y="313"/>
                    <a:pt x="182" y="313"/>
                  </a:cubicBezTo>
                  <a:cubicBezTo>
                    <a:pt x="258" y="313"/>
                    <a:pt x="302" y="230"/>
                    <a:pt x="302" y="204"/>
                  </a:cubicBezTo>
                  <a:cubicBezTo>
                    <a:pt x="302" y="196"/>
                    <a:pt x="297" y="196"/>
                    <a:pt x="291" y="196"/>
                  </a:cubicBezTo>
                  <a:cubicBezTo>
                    <a:pt x="283" y="196"/>
                    <a:pt x="283" y="199"/>
                    <a:pt x="280" y="207"/>
                  </a:cubicBezTo>
                  <a:cubicBezTo>
                    <a:pt x="266" y="244"/>
                    <a:pt x="224" y="260"/>
                    <a:pt x="190" y="260"/>
                  </a:cubicBezTo>
                  <a:cubicBezTo>
                    <a:pt x="176" y="260"/>
                    <a:pt x="157" y="255"/>
                    <a:pt x="140" y="252"/>
                  </a:cubicBezTo>
                  <a:cubicBezTo>
                    <a:pt x="109" y="244"/>
                    <a:pt x="104" y="244"/>
                    <a:pt x="90" y="244"/>
                  </a:cubicBezTo>
                  <a:cubicBezTo>
                    <a:pt x="90" y="244"/>
                    <a:pt x="78" y="244"/>
                    <a:pt x="76" y="24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8" name="Freeform 487">
              <a:extLst>
                <a:ext uri="{FF2B5EF4-FFF2-40B4-BE49-F238E27FC236}">
                  <a16:creationId xmlns:a16="http://schemas.microsoft.com/office/drawing/2014/main" id="{2DA907EE-39EE-F370-31EC-A86B4F8C67C9}"/>
                </a:ext>
              </a:extLst>
            </p:cNvPr>
            <p:cNvSpPr/>
            <p:nvPr/>
          </p:nvSpPr>
          <p:spPr>
            <a:xfrm>
              <a:off x="5902772" y="6389521"/>
              <a:ext cx="166771" cy="587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39" name="Freeform 488">
              <a:extLst>
                <a:ext uri="{FF2B5EF4-FFF2-40B4-BE49-F238E27FC236}">
                  <a16:creationId xmlns:a16="http://schemas.microsoft.com/office/drawing/2014/main" id="{A7E114CC-4ADD-09D4-82ED-FCC62A660F06}"/>
                </a:ext>
              </a:extLst>
            </p:cNvPr>
            <p:cNvSpPr/>
            <p:nvPr/>
          </p:nvSpPr>
          <p:spPr>
            <a:xfrm>
              <a:off x="6165747" y="6305332"/>
              <a:ext cx="148240" cy="18262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5" h="719">
                  <a:moveTo>
                    <a:pt x="585" y="11"/>
                  </a:moveTo>
                  <a:cubicBezTo>
                    <a:pt x="585" y="6"/>
                    <a:pt x="585" y="0"/>
                    <a:pt x="577" y="0"/>
                  </a:cubicBezTo>
                  <a:cubicBezTo>
                    <a:pt x="571" y="0"/>
                    <a:pt x="568" y="0"/>
                    <a:pt x="557" y="14"/>
                  </a:cubicBezTo>
                  <a:lnTo>
                    <a:pt x="510" y="70"/>
                  </a:lnTo>
                  <a:cubicBezTo>
                    <a:pt x="484" y="25"/>
                    <a:pt x="434" y="0"/>
                    <a:pt x="370" y="0"/>
                  </a:cubicBezTo>
                  <a:cubicBezTo>
                    <a:pt x="244" y="0"/>
                    <a:pt x="123" y="115"/>
                    <a:pt x="123" y="232"/>
                  </a:cubicBezTo>
                  <a:cubicBezTo>
                    <a:pt x="123" y="313"/>
                    <a:pt x="176" y="358"/>
                    <a:pt x="227" y="372"/>
                  </a:cubicBezTo>
                  <a:lnTo>
                    <a:pt x="333" y="400"/>
                  </a:lnTo>
                  <a:cubicBezTo>
                    <a:pt x="370" y="409"/>
                    <a:pt x="426" y="425"/>
                    <a:pt x="426" y="507"/>
                  </a:cubicBezTo>
                  <a:cubicBezTo>
                    <a:pt x="426" y="593"/>
                    <a:pt x="344" y="689"/>
                    <a:pt x="246" y="689"/>
                  </a:cubicBezTo>
                  <a:cubicBezTo>
                    <a:pt x="182" y="689"/>
                    <a:pt x="73" y="666"/>
                    <a:pt x="73" y="543"/>
                  </a:cubicBezTo>
                  <a:cubicBezTo>
                    <a:pt x="73" y="521"/>
                    <a:pt x="78" y="495"/>
                    <a:pt x="78" y="490"/>
                  </a:cubicBezTo>
                  <a:cubicBezTo>
                    <a:pt x="81" y="487"/>
                    <a:pt x="81" y="484"/>
                    <a:pt x="81" y="484"/>
                  </a:cubicBezTo>
                  <a:cubicBezTo>
                    <a:pt x="81" y="473"/>
                    <a:pt x="73" y="473"/>
                    <a:pt x="70" y="473"/>
                  </a:cubicBezTo>
                  <a:cubicBezTo>
                    <a:pt x="64" y="473"/>
                    <a:pt x="62" y="473"/>
                    <a:pt x="59" y="476"/>
                  </a:cubicBezTo>
                  <a:cubicBezTo>
                    <a:pt x="56" y="479"/>
                    <a:pt x="0" y="705"/>
                    <a:pt x="0" y="708"/>
                  </a:cubicBezTo>
                  <a:cubicBezTo>
                    <a:pt x="0" y="714"/>
                    <a:pt x="6" y="719"/>
                    <a:pt x="11" y="719"/>
                  </a:cubicBezTo>
                  <a:cubicBezTo>
                    <a:pt x="17" y="719"/>
                    <a:pt x="17" y="717"/>
                    <a:pt x="28" y="703"/>
                  </a:cubicBezTo>
                  <a:lnTo>
                    <a:pt x="78" y="647"/>
                  </a:lnTo>
                  <a:cubicBezTo>
                    <a:pt x="120" y="705"/>
                    <a:pt x="188" y="719"/>
                    <a:pt x="244" y="719"/>
                  </a:cubicBezTo>
                  <a:cubicBezTo>
                    <a:pt x="378" y="719"/>
                    <a:pt x="496" y="588"/>
                    <a:pt x="496" y="465"/>
                  </a:cubicBezTo>
                  <a:cubicBezTo>
                    <a:pt x="496" y="395"/>
                    <a:pt x="462" y="361"/>
                    <a:pt x="448" y="350"/>
                  </a:cubicBezTo>
                  <a:cubicBezTo>
                    <a:pt x="426" y="325"/>
                    <a:pt x="409" y="322"/>
                    <a:pt x="322" y="299"/>
                  </a:cubicBezTo>
                  <a:cubicBezTo>
                    <a:pt x="300" y="294"/>
                    <a:pt x="263" y="283"/>
                    <a:pt x="255" y="283"/>
                  </a:cubicBezTo>
                  <a:cubicBezTo>
                    <a:pt x="230" y="272"/>
                    <a:pt x="196" y="244"/>
                    <a:pt x="196" y="190"/>
                  </a:cubicBezTo>
                  <a:cubicBezTo>
                    <a:pt x="196" y="112"/>
                    <a:pt x="274" y="28"/>
                    <a:pt x="367" y="28"/>
                  </a:cubicBezTo>
                  <a:cubicBezTo>
                    <a:pt x="451" y="28"/>
                    <a:pt x="510" y="70"/>
                    <a:pt x="510" y="182"/>
                  </a:cubicBezTo>
                  <a:cubicBezTo>
                    <a:pt x="510" y="213"/>
                    <a:pt x="507" y="230"/>
                    <a:pt x="507" y="235"/>
                  </a:cubicBezTo>
                  <a:cubicBezTo>
                    <a:pt x="507" y="238"/>
                    <a:pt x="507" y="246"/>
                    <a:pt x="518" y="246"/>
                  </a:cubicBezTo>
                  <a:cubicBezTo>
                    <a:pt x="529" y="246"/>
                    <a:pt x="529" y="244"/>
                    <a:pt x="532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40" name="Freeform 489">
              <a:extLst>
                <a:ext uri="{FF2B5EF4-FFF2-40B4-BE49-F238E27FC236}">
                  <a16:creationId xmlns:a16="http://schemas.microsoft.com/office/drawing/2014/main" id="{74D17BFC-76FF-C2B5-F5A3-5C953581D89E}"/>
                </a:ext>
              </a:extLst>
            </p:cNvPr>
            <p:cNvSpPr/>
            <p:nvPr/>
          </p:nvSpPr>
          <p:spPr>
            <a:xfrm>
              <a:off x="6396738" y="6414448"/>
              <a:ext cx="153317" cy="104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5" h="42">
                  <a:moveTo>
                    <a:pt x="568" y="42"/>
                  </a:moveTo>
                  <a:cubicBezTo>
                    <a:pt x="585" y="42"/>
                    <a:pt x="605" y="42"/>
                    <a:pt x="605" y="22"/>
                  </a:cubicBezTo>
                  <a:cubicBezTo>
                    <a:pt x="605" y="0"/>
                    <a:pt x="585" y="0"/>
                    <a:pt x="568" y="0"/>
                  </a:cubicBezTo>
                  <a:lnTo>
                    <a:pt x="34" y="0"/>
                  </a:lnTo>
                  <a:cubicBezTo>
                    <a:pt x="17" y="0"/>
                    <a:pt x="0" y="0"/>
                    <a:pt x="0" y="22"/>
                  </a:cubicBezTo>
                  <a:cubicBezTo>
                    <a:pt x="0" y="42"/>
                    <a:pt x="17" y="42"/>
                    <a:pt x="34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41" name="Freeform 490">
              <a:extLst>
                <a:ext uri="{FF2B5EF4-FFF2-40B4-BE49-F238E27FC236}">
                  <a16:creationId xmlns:a16="http://schemas.microsoft.com/office/drawing/2014/main" id="{548B18F5-DABF-FD96-82B4-300C901EEA55}"/>
                </a:ext>
              </a:extLst>
            </p:cNvPr>
            <p:cNvSpPr/>
            <p:nvPr/>
          </p:nvSpPr>
          <p:spPr>
            <a:xfrm>
              <a:off x="6635344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42" name="Freeform 491">
              <a:extLst>
                <a:ext uri="{FF2B5EF4-FFF2-40B4-BE49-F238E27FC236}">
                  <a16:creationId xmlns:a16="http://schemas.microsoft.com/office/drawing/2014/main" id="{E9EE7B7D-A3E9-6CF6-3C8D-5D841AA0EFA7}"/>
                </a:ext>
              </a:extLst>
            </p:cNvPr>
            <p:cNvSpPr/>
            <p:nvPr/>
          </p:nvSpPr>
          <p:spPr>
            <a:xfrm>
              <a:off x="6767593" y="6370954"/>
              <a:ext cx="114988" cy="11369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4" h="448">
                  <a:moveTo>
                    <a:pt x="330" y="64"/>
                  </a:moveTo>
                  <a:cubicBezTo>
                    <a:pt x="311" y="28"/>
                    <a:pt x="283" y="0"/>
                    <a:pt x="238" y="0"/>
                  </a:cubicBezTo>
                  <a:cubicBezTo>
                    <a:pt x="123" y="0"/>
                    <a:pt x="0" y="146"/>
                    <a:pt x="0" y="291"/>
                  </a:cubicBezTo>
                  <a:cubicBezTo>
                    <a:pt x="0" y="383"/>
                    <a:pt x="53" y="448"/>
                    <a:pt x="132" y="448"/>
                  </a:cubicBezTo>
                  <a:cubicBezTo>
                    <a:pt x="151" y="448"/>
                    <a:pt x="202" y="445"/>
                    <a:pt x="260" y="375"/>
                  </a:cubicBezTo>
                  <a:cubicBezTo>
                    <a:pt x="269" y="417"/>
                    <a:pt x="302" y="448"/>
                    <a:pt x="350" y="448"/>
                  </a:cubicBezTo>
                  <a:cubicBezTo>
                    <a:pt x="386" y="448"/>
                    <a:pt x="409" y="425"/>
                    <a:pt x="423" y="395"/>
                  </a:cubicBezTo>
                  <a:cubicBezTo>
                    <a:pt x="440" y="358"/>
                    <a:pt x="454" y="297"/>
                    <a:pt x="454" y="297"/>
                  </a:cubicBezTo>
                  <a:cubicBezTo>
                    <a:pt x="454" y="286"/>
                    <a:pt x="445" y="286"/>
                    <a:pt x="442" y="286"/>
                  </a:cubicBezTo>
                  <a:cubicBezTo>
                    <a:pt x="431" y="286"/>
                    <a:pt x="431" y="291"/>
                    <a:pt x="428" y="305"/>
                  </a:cubicBezTo>
                  <a:cubicBezTo>
                    <a:pt x="412" y="369"/>
                    <a:pt x="392" y="425"/>
                    <a:pt x="353" y="425"/>
                  </a:cubicBezTo>
                  <a:cubicBezTo>
                    <a:pt x="325" y="425"/>
                    <a:pt x="322" y="400"/>
                    <a:pt x="322" y="381"/>
                  </a:cubicBezTo>
                  <a:cubicBezTo>
                    <a:pt x="322" y="358"/>
                    <a:pt x="325" y="353"/>
                    <a:pt x="336" y="308"/>
                  </a:cubicBezTo>
                  <a:cubicBezTo>
                    <a:pt x="347" y="266"/>
                    <a:pt x="347" y="258"/>
                    <a:pt x="358" y="218"/>
                  </a:cubicBezTo>
                  <a:lnTo>
                    <a:pt x="392" y="81"/>
                  </a:lnTo>
                  <a:cubicBezTo>
                    <a:pt x="400" y="53"/>
                    <a:pt x="400" y="50"/>
                    <a:pt x="400" y="48"/>
                  </a:cubicBezTo>
                  <a:cubicBezTo>
                    <a:pt x="400" y="31"/>
                    <a:pt x="389" y="20"/>
                    <a:pt x="372" y="20"/>
                  </a:cubicBezTo>
                  <a:cubicBezTo>
                    <a:pt x="347" y="20"/>
                    <a:pt x="333" y="42"/>
                    <a:pt x="330" y="64"/>
                  </a:cubicBezTo>
                  <a:close/>
                  <a:moveTo>
                    <a:pt x="266" y="319"/>
                  </a:moveTo>
                  <a:cubicBezTo>
                    <a:pt x="260" y="339"/>
                    <a:pt x="260" y="339"/>
                    <a:pt x="246" y="355"/>
                  </a:cubicBezTo>
                  <a:cubicBezTo>
                    <a:pt x="202" y="411"/>
                    <a:pt x="162" y="425"/>
                    <a:pt x="134" y="425"/>
                  </a:cubicBezTo>
                  <a:cubicBezTo>
                    <a:pt x="84" y="425"/>
                    <a:pt x="70" y="372"/>
                    <a:pt x="70" y="333"/>
                  </a:cubicBezTo>
                  <a:cubicBezTo>
                    <a:pt x="70" y="286"/>
                    <a:pt x="101" y="162"/>
                    <a:pt x="126" y="118"/>
                  </a:cubicBezTo>
                  <a:cubicBezTo>
                    <a:pt x="157" y="59"/>
                    <a:pt x="199" y="22"/>
                    <a:pt x="241" y="22"/>
                  </a:cubicBezTo>
                  <a:cubicBezTo>
                    <a:pt x="305" y="22"/>
                    <a:pt x="319" y="104"/>
                    <a:pt x="319" y="109"/>
                  </a:cubicBezTo>
                  <a:cubicBezTo>
                    <a:pt x="319" y="115"/>
                    <a:pt x="316" y="120"/>
                    <a:pt x="314" y="1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243" name="Freeform 492">
              <a:extLst>
                <a:ext uri="{FF2B5EF4-FFF2-40B4-BE49-F238E27FC236}">
                  <a16:creationId xmlns:a16="http://schemas.microsoft.com/office/drawing/2014/main" id="{5DBE56BB-6ABD-A249-7411-42873E688418}"/>
                </a:ext>
              </a:extLst>
            </p:cNvPr>
            <p:cNvSpPr/>
            <p:nvPr/>
          </p:nvSpPr>
          <p:spPr>
            <a:xfrm>
              <a:off x="6902634" y="6254971"/>
              <a:ext cx="65236" cy="1612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8" h="635">
                  <a:moveTo>
                    <a:pt x="137" y="199"/>
                  </a:moveTo>
                  <a:cubicBezTo>
                    <a:pt x="148" y="199"/>
                    <a:pt x="154" y="199"/>
                    <a:pt x="176" y="204"/>
                  </a:cubicBezTo>
                  <a:cubicBezTo>
                    <a:pt x="199" y="213"/>
                    <a:pt x="216" y="216"/>
                    <a:pt x="227" y="216"/>
                  </a:cubicBezTo>
                  <a:cubicBezTo>
                    <a:pt x="255" y="216"/>
                    <a:pt x="258" y="196"/>
                    <a:pt x="258" y="188"/>
                  </a:cubicBezTo>
                  <a:cubicBezTo>
                    <a:pt x="258" y="182"/>
                    <a:pt x="255" y="162"/>
                    <a:pt x="227" y="162"/>
                  </a:cubicBezTo>
                  <a:cubicBezTo>
                    <a:pt x="216" y="162"/>
                    <a:pt x="199" y="165"/>
                    <a:pt x="176" y="174"/>
                  </a:cubicBezTo>
                  <a:cubicBezTo>
                    <a:pt x="154" y="179"/>
                    <a:pt x="148" y="179"/>
                    <a:pt x="137" y="179"/>
                  </a:cubicBezTo>
                  <a:cubicBezTo>
                    <a:pt x="137" y="157"/>
                    <a:pt x="143" y="126"/>
                    <a:pt x="146" y="106"/>
                  </a:cubicBezTo>
                  <a:cubicBezTo>
                    <a:pt x="148" y="92"/>
                    <a:pt x="157" y="56"/>
                    <a:pt x="157" y="31"/>
                  </a:cubicBezTo>
                  <a:cubicBezTo>
                    <a:pt x="157" y="11"/>
                    <a:pt x="146" y="0"/>
                    <a:pt x="129" y="0"/>
                  </a:cubicBezTo>
                  <a:cubicBezTo>
                    <a:pt x="115" y="0"/>
                    <a:pt x="101" y="8"/>
                    <a:pt x="101" y="31"/>
                  </a:cubicBezTo>
                  <a:cubicBezTo>
                    <a:pt x="101" y="56"/>
                    <a:pt x="106" y="90"/>
                    <a:pt x="112" y="112"/>
                  </a:cubicBezTo>
                  <a:cubicBezTo>
                    <a:pt x="112" y="120"/>
                    <a:pt x="120" y="154"/>
                    <a:pt x="120" y="179"/>
                  </a:cubicBezTo>
                  <a:cubicBezTo>
                    <a:pt x="109" y="179"/>
                    <a:pt x="104" y="179"/>
                    <a:pt x="81" y="174"/>
                  </a:cubicBezTo>
                  <a:cubicBezTo>
                    <a:pt x="59" y="165"/>
                    <a:pt x="42" y="162"/>
                    <a:pt x="31" y="162"/>
                  </a:cubicBezTo>
                  <a:cubicBezTo>
                    <a:pt x="3" y="162"/>
                    <a:pt x="0" y="182"/>
                    <a:pt x="0" y="188"/>
                  </a:cubicBezTo>
                  <a:cubicBezTo>
                    <a:pt x="0" y="193"/>
                    <a:pt x="3" y="216"/>
                    <a:pt x="31" y="216"/>
                  </a:cubicBezTo>
                  <a:cubicBezTo>
                    <a:pt x="42" y="216"/>
                    <a:pt x="59" y="213"/>
                    <a:pt x="81" y="204"/>
                  </a:cubicBezTo>
                  <a:cubicBezTo>
                    <a:pt x="104" y="199"/>
                    <a:pt x="109" y="199"/>
                    <a:pt x="120" y="199"/>
                  </a:cubicBezTo>
                  <a:cubicBezTo>
                    <a:pt x="120" y="216"/>
                    <a:pt x="115" y="238"/>
                    <a:pt x="112" y="252"/>
                  </a:cubicBezTo>
                  <a:cubicBezTo>
                    <a:pt x="101" y="294"/>
                    <a:pt x="101" y="299"/>
                    <a:pt x="101" y="336"/>
                  </a:cubicBezTo>
                  <a:cubicBezTo>
                    <a:pt x="101" y="470"/>
                    <a:pt x="115" y="610"/>
                    <a:pt x="118" y="624"/>
                  </a:cubicBezTo>
                  <a:cubicBezTo>
                    <a:pt x="118" y="630"/>
                    <a:pt x="120" y="635"/>
                    <a:pt x="129" y="635"/>
                  </a:cubicBezTo>
                  <a:cubicBezTo>
                    <a:pt x="140" y="635"/>
                    <a:pt x="140" y="630"/>
                    <a:pt x="140" y="621"/>
                  </a:cubicBezTo>
                  <a:cubicBezTo>
                    <a:pt x="140" y="621"/>
                    <a:pt x="146" y="560"/>
                    <a:pt x="148" y="518"/>
                  </a:cubicBezTo>
                  <a:cubicBezTo>
                    <a:pt x="154" y="456"/>
                    <a:pt x="157" y="397"/>
                    <a:pt x="157" y="336"/>
                  </a:cubicBezTo>
                  <a:cubicBezTo>
                    <a:pt x="157" y="299"/>
                    <a:pt x="157" y="294"/>
                    <a:pt x="146" y="249"/>
                  </a:cubicBezTo>
                  <a:cubicBezTo>
                    <a:pt x="146" y="244"/>
                    <a:pt x="137" y="216"/>
                    <a:pt x="137" y="1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496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1" grpId="0" animBg="1"/>
      <p:bldP spid="42" grpId="0" animBg="1"/>
      <p:bldP spid="50" grpId="0"/>
      <p:bldP spid="20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E208-2D93-943D-3DF3-E88F49E2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Hamiltonian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98EF2-D43D-0B7A-09D2-CD6D5C944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314" y="1387943"/>
            <a:ext cx="10719460" cy="4773706"/>
          </a:xfrm>
        </p:spPr>
        <p:txBody>
          <a:bodyPr>
            <a:normAutofit fontScale="70000" lnSpcReduction="20000"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We could now substitute the Holstein-</a:t>
            </a:r>
            <a:r>
              <a:rPr lang="en-GB" err="1"/>
              <a:t>Primakoff</a:t>
            </a:r>
            <a:r>
              <a:rPr lang="en-GB"/>
              <a:t> operators back into the Hamiltonian, but then the maths gets complicated because of the dependence of the operators on the magnetic structure (spin orientation).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Instead we define a set of 3x3 rotation matrices </a:t>
            </a:r>
            <a:r>
              <a:rPr lang="en-GB" b="1"/>
              <a:t>R</a:t>
            </a:r>
            <a:r>
              <a:rPr lang="en-GB" baseline="-25000"/>
              <a:t>i</a:t>
            </a:r>
            <a:r>
              <a:rPr lang="en-GB"/>
              <a:t> which rotates all the spin to ferromagnetic alignment, e.g.: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Where </a:t>
            </a:r>
            <a:r>
              <a:rPr lang="en-GB" b="1" i="1"/>
              <a:t>S</a:t>
            </a:r>
            <a:r>
              <a:rPr lang="en-GB" i="1" baseline="-25000"/>
              <a:t>i</a:t>
            </a:r>
            <a:r>
              <a:rPr lang="en-GB"/>
              <a:t>’ are all ferromagnetic.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 sz="1050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Remembering that: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If we define two sets of vectors </a:t>
            </a:r>
            <a:r>
              <a:rPr lang="en-GB" b="1" err="1"/>
              <a:t>u</a:t>
            </a:r>
            <a:r>
              <a:rPr lang="en-GB" baseline="-25000" err="1"/>
              <a:t>i</a:t>
            </a:r>
            <a:r>
              <a:rPr lang="en-GB"/>
              <a:t> formed from the first two columns of the matrix </a:t>
            </a:r>
            <a:r>
              <a:rPr lang="en-GB" b="1"/>
              <a:t>R</a:t>
            </a:r>
            <a:r>
              <a:rPr lang="en-GB" b="1" baseline="-25000"/>
              <a:t>i</a:t>
            </a:r>
            <a:r>
              <a:rPr lang="en-GB" b="1"/>
              <a:t> </a:t>
            </a:r>
            <a:r>
              <a:rPr lang="en-GB"/>
              <a:t>and </a:t>
            </a:r>
            <a:r>
              <a:rPr lang="en-GB" b="1"/>
              <a:t>v</a:t>
            </a:r>
            <a:r>
              <a:rPr lang="en-GB" baseline="-25000"/>
              <a:t>i</a:t>
            </a:r>
            <a:r>
              <a:rPr lang="en-GB"/>
              <a:t> formed from the third column as: 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Then we have: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Where the bar indicates complex conjugation.</a:t>
            </a:r>
          </a:p>
          <a:p>
            <a:endParaRPr lang="en-GB"/>
          </a:p>
        </p:txBody>
      </p:sp>
      <p:pic>
        <p:nvPicPr>
          <p:cNvPr id="249" name="Picture 2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265" y="2292306"/>
            <a:ext cx="1990476" cy="476190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771" y="3982961"/>
            <a:ext cx="1333333" cy="495238"/>
          </a:xfrm>
          <a:prstGeom prst="rect">
            <a:avLst/>
          </a:prstGeom>
        </p:spPr>
      </p:pic>
      <p:pic>
        <p:nvPicPr>
          <p:cNvPr id="253" name="Picture 25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45" y="4745518"/>
            <a:ext cx="3609524" cy="5047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363" y="3189720"/>
            <a:ext cx="4952381" cy="41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1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EE35-D5C7-76B3-DBAB-99CBACB2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DD531-34C6-4277-2C84-F5560029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Hamiltonian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3256D-DE76-D29B-AEBD-220A005EA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314" y="1387943"/>
            <a:ext cx="10719460" cy="4773706"/>
          </a:xfrm>
        </p:spPr>
        <p:txBody>
          <a:bodyPr>
            <a:normAutofit fontScale="70000" lnSpcReduction="20000"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The Hamiltonian thus becomes: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The terms in curly braces can be expressed as a vector of the H-P operators (basis states), giving: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 sz="1050"/>
          </a:p>
          <a:p>
            <a:pPr marL="342900">
              <a:buFont typeface="Arial" panose="020B0604020202020204" pitchFamily="34" charset="0"/>
              <a:buChar char="•"/>
            </a:pPr>
            <a:endParaRPr lang="en-GB" sz="1050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Where H</a:t>
            </a:r>
            <a:r>
              <a:rPr lang="en-GB" baseline="-25000"/>
              <a:t>ij</a:t>
            </a:r>
            <a:r>
              <a:rPr lang="en-GB" i="1"/>
              <a:t> </a:t>
            </a:r>
            <a:r>
              <a:rPr lang="en-GB"/>
              <a:t>is a 2n x 2n matrix whose matrix elements can be determined by the braced expressions above and is given in the </a:t>
            </a:r>
            <a:r>
              <a:rPr lang="en-GB" err="1"/>
              <a:t>SpinW</a:t>
            </a:r>
            <a:r>
              <a:rPr lang="en-GB"/>
              <a:t> paper.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The expression above will contain terms which mix spins at </a:t>
            </a:r>
            <a:r>
              <a:rPr lang="en-GB" i="1" err="1"/>
              <a:t>i</a:t>
            </a:r>
            <a:r>
              <a:rPr lang="en-GB"/>
              <a:t> and </a:t>
            </a:r>
            <a:r>
              <a:rPr lang="en-GB" i="1"/>
              <a:t>j</a:t>
            </a:r>
            <a:r>
              <a:rPr lang="en-GB"/>
              <a:t> – a Fourier Transform will separate this, e.g. as in: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/>
              <a:t>We now Fourier transform the Hamiltonian                                  and diagonalise it for every </a:t>
            </a:r>
            <a:r>
              <a:rPr lang="en-GB" b="1" i="1"/>
              <a:t>q</a:t>
            </a:r>
            <a:r>
              <a:rPr lang="en-GB"/>
              <a:t> point.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  <a:p>
            <a:pPr marL="342900">
              <a:buFont typeface="Arial" panose="020B0604020202020204" pitchFamily="34" charset="0"/>
              <a:buChar char="•"/>
            </a:pP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042" y="1686596"/>
            <a:ext cx="8733333" cy="6380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231" y="2703623"/>
            <a:ext cx="1580952" cy="47619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255554" y="4012208"/>
            <a:ext cx="6230628" cy="1077347"/>
            <a:chOff x="1455508" y="4910412"/>
            <a:chExt cx="7363522" cy="127323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5508" y="4910412"/>
              <a:ext cx="6500397" cy="72928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8170" y="5641509"/>
              <a:ext cx="5750860" cy="5421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422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C0F7-4166-4286-C83D-3BD23562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Incommensurate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D3FEF-840A-68D3-4E6E-B3496F696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 sz="2000"/>
              <a:t>Remember that we introduced a rotation matrix which rotates every spin into the ferromagnetic state – actually </a:t>
            </a:r>
            <a:r>
              <a:rPr lang="en-GB" sz="2000" err="1"/>
              <a:t>SpinW</a:t>
            </a:r>
            <a:r>
              <a:rPr lang="en-GB" sz="2000"/>
              <a:t> introduces two such rotations.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/>
              <a:t>The first applies to all spins within a crystalline unit cell and is used for the “incommensurate” (single-q) calculations.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/>
              <a:t>The second then rotates the spins within a unit cell into the ferromagnetic state.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/>
              <a:t>It turns out that for structures which can be described by a rotation from one unit cell to another, that the spin-spin correlation function (and hence INS intensity S(</a:t>
            </a:r>
            <a:r>
              <a:rPr lang="en-GB" sz="2000" b="1" i="1"/>
              <a:t>Q</a:t>
            </a:r>
            <a:r>
              <a:rPr lang="en-GB" sz="2000"/>
              <a:t>,</a:t>
            </a:r>
            <a:r>
              <a:rPr lang="el-GR" sz="2000"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en-GB" sz="2000"/>
              <a:t>)) has three branches: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1600"/>
              <a:t>At </a:t>
            </a:r>
            <a:r>
              <a:rPr lang="en-GB" sz="1600" b="1" i="1"/>
              <a:t>Q</a:t>
            </a:r>
            <a:endParaRPr lang="en-GB" sz="1600"/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1600"/>
              <a:t>At </a:t>
            </a:r>
            <a:r>
              <a:rPr lang="en-GB" sz="1600" b="1" i="1"/>
              <a:t>Q </a:t>
            </a:r>
            <a:r>
              <a:rPr lang="en-GB" sz="1600">
                <a:latin typeface="Calibri" panose="020F0502020204030204" pitchFamily="34" charset="0"/>
                <a:cs typeface="Calibri" panose="020F0502020204030204" pitchFamily="34" charset="0"/>
              </a:rPr>
              <a:t>± </a:t>
            </a:r>
            <a:r>
              <a:rPr lang="en-GB" sz="1600" b="1" i="1">
                <a:latin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GB" sz="1600">
                <a:latin typeface="Calibri" panose="020F0502020204030204" pitchFamily="34" charset="0"/>
                <a:cs typeface="Calibri" panose="020F0502020204030204" pitchFamily="34" charset="0"/>
              </a:rPr>
              <a:t>, where </a:t>
            </a:r>
            <a:r>
              <a:rPr lang="en-GB" sz="1600" b="1" i="1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GB" sz="1600">
                <a:latin typeface="Calibri" panose="020F0502020204030204" pitchFamily="34" charset="0"/>
                <a:cs typeface="Calibri" panose="020F0502020204030204" pitchFamily="34" charset="0"/>
              </a:rPr>
              <a:t> is the ordering wavevector / magnetic propagation vector</a:t>
            </a:r>
          </a:p>
          <a:p>
            <a:pPr marL="1028700" lvl="1">
              <a:buFont typeface="Arial" panose="020B0604020202020204" pitchFamily="34" charset="0"/>
              <a:buChar char="•"/>
            </a:pPr>
            <a:endParaRPr lang="en-GB" sz="1600" b="1" i="1"/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/>
              <a:t>Expressions for the spin-spin correlation function can be found in the </a:t>
            </a:r>
            <a:r>
              <a:rPr lang="en-GB" sz="2000" err="1"/>
              <a:t>SpinW</a:t>
            </a:r>
            <a:r>
              <a:rPr lang="en-GB" sz="2000"/>
              <a:t> paper:</a:t>
            </a:r>
          </a:p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5532656" y="5294034"/>
            <a:ext cx="6361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hlinkClick r:id="rId2"/>
              </a:rPr>
              <a:t>S. </a:t>
            </a:r>
            <a:r>
              <a:rPr lang="en-GB" err="1">
                <a:hlinkClick r:id="rId2"/>
              </a:rPr>
              <a:t>Toth</a:t>
            </a:r>
            <a:r>
              <a:rPr lang="en-GB">
                <a:hlinkClick r:id="rId2"/>
              </a:rPr>
              <a:t> and B. Lake, </a:t>
            </a:r>
            <a:r>
              <a:rPr lang="en-GB" i="1">
                <a:hlinkClick r:id="rId2"/>
              </a:rPr>
              <a:t>J. Phys.: </a:t>
            </a:r>
            <a:r>
              <a:rPr lang="en-GB" i="1" err="1">
                <a:hlinkClick r:id="rId2"/>
              </a:rPr>
              <a:t>Condens</a:t>
            </a:r>
            <a:r>
              <a:rPr lang="en-GB" i="1">
                <a:hlinkClick r:id="rId2"/>
              </a:rPr>
              <a:t>. Matter</a:t>
            </a:r>
            <a:r>
              <a:rPr lang="en-GB">
                <a:hlinkClick r:id="rId2"/>
              </a:rPr>
              <a:t>, </a:t>
            </a:r>
            <a:r>
              <a:rPr lang="en-GB" b="1">
                <a:hlinkClick r:id="rId2"/>
              </a:rPr>
              <a:t>27 </a:t>
            </a:r>
            <a:r>
              <a:rPr lang="en-GB">
                <a:hlinkClick r:id="rId2"/>
              </a:rPr>
              <a:t>(2015) 166002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14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278C-89C8-41DB-CCF8-55FE9184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E892F-2B63-C1E5-9785-6D0969FD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83754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C302-D2B5-DDF2-3849-BE1C7F40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Some History of the </a:t>
            </a:r>
            <a:r>
              <a:rPr lang="en-GB" err="1"/>
              <a:t>SpinW</a:t>
            </a:r>
            <a:r>
              <a:rPr lang="en-GB"/>
              <a:t> Organisation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C6375-2E8B-7B94-D0C1-38FF728F7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/>
              <a:t>MATLAB </a:t>
            </a:r>
            <a:r>
              <a:rPr lang="en-GB" sz="2800" err="1"/>
              <a:t>SpinW</a:t>
            </a:r>
            <a:r>
              <a:rPr lang="en-GB" sz="2800"/>
              <a:t> Developed by Sánd</a:t>
            </a:r>
            <a:r>
              <a:rPr lang="en-GB" sz="2800">
                <a:highlight>
                  <a:srgbClr val="FFFFFF"/>
                </a:highlight>
              </a:rPr>
              <a:t>o</a:t>
            </a:r>
            <a:r>
              <a:rPr lang="en-GB" sz="2800"/>
              <a:t>r T</a:t>
            </a:r>
            <a:r>
              <a:rPr lang="en-GB" sz="2800">
                <a:highlight>
                  <a:srgbClr val="FFFFFF"/>
                </a:highlight>
              </a:rPr>
              <a:t>ó</a:t>
            </a:r>
            <a:r>
              <a:rPr lang="en-GB" sz="2800"/>
              <a:t>th in Berlin</a:t>
            </a:r>
          </a:p>
          <a:p>
            <a:r>
              <a:rPr lang="en-GB" sz="2800"/>
              <a:t>Pioneered using a rotating coordinate frame for fast calculations of spin waves in helical magnets.</a:t>
            </a:r>
          </a:p>
          <a:p>
            <a:r>
              <a:rPr lang="en-GB" sz="2800"/>
              <a:t>Project taken on by Simon Ward, Duc Le and Richard Waite</a:t>
            </a:r>
          </a:p>
          <a:p>
            <a:r>
              <a:rPr lang="en-GB" sz="2800"/>
              <a:t>Python version developed as part of an ISIS/PSI Collaboration starting 2025</a:t>
            </a:r>
          </a:p>
        </p:txBody>
      </p:sp>
    </p:spTree>
    <p:extLst>
      <p:ext uri="{BB962C8B-B14F-4D97-AF65-F5344CB8AC3E}">
        <p14:creationId xmlns:p14="http://schemas.microsoft.com/office/powerpoint/2010/main" val="182557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B7D0-D9FE-62D9-F695-A54BDB82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PySpinW</a:t>
            </a:r>
            <a:r>
              <a:rPr lang="en-US"/>
              <a:t> vs </a:t>
            </a:r>
            <a:r>
              <a:rPr lang="en-US" err="1"/>
              <a:t>SpinW</a:t>
            </a:r>
            <a:r>
              <a:rPr lang="en-US"/>
              <a:t> Design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F9FD43-AE44-FD27-B0AE-1C6B0E2DE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464380"/>
              </p:ext>
            </p:extLst>
          </p:nvPr>
        </p:nvGraphicFramePr>
        <p:xfrm>
          <a:off x="992372" y="1191732"/>
          <a:ext cx="10971147" cy="4265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049">
                  <a:extLst>
                    <a:ext uri="{9D8B030D-6E8A-4147-A177-3AD203B41FA5}">
                      <a16:colId xmlns:a16="http://schemas.microsoft.com/office/drawing/2014/main" val="3715748231"/>
                    </a:ext>
                  </a:extLst>
                </a:gridCol>
                <a:gridCol w="3657049">
                  <a:extLst>
                    <a:ext uri="{9D8B030D-6E8A-4147-A177-3AD203B41FA5}">
                      <a16:colId xmlns:a16="http://schemas.microsoft.com/office/drawing/2014/main" val="1894286361"/>
                    </a:ext>
                  </a:extLst>
                </a:gridCol>
                <a:gridCol w="3657049">
                  <a:extLst>
                    <a:ext uri="{9D8B030D-6E8A-4147-A177-3AD203B41FA5}">
                      <a16:colId xmlns:a16="http://schemas.microsoft.com/office/drawing/2014/main" val="3041676288"/>
                    </a:ext>
                  </a:extLst>
                </a:gridCol>
              </a:tblGrid>
              <a:tr h="710858">
                <a:tc>
                  <a:txBody>
                    <a:bodyPr/>
                    <a:lstStyle/>
                    <a:p>
                      <a:pPr algn="ctr"/>
                      <a:endParaRPr lang="en-GB" sz="2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err="1"/>
                        <a:t>SpinW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err="1"/>
                        <a:t>pySpinW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32084"/>
                  </a:ext>
                </a:extLst>
              </a:tr>
              <a:tr h="710858">
                <a:tc>
                  <a:txBody>
                    <a:bodyPr/>
                    <a:lstStyle/>
                    <a:p>
                      <a:pPr algn="ctr"/>
                      <a:r>
                        <a:rPr lang="en-GB" sz="2000" b="1"/>
                        <a:t>Interaction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MATLAB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649817"/>
                  </a:ext>
                </a:extLst>
              </a:tr>
              <a:tr h="710858">
                <a:tc>
                  <a:txBody>
                    <a:bodyPr/>
                    <a:lstStyle/>
                    <a:p>
                      <a:pPr algn="ctr"/>
                      <a:r>
                        <a:rPr lang="en-GB" sz="2000" b="1"/>
                        <a:t>Core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Rust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770666"/>
                  </a:ext>
                </a:extLst>
              </a:tr>
              <a:tr h="710858">
                <a:tc>
                  <a:txBody>
                    <a:bodyPr/>
                    <a:lstStyle/>
                    <a:p>
                      <a:pPr algn="ctr"/>
                      <a:r>
                        <a:rPr lang="en-GB" sz="2000" b="1"/>
                        <a:t>Interaction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Modify the </a:t>
                      </a:r>
                      <a:r>
                        <a:rPr lang="en-GB" sz="2000" err="1"/>
                        <a:t>spinw</a:t>
                      </a:r>
                      <a:r>
                        <a:rPr lang="en-GB" sz="2000"/>
                        <a:t>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Build objects out of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73230"/>
                  </a:ext>
                </a:extLst>
              </a:tr>
              <a:tr h="710858">
                <a:tc>
                  <a:txBody>
                    <a:bodyPr/>
                    <a:lstStyle/>
                    <a:p>
                      <a:pPr algn="ctr"/>
                      <a:r>
                        <a:rPr lang="en-GB" sz="2000" b="1"/>
                        <a:t>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Few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594075"/>
                  </a:ext>
                </a:extLst>
              </a:tr>
              <a:tr h="7108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1"/>
                        <a:t>Mutability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/>
                        <a:t>One </a:t>
                      </a:r>
                      <a:r>
                        <a:rPr lang="en-GB" sz="2000" err="1"/>
                        <a:t>spinw</a:t>
                      </a:r>
                      <a:r>
                        <a:rPr lang="en-GB" sz="2000"/>
                        <a:t> object, change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/>
                        <a:t>Make copies if you want something different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835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464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141B-B88C-C091-53AF-EB2369B3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PySpinW</a:t>
            </a:r>
            <a:r>
              <a:rPr lang="en-GB"/>
              <a:t> Object Construction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EFF75-46C7-7B91-EE11-59C6233D57F3}"/>
              </a:ext>
            </a:extLst>
          </p:cNvPr>
          <p:cNvSpPr txBox="1"/>
          <p:nvPr/>
        </p:nvSpPr>
        <p:spPr>
          <a:xfrm>
            <a:off x="4900272" y="1294492"/>
            <a:ext cx="1715099" cy="400110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err="1"/>
              <a:t>LatticeSite</a:t>
            </a:r>
            <a:r>
              <a:rPr lang="en-GB" sz="2000"/>
              <a:t>[s]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507B4-0E3E-7360-CA2E-7DC60E5E635F}"/>
              </a:ext>
            </a:extLst>
          </p:cNvPr>
          <p:cNvSpPr txBox="1"/>
          <p:nvPr/>
        </p:nvSpPr>
        <p:spPr>
          <a:xfrm>
            <a:off x="9102563" y="1697275"/>
            <a:ext cx="1631211" cy="400110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err="1"/>
              <a:t>SpaceGroup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AB616-F61D-F6FA-9D3F-E91D45FFD67D}"/>
              </a:ext>
            </a:extLst>
          </p:cNvPr>
          <p:cNvSpPr txBox="1"/>
          <p:nvPr/>
        </p:nvSpPr>
        <p:spPr>
          <a:xfrm>
            <a:off x="8953932" y="2805201"/>
            <a:ext cx="1409415" cy="400110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/>
              <a:t>Supercell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844F1-E101-EE39-2D13-3D3CAD72D873}"/>
              </a:ext>
            </a:extLst>
          </p:cNvPr>
          <p:cNvSpPr txBox="1"/>
          <p:nvPr/>
        </p:nvSpPr>
        <p:spPr>
          <a:xfrm>
            <a:off x="6481863" y="2437491"/>
            <a:ext cx="1422705" cy="400110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/>
              <a:t>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DB6E2-0496-E4E8-4712-F2C1B97397E3}"/>
              </a:ext>
            </a:extLst>
          </p:cNvPr>
          <p:cNvSpPr txBox="1"/>
          <p:nvPr/>
        </p:nvSpPr>
        <p:spPr>
          <a:xfrm>
            <a:off x="7314747" y="1294491"/>
            <a:ext cx="1174612" cy="400110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err="1"/>
              <a:t>UnitCell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BCA32-0B86-1D27-FCFE-9A951E609A1D}"/>
              </a:ext>
            </a:extLst>
          </p:cNvPr>
          <p:cNvSpPr txBox="1"/>
          <p:nvPr/>
        </p:nvSpPr>
        <p:spPr>
          <a:xfrm>
            <a:off x="4218013" y="3996933"/>
            <a:ext cx="1728391" cy="400110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/>
              <a:t>Hamiltonian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60B45E-5F31-BECB-576A-EF64AF1C730B}"/>
              </a:ext>
            </a:extLst>
          </p:cNvPr>
          <p:cNvSpPr txBox="1"/>
          <p:nvPr/>
        </p:nvSpPr>
        <p:spPr>
          <a:xfrm>
            <a:off x="1338363" y="3505177"/>
            <a:ext cx="1723960" cy="400110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/>
              <a:t>Exchange[s]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2687E6-2039-3EEF-6B6F-F611198E1C58}"/>
              </a:ext>
            </a:extLst>
          </p:cNvPr>
          <p:cNvSpPr txBox="1"/>
          <p:nvPr/>
        </p:nvSpPr>
        <p:spPr>
          <a:xfrm>
            <a:off x="3088305" y="2791909"/>
            <a:ext cx="1790412" cy="400110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/>
              <a:t>Anisotropy[s]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A3E19-8CDF-0B14-6020-8E97747BE6CE}"/>
              </a:ext>
            </a:extLst>
          </p:cNvPr>
          <p:cNvSpPr txBox="1"/>
          <p:nvPr/>
        </p:nvSpPr>
        <p:spPr>
          <a:xfrm>
            <a:off x="4497118" y="5361444"/>
            <a:ext cx="1174612" cy="400110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/>
              <a:t>Sample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1464A2-5DDF-E30E-9B23-F9BAB2E40DD3}"/>
              </a:ext>
            </a:extLst>
          </p:cNvPr>
          <p:cNvSpPr txBox="1"/>
          <p:nvPr/>
        </p:nvSpPr>
        <p:spPr>
          <a:xfrm>
            <a:off x="9326071" y="3793142"/>
            <a:ext cx="2765066" cy="400110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err="1"/>
              <a:t>PropagationVector</a:t>
            </a:r>
            <a:r>
              <a:rPr lang="en-GB" sz="2000"/>
              <a:t>[s]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706FD2-6EA8-7E39-C9FA-EB64F327201A}"/>
              </a:ext>
            </a:extLst>
          </p:cNvPr>
          <p:cNvCxnSpPr/>
          <p:nvPr/>
        </p:nvCxnSpPr>
        <p:spPr>
          <a:xfrm flipH="1" flipV="1">
            <a:off x="9690536" y="3214384"/>
            <a:ext cx="1127530" cy="5851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8E8FB4-91B8-E0A7-C929-ECFFEA9B9D21}"/>
              </a:ext>
            </a:extLst>
          </p:cNvPr>
          <p:cNvCxnSpPr>
            <a:cxnSpLocks/>
          </p:cNvCxnSpPr>
          <p:nvPr/>
        </p:nvCxnSpPr>
        <p:spPr>
          <a:xfrm flipH="1" flipV="1">
            <a:off x="7922873" y="2634021"/>
            <a:ext cx="1021206" cy="3414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1E2679-9B81-7F92-6B0B-FCCAE27F6EA8}"/>
              </a:ext>
            </a:extLst>
          </p:cNvPr>
          <p:cNvCxnSpPr>
            <a:cxnSpLocks/>
          </p:cNvCxnSpPr>
          <p:nvPr/>
        </p:nvCxnSpPr>
        <p:spPr>
          <a:xfrm>
            <a:off x="6028986" y="1726191"/>
            <a:ext cx="675572" cy="6553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DD88ADE-5FA1-005D-C2DB-E76B7191DADE}"/>
              </a:ext>
            </a:extLst>
          </p:cNvPr>
          <p:cNvCxnSpPr>
            <a:cxnSpLocks/>
          </p:cNvCxnSpPr>
          <p:nvPr/>
        </p:nvCxnSpPr>
        <p:spPr>
          <a:xfrm flipH="1">
            <a:off x="7537442" y="1735052"/>
            <a:ext cx="223764" cy="6375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DFF9E1-2FA0-16DC-2EDB-4F6D100FA888}"/>
              </a:ext>
            </a:extLst>
          </p:cNvPr>
          <p:cNvCxnSpPr>
            <a:cxnSpLocks/>
          </p:cNvCxnSpPr>
          <p:nvPr/>
        </p:nvCxnSpPr>
        <p:spPr>
          <a:xfrm flipH="1">
            <a:off x="7940593" y="1978715"/>
            <a:ext cx="1078800" cy="4515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C9492D-7434-C591-FD9A-11FA14578A95}"/>
              </a:ext>
            </a:extLst>
          </p:cNvPr>
          <p:cNvCxnSpPr>
            <a:cxnSpLocks/>
          </p:cNvCxnSpPr>
          <p:nvPr/>
        </p:nvCxnSpPr>
        <p:spPr>
          <a:xfrm>
            <a:off x="3100602" y="3724225"/>
            <a:ext cx="1105304" cy="473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28B97C-D8AD-0B30-A9C5-117C0C42FBF0}"/>
              </a:ext>
            </a:extLst>
          </p:cNvPr>
          <p:cNvCxnSpPr>
            <a:cxnSpLocks/>
          </p:cNvCxnSpPr>
          <p:nvPr/>
        </p:nvCxnSpPr>
        <p:spPr>
          <a:xfrm>
            <a:off x="4217020" y="3214748"/>
            <a:ext cx="843921" cy="7350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327FE6-0521-F280-5218-7F8904AECD5B}"/>
              </a:ext>
            </a:extLst>
          </p:cNvPr>
          <p:cNvCxnSpPr>
            <a:cxnSpLocks/>
          </p:cNvCxnSpPr>
          <p:nvPr/>
        </p:nvCxnSpPr>
        <p:spPr>
          <a:xfrm flipH="1">
            <a:off x="5410930" y="2855899"/>
            <a:ext cx="1685741" cy="1080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8E7DE7-CB0C-76F1-F50C-FD1A2C4C1687}"/>
              </a:ext>
            </a:extLst>
          </p:cNvPr>
          <p:cNvCxnSpPr>
            <a:cxnSpLocks/>
          </p:cNvCxnSpPr>
          <p:nvPr/>
        </p:nvCxnSpPr>
        <p:spPr>
          <a:xfrm flipH="1">
            <a:off x="5131824" y="4419771"/>
            <a:ext cx="33265" cy="8945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AC2EB08-3F62-1F16-A57C-3B5263C209F7}"/>
              </a:ext>
            </a:extLst>
          </p:cNvPr>
          <p:cNvSpPr txBox="1"/>
          <p:nvPr/>
        </p:nvSpPr>
        <p:spPr>
          <a:xfrm>
            <a:off x="6663502" y="5764594"/>
            <a:ext cx="1710669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>
                <a:solidFill>
                  <a:srgbClr val="D8D8D8"/>
                </a:solidFill>
              </a:rPr>
              <a:t>Experiment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1A4241-94CF-3EA5-98C3-5BE087B2E13E}"/>
              </a:ext>
            </a:extLst>
          </p:cNvPr>
          <p:cNvCxnSpPr>
            <a:cxnSpLocks/>
          </p:cNvCxnSpPr>
          <p:nvPr/>
        </p:nvCxnSpPr>
        <p:spPr>
          <a:xfrm>
            <a:off x="5749879" y="5589352"/>
            <a:ext cx="839492" cy="362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9A81A9D-3445-B242-270C-15519123EE25}"/>
              </a:ext>
            </a:extLst>
          </p:cNvPr>
          <p:cNvSpPr txBox="1"/>
          <p:nvPr/>
        </p:nvSpPr>
        <p:spPr>
          <a:xfrm>
            <a:off x="581587" y="1361326"/>
            <a:ext cx="21404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accent3"/>
                </a:solidFill>
              </a:rPr>
              <a:t>Single Class</a:t>
            </a:r>
          </a:p>
          <a:p>
            <a:r>
              <a:rPr lang="en-GB" sz="2000">
                <a:solidFill>
                  <a:srgbClr val="00B050"/>
                </a:solidFill>
              </a:rPr>
              <a:t>Multiple Classes</a:t>
            </a:r>
          </a:p>
          <a:p>
            <a:r>
              <a:rPr lang="en-GB" sz="2000">
                <a:solidFill>
                  <a:srgbClr val="1E5DF8"/>
                </a:solidFill>
              </a:rPr>
              <a:t>Fitting Helpers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DCA7D2-2E63-EFE7-EFB6-7751C41D4C9A}"/>
              </a:ext>
            </a:extLst>
          </p:cNvPr>
          <p:cNvSpPr/>
          <p:nvPr/>
        </p:nvSpPr>
        <p:spPr>
          <a:xfrm>
            <a:off x="2529541" y="4910185"/>
            <a:ext cx="1354400" cy="407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>
                <a:cs typeface="Arial"/>
              </a:rPr>
              <a:t>ParameterizedHamilton</a:t>
            </a:r>
            <a:r>
              <a:rPr lang="en-GB">
                <a:cs typeface="Arial"/>
              </a:rPr>
              <a:t>ian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4A39A2-9C0A-E7BE-AC1F-A86E24D46994}"/>
              </a:ext>
            </a:extLst>
          </p:cNvPr>
          <p:cNvSpPr/>
          <p:nvPr/>
        </p:nvSpPr>
        <p:spPr>
          <a:xfrm>
            <a:off x="2861808" y="5964580"/>
            <a:ext cx="1354400" cy="407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err="1">
                <a:cs typeface="Arial"/>
              </a:rPr>
              <a:t>ParameterizedPowder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E95181-A71F-941C-AB8D-6DBF81DA336C}"/>
              </a:ext>
            </a:extLst>
          </p:cNvPr>
          <p:cNvCxnSpPr>
            <a:cxnSpLocks/>
          </p:cNvCxnSpPr>
          <p:nvPr/>
        </p:nvCxnSpPr>
        <p:spPr>
          <a:xfrm flipH="1" flipV="1">
            <a:off x="3926800" y="5141531"/>
            <a:ext cx="551604" cy="1908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925915-808B-A1C6-4EEC-F52C23C4ACA8}"/>
              </a:ext>
            </a:extLst>
          </p:cNvPr>
          <p:cNvCxnSpPr>
            <a:cxnSpLocks/>
          </p:cNvCxnSpPr>
          <p:nvPr/>
        </p:nvCxnSpPr>
        <p:spPr>
          <a:xfrm flipH="1">
            <a:off x="3594533" y="5677955"/>
            <a:ext cx="897161" cy="2743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F25674C-F83F-A7CF-1A21-7F680C3F1B4E}"/>
              </a:ext>
            </a:extLst>
          </p:cNvPr>
          <p:cNvSpPr txBox="1"/>
          <p:nvPr/>
        </p:nvSpPr>
        <p:spPr>
          <a:xfrm>
            <a:off x="8288966" y="6286499"/>
            <a:ext cx="380113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https://spinw.org/pyspinw/</a:t>
            </a:r>
          </a:p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743237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70FB-0688-DFA5-2895-98FD0215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9D948-94F6-206A-EE61-4AD451DE9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937" y="1387943"/>
            <a:ext cx="10733837" cy="485166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>
                <a:hlinkClick r:id="rId2"/>
              </a:rPr>
              <a:t>www.spinw.org</a:t>
            </a:r>
            <a:endParaRPr lang="en-US"/>
          </a:p>
          <a:p>
            <a:pPr marL="114300" indent="0">
              <a:buNone/>
            </a:pPr>
            <a:r>
              <a:rPr lang="en-GB">
                <a:solidFill>
                  <a:srgbClr val="616161"/>
                </a:solidFill>
              </a:rPr>
              <a:t> Overview</a:t>
            </a:r>
            <a:r>
              <a:rPr lang="en-GB"/>
              <a:t> – Quick description of the classes</a:t>
            </a:r>
            <a:endParaRPr lang="en-US"/>
          </a:p>
          <a:p>
            <a:pPr marL="114300" indent="0">
              <a:buNone/>
            </a:pPr>
            <a:r>
              <a:rPr lang="en-GB">
                <a:solidFill>
                  <a:srgbClr val="616161"/>
                </a:solidFill>
              </a:rPr>
              <a:t> Tutorials – The tutorials we're using here</a:t>
            </a:r>
            <a:endParaRPr lang="en-US"/>
          </a:p>
          <a:p>
            <a:pPr marL="114300" indent="0">
              <a:buNone/>
            </a:pPr>
            <a:r>
              <a:rPr lang="en-GB">
                <a:solidFill>
                  <a:srgbClr val="616161"/>
                </a:solidFill>
              </a:rPr>
              <a:t> API</a:t>
            </a:r>
            <a:r>
              <a:rPr lang="en-GB"/>
              <a:t> – More detailed description</a:t>
            </a:r>
            <a:endParaRPr lang="en-US"/>
          </a:p>
          <a:p>
            <a:endParaRPr lang="en-GB" sz="1400">
              <a:solidFill>
                <a:srgbClr val="616161"/>
              </a:solidFill>
            </a:endParaRPr>
          </a:p>
          <a:p>
            <a:pPr marL="114300" indent="0">
              <a:buNone/>
            </a:pPr>
            <a:r>
              <a:rPr lang="en-GB">
                <a:solidFill>
                  <a:srgbClr val="616161"/>
                </a:solidFill>
                <a:hlinkClick r:id="rId3"/>
              </a:rPr>
              <a:t>www.github.com/spinw/pySpinW/</a:t>
            </a:r>
          </a:p>
          <a:p>
            <a:r>
              <a:rPr lang="en-GB">
                <a:solidFill>
                  <a:srgbClr val="616161"/>
                </a:solidFill>
              </a:rPr>
              <a:t>Further examples can be found on the </a:t>
            </a:r>
            <a:r>
              <a:rPr lang="en-GB" err="1">
                <a:solidFill>
                  <a:srgbClr val="616161"/>
                </a:solidFill>
              </a:rPr>
              <a:t>github</a:t>
            </a:r>
            <a:r>
              <a:rPr lang="en-GB">
                <a:solidFill>
                  <a:srgbClr val="616161"/>
                </a:solidFill>
              </a:rPr>
              <a:t> under "docs"</a:t>
            </a:r>
            <a:endParaRPr lang="en-US">
              <a:solidFill>
                <a:srgbClr val="2E2C61"/>
              </a:solidFill>
            </a:endParaRPr>
          </a:p>
          <a:p>
            <a:endParaRPr lang="en-GB" sz="1400">
              <a:solidFill>
                <a:srgbClr val="616161"/>
              </a:solidFill>
            </a:endParaRPr>
          </a:p>
          <a:p>
            <a:pPr marL="114300" indent="0">
              <a:buNone/>
            </a:pPr>
            <a:r>
              <a:rPr lang="en-GB">
                <a:solidFill>
                  <a:srgbClr val="616161"/>
                </a:solidFill>
                <a:hlinkClick r:id="rId4"/>
              </a:rPr>
              <a:t>www.github.com/spinw/munich26</a:t>
            </a:r>
            <a:endParaRPr lang="en-GB">
              <a:solidFill>
                <a:srgbClr val="616161"/>
              </a:solidFill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36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66AF-E0DC-7F5B-EF4F-E245BD10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Github</a:t>
            </a:r>
            <a:r>
              <a:rPr lang="en-GB"/>
              <a:t> Issues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BC36C-85AD-8955-2D1E-EBC632373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Report bugs</a:t>
            </a:r>
          </a:p>
          <a:p>
            <a:r>
              <a:rPr lang="en-GB"/>
              <a:t>See what we're planning</a:t>
            </a:r>
          </a:p>
          <a:p>
            <a:r>
              <a:rPr lang="en-GB"/>
              <a:t>Communicate and/or contribute</a:t>
            </a:r>
          </a:p>
          <a:p>
            <a:r>
              <a:rPr lang="en-GB"/>
              <a:t>General feedback welcome!!!</a:t>
            </a:r>
          </a:p>
          <a:p>
            <a:endParaRPr lang="en-GB"/>
          </a:p>
          <a:p>
            <a:pPr marL="114300" indent="0">
              <a:buNone/>
            </a:pPr>
            <a:r>
              <a:rPr lang="en-GB">
                <a:hlinkClick r:id="rId2"/>
              </a:rPr>
              <a:t>https://github.com/spinw/pyspinw/issues</a:t>
            </a:r>
          </a:p>
          <a:p>
            <a:pPr marL="114300" indent="0">
              <a:buNone/>
            </a:pPr>
            <a:endParaRPr lang="en-GB"/>
          </a:p>
          <a:p>
            <a:pPr marL="11430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964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50D7-12EC-DBF1-5869-63EC40D6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5C87-9983-6EC5-790A-9D381B83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F43C4-7717-3A8B-B2CF-408096E2E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2850770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77D3-53F3-9C0F-D6BB-7A07BAD3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PySpinW</a:t>
            </a:r>
            <a:r>
              <a:rPr lang="en-GB"/>
              <a:t> Coordinates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154" y="1387943"/>
            <a:ext cx="10729620" cy="4261616"/>
          </a:xfrm>
        </p:spPr>
        <p:txBody>
          <a:bodyPr>
            <a:normAutofit lnSpcReduction="10000"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 sz="2000" err="1">
                <a:latin typeface="+mn-lt"/>
              </a:rPr>
              <a:t>pySpinW</a:t>
            </a:r>
            <a:r>
              <a:rPr lang="en-GB" sz="2000">
                <a:latin typeface="+mn-lt"/>
              </a:rPr>
              <a:t> uses four coordinate systems: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Lattice units (</a:t>
            </a:r>
            <a:r>
              <a:rPr lang="en-GB" sz="2000" err="1">
                <a:latin typeface="+mn-lt"/>
              </a:rPr>
              <a:t>l.u</a:t>
            </a:r>
            <a:r>
              <a:rPr lang="en-GB" sz="2000">
                <a:latin typeface="+mn-lt"/>
              </a:rPr>
              <a:t>.) – defines the atomic positions; set by the unit cell parameters (</a:t>
            </a:r>
            <a:r>
              <a:rPr lang="en-GB" sz="2000" i="1" err="1">
                <a:latin typeface="+mn-lt"/>
              </a:rPr>
              <a:t>a,b,c</a:t>
            </a:r>
            <a:r>
              <a:rPr lang="en-GB" sz="2000">
                <a:latin typeface="+mn-lt"/>
              </a:rPr>
              <a:t>,</a:t>
            </a:r>
            <a:r>
              <a:rPr lang="el-GR" sz="2000">
                <a:latin typeface="+mn-lt"/>
              </a:rPr>
              <a:t>α</a:t>
            </a:r>
            <a:r>
              <a:rPr lang="en-GB" sz="2000">
                <a:latin typeface="+mn-lt"/>
              </a:rPr>
              <a:t>,</a:t>
            </a:r>
            <a:r>
              <a:rPr lang="el-GR" sz="2000">
                <a:latin typeface="+mn-lt"/>
              </a:rPr>
              <a:t>β</a:t>
            </a:r>
            <a:r>
              <a:rPr lang="en-GB" sz="2000">
                <a:latin typeface="+mn-lt"/>
              </a:rPr>
              <a:t>,</a:t>
            </a:r>
            <a:r>
              <a:rPr lang="el-GR" sz="2000">
                <a:latin typeface="+mn-lt"/>
              </a:rPr>
              <a:t>γ</a:t>
            </a:r>
            <a:r>
              <a:rPr lang="en-GB" sz="2000">
                <a:latin typeface="+mn-lt"/>
              </a:rPr>
              <a:t>)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Reciprocal lattice units (</a:t>
            </a:r>
            <a:r>
              <a:rPr lang="en-GB" sz="2000" err="1">
                <a:latin typeface="+mn-lt"/>
              </a:rPr>
              <a:t>r.l.u</a:t>
            </a:r>
            <a:r>
              <a:rPr lang="en-GB" sz="2000">
                <a:latin typeface="+mn-lt"/>
              </a:rPr>
              <a:t>.) – defines the momentum transfer </a:t>
            </a:r>
            <a:r>
              <a:rPr lang="en-GB" sz="2000" b="1" i="1">
                <a:latin typeface="+mn-lt"/>
              </a:rPr>
              <a:t>Q</a:t>
            </a:r>
            <a:r>
              <a:rPr lang="en-GB" sz="2000">
                <a:latin typeface="+mn-lt"/>
              </a:rPr>
              <a:t> and magnetic propagation </a:t>
            </a:r>
            <a:r>
              <a:rPr lang="en-GB" sz="2000" b="1" i="1">
                <a:latin typeface="+mn-lt"/>
              </a:rPr>
              <a:t>k</a:t>
            </a:r>
            <a:r>
              <a:rPr lang="en-GB" sz="2000">
                <a:latin typeface="+mn-lt"/>
              </a:rPr>
              <a:t> vectors.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Cartesian coordinates – defined </a:t>
            </a:r>
            <a:r>
              <a:rPr lang="en-GB" sz="2000" err="1">
                <a:latin typeface="+mn-lt"/>
              </a:rPr>
              <a:t>w.r.t.</a:t>
            </a:r>
            <a:r>
              <a:rPr lang="en-GB" sz="2000">
                <a:latin typeface="+mn-lt"/>
              </a:rPr>
              <a:t> lattice coordinates by </a:t>
            </a:r>
            <a:r>
              <a:rPr lang="en-GB" sz="2000" i="1">
                <a:latin typeface="+mn-lt"/>
              </a:rPr>
              <a:t>x</a:t>
            </a:r>
            <a:r>
              <a:rPr lang="en-GB" sz="2000">
                <a:latin typeface="+mn-lt"/>
              </a:rPr>
              <a:t>||</a:t>
            </a:r>
            <a:r>
              <a:rPr lang="en-GB" sz="2000" i="1">
                <a:latin typeface="+mn-lt"/>
              </a:rPr>
              <a:t>a</a:t>
            </a:r>
            <a:r>
              <a:rPr lang="en-GB" sz="2000">
                <a:latin typeface="+mn-lt"/>
              </a:rPr>
              <a:t>, z⊥(</a:t>
            </a:r>
            <a:r>
              <a:rPr lang="en-GB" sz="2000" err="1">
                <a:latin typeface="+mn-lt"/>
              </a:rPr>
              <a:t>a,b</a:t>
            </a:r>
            <a:r>
              <a:rPr lang="en-GB" sz="2000">
                <a:latin typeface="+mn-lt"/>
              </a:rPr>
              <a:t>) and y⊥(</a:t>
            </a:r>
            <a:r>
              <a:rPr lang="en-GB" sz="2000" err="1">
                <a:latin typeface="+mn-lt"/>
              </a:rPr>
              <a:t>x,z</a:t>
            </a:r>
            <a:r>
              <a:rPr lang="en-GB" sz="2000">
                <a:latin typeface="+mn-lt"/>
              </a:rPr>
              <a:t>). Used for: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GB" sz="1600">
                <a:latin typeface="+mn-lt"/>
              </a:rPr>
              <a:t>J, A, g matrices (exchange, SIA, g-tensor)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GB" sz="1600">
                <a:latin typeface="+mn-lt"/>
              </a:rPr>
              <a:t>Magnetic field directions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GB" sz="1600">
                <a:latin typeface="+mn-lt"/>
              </a:rPr>
              <a:t>Magnetic moment (spin) directions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GB" sz="1600">
                <a:latin typeface="+mn-lt"/>
              </a:rPr>
              <a:t>Components of the spin-spin correlation function.</a:t>
            </a:r>
          </a:p>
          <a:p>
            <a:pPr marL="1028700" lvl="1">
              <a:buFont typeface="Arial,Sans-Serif" panose="020B0604020202020204" pitchFamily="34" charset="0"/>
              <a:buChar char="•"/>
            </a:pPr>
            <a:endParaRPr lang="en-GB" sz="800">
              <a:latin typeface="+mn-lt"/>
            </a:endParaRPr>
          </a:p>
          <a:p>
            <a:pPr marL="1028700" lvl="1">
              <a:buFont typeface="Arial,Sans-Serif" panose="020B0604020202020204" pitchFamily="34" charset="0"/>
              <a:buChar char="•"/>
            </a:pPr>
            <a:r>
              <a:rPr lang="en-GB" sz="2000">
                <a:latin typeface="+mn-lt"/>
              </a:rPr>
              <a:t>Blume-</a:t>
            </a:r>
            <a:r>
              <a:rPr lang="en-GB" sz="2000" err="1">
                <a:latin typeface="+mn-lt"/>
              </a:rPr>
              <a:t>Maleev</a:t>
            </a:r>
            <a:r>
              <a:rPr lang="en-GB" sz="2000">
                <a:latin typeface="+mn-lt"/>
              </a:rPr>
              <a:t> cartesian coordinates – used for polarised neutron cross-section calculations, and defined w.r.t the momentum transfer </a:t>
            </a:r>
            <a:r>
              <a:rPr lang="en-GB" sz="2000" b="1" i="1">
                <a:latin typeface="+mn-lt"/>
              </a:rPr>
              <a:t>Q</a:t>
            </a:r>
            <a:r>
              <a:rPr lang="en-GB" sz="2000">
                <a:latin typeface="+mn-lt"/>
              </a:rPr>
              <a:t> such that x||</a:t>
            </a:r>
            <a:r>
              <a:rPr lang="en-GB" sz="2000" b="1" i="1">
                <a:latin typeface="+mn-lt"/>
              </a:rPr>
              <a:t>Q</a:t>
            </a:r>
            <a:r>
              <a:rPr lang="en-GB" sz="2000">
                <a:latin typeface="+mn-lt"/>
              </a:rPr>
              <a:t>, </a:t>
            </a:r>
            <a:r>
              <a:rPr lang="en-GB" sz="2000" err="1">
                <a:latin typeface="+mn-lt"/>
              </a:rPr>
              <a:t>y⊥</a:t>
            </a:r>
            <a:r>
              <a:rPr lang="en-GB" sz="2000" b="1" i="1" err="1">
                <a:latin typeface="+mn-lt"/>
              </a:rPr>
              <a:t>Q</a:t>
            </a:r>
            <a:r>
              <a:rPr lang="en-GB" sz="2000">
                <a:latin typeface="+mn-lt"/>
              </a:rPr>
              <a:t> in the horizontal plane and z is vertical. </a:t>
            </a:r>
            <a:endParaRPr lang="en-GB" sz="2000" b="1" i="1"/>
          </a:p>
        </p:txBody>
      </p:sp>
      <p:sp>
        <p:nvSpPr>
          <p:cNvPr id="4" name="Rectangle 1"/>
          <p:cNvSpPr/>
          <p:nvPr/>
        </p:nvSpPr>
        <p:spPr>
          <a:xfrm>
            <a:off x="4224361" y="23757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 err="1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SpinW</a:t>
            </a:r>
            <a:endParaRPr lang="en-US" sz="3000" kern="1200">
              <a:solidFill>
                <a:srgbClr val="FFFFFF"/>
              </a:solidFill>
              <a:latin typeface="Lucida Sans" pitchFamily="34"/>
              <a:ea typeface="Arial" pitchFamily="34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43261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ADC2E-748E-4E49-BB1F-11A258AA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67A827-C702-F3F9-42E0-ECF5E4C4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Magnetic Structure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2E69-0738-CFC7-C5B5-69B1CBA09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To start, you have to define a lattice and the magnetic atom positions. You can either use the interface functions </a:t>
            </a:r>
            <a:r>
              <a:rPr lang="en-GB" sz="2000" err="1">
                <a:latin typeface="+mn-lt"/>
              </a:rPr>
              <a:t>generate_structure</a:t>
            </a:r>
            <a:r>
              <a:rPr lang="en-GB" sz="2000">
                <a:latin typeface="+mn-lt"/>
              </a:rPr>
              <a:t> or </a:t>
            </a:r>
            <a:r>
              <a:rPr lang="en-GB" sz="2000" err="1">
                <a:latin typeface="+mn-lt"/>
              </a:rPr>
              <a:t>generate_helical_structure</a:t>
            </a:r>
            <a:r>
              <a:rPr lang="en-GB" sz="2000">
                <a:latin typeface="+mn-lt"/>
              </a:rPr>
              <a:t>:</a:t>
            </a:r>
            <a:endParaRPr 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This generates a ferromagnetic chain in the a-direction.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We see that we have used one of the classes here </a:t>
            </a:r>
            <a:r>
              <a:rPr lang="en-GB" sz="2000" err="1">
                <a:latin typeface="+mn-lt"/>
              </a:rPr>
              <a:t>UnitCell</a:t>
            </a:r>
            <a:r>
              <a:rPr lang="en-GB" sz="2000">
                <a:latin typeface="+mn-lt"/>
              </a:rPr>
              <a:t>. The alternative to using the interface functions is to define using the classes directly: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22544A-BF88-0B99-CA29-CE9D84126B55}"/>
              </a:ext>
            </a:extLst>
          </p:cNvPr>
          <p:cNvSpPr/>
          <p:nvPr/>
        </p:nvSpPr>
        <p:spPr>
          <a:xfrm>
            <a:off x="4224361" y="23757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 err="1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SpinW</a:t>
            </a:r>
            <a:r>
              <a:rPr lang="en-US" sz="3000" kern="12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 – Getting Started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D5D39-6A5A-A5D6-8AAE-3A159F3062E9}"/>
              </a:ext>
            </a:extLst>
          </p:cNvPr>
          <p:cNvSpPr txBox="1"/>
          <p:nvPr/>
        </p:nvSpPr>
        <p:spPr>
          <a:xfrm>
            <a:off x="2468422" y="2166190"/>
            <a:ext cx="7336936" cy="12464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>
                <a:latin typeface="Courier New"/>
                <a:cs typeface="Courier New"/>
              </a:rPr>
              <a:t>from </a:t>
            </a:r>
            <a:r>
              <a:rPr lang="en-GB" sz="1500" err="1">
                <a:latin typeface="Courier New"/>
                <a:cs typeface="Courier New"/>
              </a:rPr>
              <a:t>pyspinw</a:t>
            </a:r>
            <a:r>
              <a:rPr lang="en-GB" sz="1500">
                <a:latin typeface="Courier New"/>
                <a:cs typeface="Courier New"/>
              </a:rPr>
              <a:t> import *</a:t>
            </a:r>
          </a:p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generate_structure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UnitCell</a:t>
            </a:r>
            <a:r>
              <a:rPr lang="en-GB" sz="1500">
                <a:latin typeface="Courier New"/>
                <a:cs typeface="Courier New"/>
              </a:rPr>
              <a:t>(3, 5, 5),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               positions=[[0,0,0]],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               spins=[[1,0,0]])</a:t>
            </a:r>
          </a:p>
          <a:p>
            <a:r>
              <a:rPr lang="en-GB" sz="1500">
                <a:latin typeface="Courier New"/>
                <a:cs typeface="Courier New"/>
              </a:rPr>
              <a:t>view(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04EA3-12E9-0AF3-5748-79EBF3A2C4D9}"/>
              </a:ext>
            </a:extLst>
          </p:cNvPr>
          <p:cNvSpPr txBox="1"/>
          <p:nvPr/>
        </p:nvSpPr>
        <p:spPr>
          <a:xfrm>
            <a:off x="2478582" y="4584270"/>
            <a:ext cx="7336936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>
                <a:latin typeface="Courier New"/>
                <a:cs typeface="Courier New"/>
              </a:rPr>
              <a:t>uc = </a:t>
            </a:r>
            <a:r>
              <a:rPr lang="en-GB" sz="1500" err="1">
                <a:latin typeface="Courier New"/>
                <a:cs typeface="Courier New"/>
              </a:rPr>
              <a:t>UnitCell</a:t>
            </a:r>
            <a:r>
              <a:rPr lang="en-GB" sz="1500">
                <a:latin typeface="Courier New"/>
                <a:cs typeface="Courier New"/>
              </a:rPr>
              <a:t>(3, 5, 5)</a:t>
            </a:r>
          </a:p>
          <a:p>
            <a:r>
              <a:rPr lang="en-GB" sz="1500">
                <a:latin typeface="Courier New"/>
                <a:cs typeface="Courier New"/>
              </a:rPr>
              <a:t>site = </a:t>
            </a:r>
            <a:r>
              <a:rPr lang="en-GB" sz="1500" err="1">
                <a:latin typeface="Courier New"/>
                <a:cs typeface="Courier New"/>
              </a:rPr>
              <a:t>LatticeSite</a:t>
            </a:r>
            <a:r>
              <a:rPr lang="en-GB" sz="1500">
                <a:latin typeface="Courier New"/>
                <a:cs typeface="Courier New"/>
              </a:rPr>
              <a:t>(0, 0, 0, 1, 0, 0)</a:t>
            </a:r>
          </a:p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Structure([site], </a:t>
            </a:r>
            <a:r>
              <a:rPr lang="en-GB" sz="1500" err="1">
                <a:latin typeface="Courier New"/>
                <a:cs typeface="Courier New"/>
              </a:rPr>
              <a:t>unit_cell</a:t>
            </a:r>
            <a:r>
              <a:rPr lang="en-GB" sz="1500">
                <a:latin typeface="Courier New"/>
                <a:cs typeface="Courier New"/>
              </a:rPr>
              <a:t>=uc)</a:t>
            </a:r>
          </a:p>
          <a:p>
            <a:r>
              <a:rPr lang="en-GB" sz="1500">
                <a:latin typeface="Courier New"/>
                <a:cs typeface="Courier New"/>
              </a:rPr>
              <a:t>view(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625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C987-D71E-5E2F-DD83-36E35EB7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15972-B88F-4933-8DF5-F88DAFB5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Magnetic Structure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777E2-AA52-672E-609A-AA205E8C7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To start, you have to define a lattice and the magnetic atom positions. You can either use the interface functions </a:t>
            </a:r>
            <a:r>
              <a:rPr lang="en-GB" sz="2000" err="1">
                <a:latin typeface="+mn-lt"/>
              </a:rPr>
              <a:t>generate_structure</a:t>
            </a:r>
            <a:r>
              <a:rPr lang="en-GB" sz="2000">
                <a:latin typeface="+mn-lt"/>
              </a:rPr>
              <a:t> or </a:t>
            </a:r>
            <a:r>
              <a:rPr lang="en-GB" sz="2000" err="1">
                <a:latin typeface="+mn-lt"/>
              </a:rPr>
              <a:t>generate_helical_structure</a:t>
            </a:r>
            <a:r>
              <a:rPr lang="en-GB" sz="2000">
                <a:latin typeface="+mn-lt"/>
              </a:rPr>
              <a:t>:</a:t>
            </a:r>
            <a:endParaRPr 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This generates a ferromagnetic chain in the a-direction.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We see that we have used one of the classes here </a:t>
            </a:r>
            <a:r>
              <a:rPr lang="en-GB" sz="2000" err="1">
                <a:latin typeface="+mn-lt"/>
              </a:rPr>
              <a:t>UnitCell</a:t>
            </a:r>
            <a:r>
              <a:rPr lang="en-GB" sz="2000">
                <a:latin typeface="+mn-lt"/>
              </a:rPr>
              <a:t>. The alternative to using the interface functions is to define using the classes directly: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8A141-185E-DFE0-9D70-CE2584F9D01B}"/>
              </a:ext>
            </a:extLst>
          </p:cNvPr>
          <p:cNvSpPr/>
          <p:nvPr/>
        </p:nvSpPr>
        <p:spPr>
          <a:xfrm>
            <a:off x="4224361" y="23757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 err="1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SpinW</a:t>
            </a:r>
            <a:r>
              <a:rPr lang="en-US" sz="3000" kern="12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 – Getting Started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F519E-7994-5BB1-0440-152C0E0741CC}"/>
              </a:ext>
            </a:extLst>
          </p:cNvPr>
          <p:cNvSpPr txBox="1"/>
          <p:nvPr/>
        </p:nvSpPr>
        <p:spPr>
          <a:xfrm>
            <a:off x="2468422" y="2166190"/>
            <a:ext cx="7336936" cy="12464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>
                <a:latin typeface="Courier New"/>
                <a:cs typeface="Courier New"/>
              </a:rPr>
              <a:t>from </a:t>
            </a:r>
            <a:r>
              <a:rPr lang="en-GB" sz="1500" err="1">
                <a:latin typeface="Courier New"/>
                <a:cs typeface="Courier New"/>
              </a:rPr>
              <a:t>pyspinw</a:t>
            </a:r>
            <a:r>
              <a:rPr lang="en-GB" sz="1500">
                <a:latin typeface="Courier New"/>
                <a:cs typeface="Courier New"/>
              </a:rPr>
              <a:t> import *</a:t>
            </a:r>
          </a:p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generate_structure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UnitCell</a:t>
            </a:r>
            <a:r>
              <a:rPr lang="en-GB" sz="1500">
                <a:latin typeface="Courier New"/>
                <a:cs typeface="Courier New"/>
              </a:rPr>
              <a:t>(3, 5, 5),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               positions=[[0,0,0]],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               spins=[[1,0,0]])</a:t>
            </a:r>
          </a:p>
          <a:p>
            <a:r>
              <a:rPr lang="en-GB" sz="1500">
                <a:latin typeface="Courier New"/>
                <a:cs typeface="Courier New"/>
              </a:rPr>
              <a:t>view(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34027-3B40-1376-9130-316304D33DA4}"/>
              </a:ext>
            </a:extLst>
          </p:cNvPr>
          <p:cNvSpPr txBox="1"/>
          <p:nvPr/>
        </p:nvSpPr>
        <p:spPr>
          <a:xfrm>
            <a:off x="2478582" y="4584270"/>
            <a:ext cx="7336936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>
                <a:latin typeface="Courier New"/>
                <a:cs typeface="Courier New"/>
              </a:rPr>
              <a:t>uc = </a:t>
            </a:r>
            <a:r>
              <a:rPr lang="en-GB" sz="1500" err="1">
                <a:latin typeface="Courier New"/>
                <a:cs typeface="Courier New"/>
              </a:rPr>
              <a:t>UnitCell</a:t>
            </a:r>
            <a:r>
              <a:rPr lang="en-GB" sz="1500">
                <a:latin typeface="Courier New"/>
                <a:cs typeface="Courier New"/>
              </a:rPr>
              <a:t>(3, 5, 5)</a:t>
            </a:r>
          </a:p>
          <a:p>
            <a:r>
              <a:rPr lang="en-GB" sz="1500">
                <a:latin typeface="Courier New"/>
                <a:cs typeface="Courier New"/>
              </a:rPr>
              <a:t>site = </a:t>
            </a:r>
            <a:r>
              <a:rPr lang="en-GB" sz="1500" err="1">
                <a:latin typeface="Courier New"/>
                <a:cs typeface="Courier New"/>
              </a:rPr>
              <a:t>LatticeSite</a:t>
            </a:r>
            <a:r>
              <a:rPr lang="en-GB" sz="1500">
                <a:latin typeface="Courier New"/>
                <a:cs typeface="Courier New"/>
              </a:rPr>
              <a:t>(0, 0, 0, 1, 0, 0)</a:t>
            </a:r>
          </a:p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Structure([site], </a:t>
            </a:r>
            <a:r>
              <a:rPr lang="en-GB" sz="1500" err="1">
                <a:latin typeface="Courier New"/>
                <a:cs typeface="Courier New"/>
              </a:rPr>
              <a:t>unit_cell</a:t>
            </a:r>
            <a:r>
              <a:rPr lang="en-GB" sz="1500">
                <a:latin typeface="Courier New"/>
                <a:cs typeface="Courier New"/>
              </a:rPr>
              <a:t>=uc)</a:t>
            </a:r>
          </a:p>
          <a:p>
            <a:r>
              <a:rPr lang="en-GB" sz="1500">
                <a:latin typeface="Courier New"/>
                <a:cs typeface="Courier New"/>
              </a:rPr>
              <a:t>view(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)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A0CADE-1D2E-E35E-3F04-6F481BD0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960" y="1255713"/>
            <a:ext cx="6085840" cy="477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2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95AB-9BE6-0792-29B9-CB99CB1A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Exchanges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A5537-551F-7828-3E86-21953806A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154" y="1321101"/>
            <a:ext cx="10863304" cy="442364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/>
              <a:t>After defining the structure, we need to define the magnetic exchange interactions (and optionally the single-ion anisotropy).</a:t>
            </a:r>
          </a:p>
          <a:p>
            <a:r>
              <a:rPr lang="en-US"/>
              <a:t>For multiple exchanges we recommend using </a:t>
            </a:r>
            <a:r>
              <a:rPr lang="en-US" err="1"/>
              <a:t>generate_exchanges</a:t>
            </a:r>
            <a:r>
              <a:rPr lang="en-US"/>
              <a:t>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sz="1600"/>
          </a:p>
          <a:p>
            <a:r>
              <a:rPr lang="en-US"/>
              <a:t>For more control, the classes can be called directly but in this case only a single bond is created: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09DD8-FC41-57B0-0E5F-37BAA9931565}"/>
              </a:ext>
            </a:extLst>
          </p:cNvPr>
          <p:cNvSpPr txBox="1"/>
          <p:nvPr/>
        </p:nvSpPr>
        <p:spPr>
          <a:xfrm>
            <a:off x="2262905" y="2641036"/>
            <a:ext cx="7336936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heisenberg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generate_exchanges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bond=1, j=1)</a:t>
            </a:r>
            <a:endParaRPr lang="en-US">
              <a:latin typeface="Courier New"/>
              <a:cs typeface="Courier New"/>
            </a:endParaRPr>
          </a:p>
          <a:p>
            <a:r>
              <a:rPr lang="en-GB" sz="1500">
                <a:latin typeface="Courier New"/>
                <a:cs typeface="Courier New"/>
              </a:rPr>
              <a:t>dm = </a:t>
            </a:r>
            <a:r>
              <a:rPr lang="en-GB" sz="1500" err="1">
                <a:latin typeface="Courier New"/>
                <a:cs typeface="Courier New"/>
              </a:rPr>
              <a:t>generate_exchanges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bond=1,</a:t>
            </a:r>
            <a:endParaRPr lang="en-GB">
              <a:latin typeface="Courier New"/>
              <a:cs typeface="Courier New"/>
            </a:endParaRPr>
          </a:p>
          <a:p>
            <a:r>
              <a:rPr lang="en-GB" sz="1500">
                <a:latin typeface="Courier New"/>
                <a:cs typeface="Courier New"/>
              </a:rPr>
              <a:t>                        </a:t>
            </a:r>
            <a:r>
              <a:rPr lang="en-GB" sz="1500" err="1">
                <a:latin typeface="Courier New"/>
                <a:cs typeface="Courier New"/>
              </a:rPr>
              <a:t>exchange_type</a:t>
            </a:r>
            <a:r>
              <a:rPr lang="en-GB" sz="1500">
                <a:latin typeface="Courier New"/>
                <a:cs typeface="Courier New"/>
              </a:rPr>
              <a:t>=</a:t>
            </a:r>
            <a:r>
              <a:rPr lang="en-GB" sz="1500" err="1">
                <a:latin typeface="Courier New"/>
                <a:cs typeface="Courier New"/>
              </a:rPr>
              <a:t>DMExchange</a:t>
            </a:r>
            <a:r>
              <a:rPr lang="en-GB" sz="1500">
                <a:latin typeface="Courier New"/>
                <a:cs typeface="Courier New"/>
              </a:rPr>
              <a:t>,</a:t>
            </a:r>
            <a:endParaRPr lang="en-GB">
              <a:latin typeface="Courier New"/>
              <a:cs typeface="Courier New"/>
            </a:endParaRPr>
          </a:p>
          <a:p>
            <a:r>
              <a:rPr lang="en-GB" sz="1500">
                <a:latin typeface="Courier New"/>
                <a:cs typeface="Courier New"/>
              </a:rPr>
              <a:t>                        </a:t>
            </a:r>
            <a:r>
              <a:rPr lang="en-GB" sz="1500" err="1">
                <a:latin typeface="Courier New"/>
                <a:cs typeface="Courier New"/>
              </a:rPr>
              <a:t>d_x</a:t>
            </a:r>
            <a:r>
              <a:rPr lang="en-GB" sz="1500">
                <a:latin typeface="Courier New"/>
                <a:cs typeface="Courier New"/>
              </a:rPr>
              <a:t>=1, </a:t>
            </a:r>
            <a:r>
              <a:rPr lang="en-GB" sz="1500" err="1">
                <a:latin typeface="Courier New"/>
                <a:cs typeface="Courier New"/>
              </a:rPr>
              <a:t>d_y</a:t>
            </a:r>
            <a:r>
              <a:rPr lang="en-GB" sz="1500">
                <a:latin typeface="Courier New"/>
                <a:cs typeface="Courier New"/>
              </a:rPr>
              <a:t>=2, </a:t>
            </a:r>
            <a:r>
              <a:rPr lang="en-GB" sz="1500" err="1">
                <a:latin typeface="Courier New"/>
                <a:cs typeface="Courier New"/>
              </a:rPr>
              <a:t>d_z</a:t>
            </a:r>
            <a:r>
              <a:rPr lang="en-GB" sz="1500">
                <a:latin typeface="Courier New"/>
                <a:cs typeface="Courier New"/>
              </a:rPr>
              <a:t>=3)</a:t>
            </a:r>
            <a:endParaRPr lang="en-GB">
              <a:latin typeface="Courier New"/>
              <a:cs typeface="Courier New"/>
            </a:endParaRPr>
          </a:p>
          <a:p>
            <a:r>
              <a:rPr lang="en-GB" sz="1500" err="1">
                <a:latin typeface="Courier New"/>
                <a:cs typeface="Courier New"/>
              </a:rPr>
              <a:t>ising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generate_exchanges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bond=2,</a:t>
            </a:r>
            <a:endParaRPr lang="en-GB">
              <a:latin typeface="Courier New"/>
              <a:cs typeface="Courier New"/>
            </a:endParaRPr>
          </a:p>
          <a:p>
            <a:r>
              <a:rPr lang="en-GB" sz="1500">
                <a:latin typeface="Courier New"/>
                <a:cs typeface="Courier New"/>
              </a:rPr>
              <a:t>                           </a:t>
            </a:r>
            <a:r>
              <a:rPr lang="en-GB" sz="1500" err="1">
                <a:latin typeface="Courier New"/>
                <a:cs typeface="Courier New"/>
              </a:rPr>
              <a:t>exchange_type</a:t>
            </a:r>
            <a:r>
              <a:rPr lang="en-GB" sz="1500">
                <a:latin typeface="Courier New"/>
                <a:cs typeface="Courier New"/>
              </a:rPr>
              <a:t>=</a:t>
            </a:r>
            <a:r>
              <a:rPr lang="en-GB" sz="1500" err="1">
                <a:latin typeface="Courier New"/>
                <a:cs typeface="Courier New"/>
              </a:rPr>
              <a:t>IsingExchange</a:t>
            </a:r>
            <a:r>
              <a:rPr lang="en-GB" sz="1500">
                <a:latin typeface="Courier New"/>
                <a:cs typeface="Courier New"/>
              </a:rPr>
              <a:t>,</a:t>
            </a:r>
            <a:endParaRPr lang="en-GB">
              <a:latin typeface="Courier New"/>
              <a:cs typeface="Courier New"/>
            </a:endParaRPr>
          </a:p>
          <a:p>
            <a:r>
              <a:rPr lang="en-GB" sz="1500">
                <a:latin typeface="Courier New"/>
                <a:cs typeface="Courier New"/>
              </a:rPr>
              <a:t>                           </a:t>
            </a:r>
            <a:r>
              <a:rPr lang="en-GB" sz="1500" err="1">
                <a:latin typeface="Courier New"/>
                <a:cs typeface="Courier New"/>
              </a:rPr>
              <a:t>j_z</a:t>
            </a:r>
            <a:r>
              <a:rPr lang="en-GB" sz="1500">
                <a:latin typeface="Courier New"/>
                <a:cs typeface="Courier New"/>
              </a:rPr>
              <a:t>=-1)</a:t>
            </a:r>
            <a:endParaRPr lang="en-GB">
              <a:latin typeface="Courier New"/>
              <a:cs typeface="Courier New"/>
            </a:endParaRPr>
          </a:p>
          <a:p>
            <a:r>
              <a:rPr lang="en-GB" sz="1500">
                <a:latin typeface="Courier New"/>
                <a:cs typeface="Courier New"/>
              </a:rPr>
              <a:t>exchanges = dm + </a:t>
            </a:r>
            <a:r>
              <a:rPr lang="en-GB" sz="1500" err="1">
                <a:latin typeface="Courier New"/>
                <a:cs typeface="Courier New"/>
              </a:rPr>
              <a:t>ising</a:t>
            </a:r>
            <a:endParaRPr lang="en-GB" err="1">
              <a:latin typeface="Courier New"/>
              <a:cs typeface="Courier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D0CD7-5260-8BFB-8398-234DACF64142}"/>
              </a:ext>
            </a:extLst>
          </p:cNvPr>
          <p:cNvSpPr txBox="1"/>
          <p:nvPr/>
        </p:nvSpPr>
        <p:spPr>
          <a:xfrm>
            <a:off x="2684277" y="5469616"/>
            <a:ext cx="7336936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>
                <a:latin typeface="Courier New"/>
                <a:cs typeface="Courier New"/>
              </a:rPr>
              <a:t>exchanges = [</a:t>
            </a:r>
            <a:r>
              <a:rPr lang="en-GB" sz="1500" err="1">
                <a:latin typeface="Courier New"/>
                <a:cs typeface="Courier New"/>
              </a:rPr>
              <a:t>HeisenbergExchange</a:t>
            </a:r>
            <a:r>
              <a:rPr lang="en-GB" sz="1500">
                <a:latin typeface="Courier New"/>
                <a:cs typeface="Courier New"/>
              </a:rPr>
              <a:t>(s1, s2, </a:t>
            </a:r>
            <a:r>
              <a:rPr lang="en-GB" sz="1500" err="1">
                <a:latin typeface="Courier New"/>
                <a:cs typeface="Courier New"/>
              </a:rPr>
              <a:t>cell_offset</a:t>
            </a:r>
            <a:r>
              <a:rPr lang="en-GB" sz="1500">
                <a:latin typeface="Courier New"/>
                <a:cs typeface="Courier New"/>
              </a:rPr>
              <a:t>=(0,0,0)),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 </a:t>
            </a:r>
            <a:r>
              <a:rPr lang="en-GB" sz="1500" err="1">
                <a:latin typeface="Courier New"/>
                <a:cs typeface="Courier New"/>
              </a:rPr>
              <a:t>HeisenbergExchange</a:t>
            </a:r>
            <a:r>
              <a:rPr lang="en-GB" sz="1500">
                <a:latin typeface="Courier New"/>
                <a:cs typeface="Courier New"/>
              </a:rPr>
              <a:t>(s1, s2, </a:t>
            </a:r>
            <a:r>
              <a:rPr lang="en-GB" sz="1500" err="1">
                <a:latin typeface="Courier New"/>
                <a:cs typeface="Courier New"/>
              </a:rPr>
              <a:t>cell_offset</a:t>
            </a:r>
            <a:r>
              <a:rPr lang="en-GB" sz="1500">
                <a:latin typeface="Courier New"/>
                <a:cs typeface="Courier New"/>
              </a:rPr>
              <a:t>=(0,0,1))]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A8459-A98F-0938-3A93-B58E6E1B0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428" y="2981642"/>
            <a:ext cx="2028825" cy="752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CC37EC-AE18-ECAF-85A9-1A091C482140}"/>
              </a:ext>
            </a:extLst>
          </p:cNvPr>
          <p:cNvSpPr/>
          <p:nvPr/>
        </p:nvSpPr>
        <p:spPr>
          <a:xfrm>
            <a:off x="7250905" y="5381624"/>
            <a:ext cx="2550319" cy="72866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19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5CA4-2117-7CA1-6F57-495309D3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Exchange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D146E-C453-D99B-86E1-683CA3299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2800" b="1" err="1">
                <a:solidFill>
                  <a:schemeClr val="tx1"/>
                </a:solidFill>
              </a:rPr>
              <a:t>HeisenbergExchange</a:t>
            </a:r>
            <a:r>
              <a:rPr lang="en-GB" sz="2800" b="1">
                <a:solidFill>
                  <a:schemeClr val="tx1"/>
                </a:solidFill>
              </a:rPr>
              <a:t> </a:t>
            </a:r>
            <a:r>
              <a:rPr lang="en-GB" sz="2800">
                <a:solidFill>
                  <a:schemeClr val="tx1"/>
                </a:solidFill>
              </a:rPr>
              <a:t>– Diagonal, single j</a:t>
            </a:r>
          </a:p>
          <a:p>
            <a:r>
              <a:rPr lang="en-US" sz="2800" b="1" err="1">
                <a:solidFill>
                  <a:schemeClr val="tx1"/>
                </a:solidFill>
              </a:rPr>
              <a:t>DMExchange</a:t>
            </a:r>
            <a:r>
              <a:rPr lang="en-US" sz="2800" b="1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</a:rPr>
              <a:t>- </a:t>
            </a:r>
            <a:r>
              <a:rPr lang="en-US" sz="2800" err="1">
                <a:solidFill>
                  <a:schemeClr val="tx1"/>
                </a:solidFill>
                <a:highlight>
                  <a:srgbClr val="FFFFFF"/>
                </a:highlight>
              </a:rPr>
              <a:t>Dzyaloshinskii</a:t>
            </a:r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–Moriya </a:t>
            </a:r>
            <a:endParaRPr lang="en-GB" sz="2800">
              <a:solidFill>
                <a:schemeClr val="tx1"/>
              </a:solidFill>
            </a:endParaRPr>
          </a:p>
          <a:p>
            <a:r>
              <a:rPr lang="en-GB" sz="2800" b="1" err="1">
                <a:solidFill>
                  <a:schemeClr val="tx1"/>
                </a:solidFill>
              </a:rPr>
              <a:t>IsingExchange</a:t>
            </a:r>
            <a:r>
              <a:rPr lang="en-GB" sz="2800" b="1">
                <a:solidFill>
                  <a:schemeClr val="tx1"/>
                </a:solidFill>
              </a:rPr>
              <a:t> </a:t>
            </a:r>
            <a:r>
              <a:rPr lang="en-GB" sz="2800">
                <a:solidFill>
                  <a:schemeClr val="tx1"/>
                </a:solidFill>
              </a:rPr>
              <a:t>– Just the z component</a:t>
            </a:r>
          </a:p>
          <a:p>
            <a:r>
              <a:rPr lang="en-GB" sz="2800" b="1" err="1">
                <a:solidFill>
                  <a:schemeClr val="tx1"/>
                </a:solidFill>
              </a:rPr>
              <a:t>XYExchange</a:t>
            </a:r>
            <a:r>
              <a:rPr lang="en-GB" sz="2800" b="1">
                <a:solidFill>
                  <a:schemeClr val="tx1"/>
                </a:solidFill>
              </a:rPr>
              <a:t> </a:t>
            </a:r>
            <a:r>
              <a:rPr lang="en-GB" sz="2800">
                <a:solidFill>
                  <a:schemeClr val="tx1"/>
                </a:solidFill>
              </a:rPr>
              <a:t>– Diagonal, x and y the same, z zero</a:t>
            </a:r>
          </a:p>
          <a:p>
            <a:r>
              <a:rPr lang="en-GB" sz="2800" b="1" err="1">
                <a:solidFill>
                  <a:schemeClr val="tx1"/>
                </a:solidFill>
              </a:rPr>
              <a:t>XXZExchange</a:t>
            </a:r>
            <a:r>
              <a:rPr lang="en-GB" sz="2800" b="1">
                <a:solidFill>
                  <a:schemeClr val="tx1"/>
                </a:solidFill>
              </a:rPr>
              <a:t> </a:t>
            </a:r>
            <a:r>
              <a:rPr lang="en-GB" sz="2800">
                <a:solidFill>
                  <a:schemeClr val="tx1"/>
                </a:solidFill>
              </a:rPr>
              <a:t>- Diagonal, x and y the same, z different</a:t>
            </a:r>
          </a:p>
          <a:p>
            <a:r>
              <a:rPr lang="en-GB" sz="2800" b="1" err="1">
                <a:solidFill>
                  <a:schemeClr val="tx1"/>
                </a:solidFill>
              </a:rPr>
              <a:t>DiagonalExchange</a:t>
            </a:r>
            <a:r>
              <a:rPr lang="en-GB" sz="2800" b="1">
                <a:solidFill>
                  <a:schemeClr val="tx1"/>
                </a:solidFill>
              </a:rPr>
              <a:t> </a:t>
            </a:r>
            <a:r>
              <a:rPr lang="en-GB" sz="2800">
                <a:solidFill>
                  <a:schemeClr val="tx1"/>
                </a:solidFill>
              </a:rPr>
              <a:t>– Diagonal, Different x, y and z</a:t>
            </a:r>
          </a:p>
          <a:p>
            <a:r>
              <a:rPr lang="en-GB" sz="2800" b="1">
                <a:solidFill>
                  <a:schemeClr val="tx1"/>
                </a:solidFill>
              </a:rPr>
              <a:t>Exchange </a:t>
            </a:r>
            <a:r>
              <a:rPr lang="en-GB" sz="2800">
                <a:solidFill>
                  <a:schemeClr val="tx1"/>
                </a:solidFill>
              </a:rPr>
              <a:t>– General matrix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199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4E76-C153-AD16-6335-BEFE7D2D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Filters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C921A-067D-17EE-185D-3286466FC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err="1">
                <a:latin typeface="Courier New"/>
                <a:cs typeface="Courier New"/>
              </a:rPr>
              <a:t>generate_exchanges</a:t>
            </a:r>
            <a:r>
              <a:rPr lang="en-GB"/>
              <a:t> can take filter objects that narrow down the search</a:t>
            </a:r>
          </a:p>
          <a:p>
            <a:r>
              <a:rPr lang="en-GB" err="1"/>
              <a:t>InPlaneFilter</a:t>
            </a:r>
          </a:p>
          <a:p>
            <a:r>
              <a:rPr lang="en-GB" err="1"/>
              <a:t>InDirectionFilter</a:t>
            </a:r>
            <a:endParaRPr lang="en-GB"/>
          </a:p>
          <a:p>
            <a:r>
              <a:rPr lang="en-GB" err="1"/>
              <a:t>BiDirectionFilter</a:t>
            </a:r>
            <a:endParaRPr lang="en-GB"/>
          </a:p>
          <a:p>
            <a:endParaRPr lang="en-GB"/>
          </a:p>
          <a:p>
            <a:pPr marL="114300" indent="0">
              <a:buNone/>
            </a:pPr>
            <a:r>
              <a:rPr lang="en-GB"/>
              <a:t>There is also the helper function </a:t>
            </a:r>
            <a:r>
              <a:rPr lang="en-GB">
                <a:latin typeface="Courier New"/>
                <a:cs typeface="Courier New"/>
              </a:rPr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3629562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D703-E8DD-4078-83A1-6209618A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Hamiltonian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D4174-F87B-561D-D4C5-8FDE024C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defining the magnetic structure and exchange interactions we can create a Hamiltonian model and calculate a spin wave dispersion: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6C20C-304C-B06D-F991-5A4EE64F18CF}"/>
              </a:ext>
            </a:extLst>
          </p:cNvPr>
          <p:cNvSpPr txBox="1"/>
          <p:nvPr/>
        </p:nvSpPr>
        <p:spPr>
          <a:xfrm>
            <a:off x="2427782" y="2308430"/>
            <a:ext cx="7336936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hamiltonian</a:t>
            </a:r>
            <a:r>
              <a:rPr lang="en-GB" sz="1500">
                <a:latin typeface="Courier New"/>
                <a:cs typeface="Courier New"/>
              </a:rPr>
              <a:t> = Hamiltonian(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[</a:t>
            </a:r>
            <a:r>
              <a:rPr lang="en-GB" sz="1500" err="1">
                <a:latin typeface="Courier New"/>
                <a:cs typeface="Courier New"/>
              </a:rPr>
              <a:t>heisenberg</a:t>
            </a:r>
            <a:r>
              <a:rPr lang="en-GB" sz="1500">
                <a:latin typeface="Courier New"/>
                <a:cs typeface="Courier New"/>
              </a:rPr>
              <a:t>])</a:t>
            </a:r>
          </a:p>
          <a:p>
            <a:r>
              <a:rPr lang="en-GB" sz="1500" err="1">
                <a:latin typeface="Courier New"/>
                <a:cs typeface="Courier New"/>
              </a:rPr>
              <a:t>hamiltonian.spaghetti_plot</a:t>
            </a:r>
            <a:r>
              <a:rPr lang="en-GB" sz="1500">
                <a:latin typeface="Courier New"/>
                <a:cs typeface="Courier New"/>
              </a:rPr>
              <a:t>(Path([0,0,0],[1,0,0]]))</a:t>
            </a:r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42EBF7A1-7326-4585-9F8A-D9AA579E4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951" y="3018612"/>
            <a:ext cx="5060099" cy="369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1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CA3FC16-8689-11C4-86C1-4880414B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Anisotropies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84" y="1387943"/>
            <a:ext cx="10732750" cy="424858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GB" sz="2000">
                <a:latin typeface="+mn-lt"/>
              </a:rPr>
              <a:t>Single-ion anisotropy terms can be specified by creating Anisotropy objects, either individually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0" indent="0">
              <a:buNone/>
            </a:pPr>
            <a:endParaRPr lang="en-GB" sz="2000">
              <a:latin typeface="+mn-lt"/>
            </a:endParaRPr>
          </a:p>
          <a:p>
            <a:pPr marL="0" indent="0">
              <a:buNone/>
            </a:pPr>
            <a:endParaRPr lang="en-GB" sz="2000">
              <a:latin typeface="+mn-lt"/>
            </a:endParaRPr>
          </a:p>
          <a:p>
            <a:pPr marL="0" indent="0">
              <a:buNone/>
            </a:pPr>
            <a:endParaRPr lang="en-GB" sz="2000">
              <a:latin typeface="+mn-lt"/>
            </a:endParaRPr>
          </a:p>
          <a:p>
            <a:pPr marL="0" indent="0">
              <a:buNone/>
            </a:pPr>
            <a:endParaRPr lang="en-GB" sz="2000">
              <a:latin typeface="+mn-lt"/>
            </a:endParaRPr>
          </a:p>
          <a:p>
            <a:pPr marL="0" indent="0">
              <a:buNone/>
            </a:pPr>
            <a:endParaRPr lang="en-GB" sz="2000">
              <a:latin typeface="+mn-lt"/>
            </a:endParaRPr>
          </a:p>
        </p:txBody>
      </p:sp>
      <p:sp>
        <p:nvSpPr>
          <p:cNvPr id="4" name="Rectangle 1"/>
          <p:cNvSpPr/>
          <p:nvPr/>
        </p:nvSpPr>
        <p:spPr>
          <a:xfrm>
            <a:off x="4224361" y="23757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 err="1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SpinW</a:t>
            </a:r>
            <a:r>
              <a:rPr lang="en-US" sz="3000" kern="12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 – Getting Started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28550" y="2031828"/>
            <a:ext cx="7336936" cy="7848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AxisMagnitudeAnisotopy</a:t>
            </a:r>
            <a:r>
              <a:rPr lang="en-GB" sz="1500">
                <a:latin typeface="Courier New"/>
                <a:cs typeface="Courier New"/>
              </a:rPr>
              <a:t>(site, axis, a)</a:t>
            </a:r>
          </a:p>
          <a:p>
            <a:r>
              <a:rPr lang="en-GB" sz="1500" err="1">
                <a:latin typeface="Courier New"/>
                <a:cs typeface="Courier New"/>
              </a:rPr>
              <a:t>Anisotopy</a:t>
            </a:r>
            <a:r>
              <a:rPr lang="en-GB" sz="1500">
                <a:latin typeface="Courier New"/>
                <a:cs typeface="Courier New"/>
              </a:rPr>
              <a:t>(site, </a:t>
            </a:r>
            <a:r>
              <a:rPr lang="en-GB" sz="1500" err="1">
                <a:latin typeface="Courier New"/>
                <a:cs typeface="Courier New"/>
              </a:rPr>
              <a:t>anisotropy_matrix</a:t>
            </a:r>
            <a:r>
              <a:rPr lang="en-GB" sz="1500">
                <a:latin typeface="Courier New"/>
                <a:cs typeface="Courier New"/>
              </a:rPr>
              <a:t>)</a:t>
            </a:r>
            <a:endParaRPr lang="en-GB"/>
          </a:p>
          <a:p>
            <a:endParaRPr lang="en-GB" sz="1500">
              <a:latin typeface="Courier New"/>
              <a:cs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151985-7562-160E-AE1A-C42A9FAA807C}"/>
              </a:ext>
            </a:extLst>
          </p:cNvPr>
          <p:cNvSpPr txBox="1"/>
          <p:nvPr/>
        </p:nvSpPr>
        <p:spPr>
          <a:xfrm>
            <a:off x="2425892" y="3517727"/>
            <a:ext cx="7336936" cy="7848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axis_anisotropies</a:t>
            </a:r>
            <a:r>
              <a:rPr lang="en-GB" sz="1500">
                <a:latin typeface="Courier New"/>
                <a:cs typeface="Courier New"/>
              </a:rPr>
              <a:t>(sites, axis, a)</a:t>
            </a:r>
          </a:p>
          <a:p>
            <a:r>
              <a:rPr lang="en-GB" sz="1500" err="1">
                <a:latin typeface="Courier New"/>
                <a:cs typeface="Courier New"/>
              </a:rPr>
              <a:t>matrix_anisotropies</a:t>
            </a:r>
            <a:r>
              <a:rPr lang="en-GB" sz="1500">
                <a:latin typeface="Courier New"/>
                <a:cs typeface="Courier New"/>
              </a:rPr>
              <a:t>(sites, axis, a)</a:t>
            </a:r>
            <a:endParaRPr lang="en-GB"/>
          </a:p>
          <a:p>
            <a:endParaRPr lang="en-GB" sz="1500"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77D3F-6F58-5BE0-DE18-A4B2A7AE8B0C}"/>
              </a:ext>
            </a:extLst>
          </p:cNvPr>
          <p:cNvSpPr txBox="1"/>
          <p:nvPr/>
        </p:nvSpPr>
        <p:spPr>
          <a:xfrm>
            <a:off x="2427664" y="5012488"/>
            <a:ext cx="7336936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>
                <a:latin typeface="Courier New"/>
                <a:cs typeface="Courier New"/>
              </a:rPr>
              <a:t>Hamiltonian(structure, exchanges, anisotropies)</a:t>
            </a:r>
            <a:endParaRPr lang="en-US"/>
          </a:p>
          <a:p>
            <a:endParaRPr lang="en-GB" sz="1500">
              <a:latin typeface="Courier New"/>
              <a:cs typeface="Courier New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96BFEF4-EC12-9E78-4DC1-29723D77C834}"/>
              </a:ext>
            </a:extLst>
          </p:cNvPr>
          <p:cNvSpPr txBox="1">
            <a:spLocks/>
          </p:cNvSpPr>
          <p:nvPr/>
        </p:nvSpPr>
        <p:spPr>
          <a:xfrm>
            <a:off x="413656" y="3002320"/>
            <a:ext cx="10732750" cy="42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  <a:defRPr sz="24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2000">
                <a:latin typeface="+mn-lt"/>
              </a:rPr>
              <a:t>Or batch created...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269883-090A-E9A4-FB75-E5C496D125D1}"/>
              </a:ext>
            </a:extLst>
          </p:cNvPr>
          <p:cNvSpPr txBox="1">
            <a:spLocks/>
          </p:cNvSpPr>
          <p:nvPr/>
        </p:nvSpPr>
        <p:spPr>
          <a:xfrm>
            <a:off x="419858" y="4470499"/>
            <a:ext cx="10732750" cy="42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  <a:defRPr sz="24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2000">
                <a:latin typeface="+mn-lt"/>
              </a:rPr>
              <a:t>Then added to the Hamiltonian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3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8" grpId="0" animBg="1"/>
      <p:bldP spid="10" grpId="0" animBg="1"/>
      <p:bldP spid="7" grpId="0" uiExpand="1" build="p"/>
      <p:bldP spid="1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AFC8-2C39-BC9B-8D00-C0CF228E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Viewer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CCB01-AA21-99DA-FF46-CA1B25EB64B8}"/>
              </a:ext>
            </a:extLst>
          </p:cNvPr>
          <p:cNvSpPr txBox="1"/>
          <p:nvPr/>
        </p:nvSpPr>
        <p:spPr>
          <a:xfrm>
            <a:off x="7059873" y="5819135"/>
            <a:ext cx="469817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/>
              <a:t>Also, don't forget </a:t>
            </a:r>
            <a:r>
              <a:rPr lang="en-GB" sz="2000" err="1">
                <a:latin typeface="Courier New"/>
                <a:cs typeface="Courier New"/>
              </a:rPr>
              <a:t>print_summary</a:t>
            </a:r>
            <a:r>
              <a:rPr lang="en-GB" sz="2000">
                <a:latin typeface="Courier New"/>
                <a:cs typeface="Courier New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340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1EC0-C0CB-8CC6-B88A-46F70BDDF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47B4-A0CD-4A3F-E496-B691C698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8D2FE-15FA-11B1-001B-EDABE20CF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4219681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5F59-0FD2-9BF1-5DA1-3850D928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22C9-2E24-F77C-462A-21F7F5FD1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2C234-D8F2-154C-B47C-1098165AE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Exercises: 01_chains.py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058DE-DA8F-04F3-3A93-11BAB95FBEC4}"/>
              </a:ext>
            </a:extLst>
          </p:cNvPr>
          <p:cNvSpPr txBox="1"/>
          <p:nvPr/>
        </p:nvSpPr>
        <p:spPr>
          <a:xfrm>
            <a:off x="3594340" y="4866736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2"/>
              </a:rPr>
              <a:t>www.github.com/spinw/munich26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032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EBC-F27C-7512-F352-2AEE14A2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Space Groups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68F16-4BB5-4A6E-5E15-22B849B77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/>
              <a:t>The helper function </a:t>
            </a:r>
            <a:r>
              <a:rPr lang="en-GB" err="1"/>
              <a:t>spacegroup</a:t>
            </a:r>
            <a:r>
              <a:rPr lang="en-GB"/>
              <a:t>(…) takes a string, and tries to give you a corresponding </a:t>
            </a:r>
            <a:r>
              <a:rPr lang="en-GB" err="1"/>
              <a:t>spacegroup</a:t>
            </a:r>
            <a:r>
              <a:rPr lang="en-GB"/>
              <a:t>.</a:t>
            </a:r>
          </a:p>
          <a:p>
            <a:pPr marL="114300" indent="0">
              <a:buNone/>
            </a:pPr>
            <a:endParaRPr lang="en-GB"/>
          </a:p>
          <a:p>
            <a:pPr marL="114300" indent="0">
              <a:buNone/>
            </a:pPr>
            <a:r>
              <a:rPr lang="en-GB"/>
              <a:t>It's not too picky...</a:t>
            </a:r>
          </a:p>
          <a:p>
            <a:pPr marL="114300" indent="0">
              <a:buNone/>
            </a:pPr>
            <a:endParaRPr lang="en-GB"/>
          </a:p>
          <a:p>
            <a:pPr marL="114300" indent="0">
              <a:buNone/>
            </a:pPr>
            <a:endParaRPr lang="en-GB"/>
          </a:p>
          <a:p>
            <a:pPr marL="114300" indent="0">
              <a:buNone/>
            </a:pPr>
            <a:r>
              <a:rPr lang="en-GB"/>
              <a:t>and will try to help</a:t>
            </a:r>
          </a:p>
          <a:p>
            <a:pPr marL="114300" indent="0">
              <a:buNone/>
            </a:pPr>
            <a:endParaRPr lang="en-GB"/>
          </a:p>
          <a:p>
            <a:pPr marL="114300" indent="0">
              <a:buNone/>
            </a:pPr>
            <a:endParaRPr lang="en-GB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4119F27-54AB-DD1B-A9F2-BE5EAC05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3429000"/>
            <a:ext cx="3805238" cy="585788"/>
          </a:xfrm>
          <a:prstGeom prst="rect">
            <a:avLst/>
          </a:prstGeom>
        </p:spPr>
      </p:pic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62F4864-92DF-D700-B0B7-C602E92F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3944"/>
            <a:ext cx="12192000" cy="32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4337-C27C-5FF2-EDD2-EC7FE1E2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Spacegroup</a:t>
            </a:r>
            <a:r>
              <a:rPr lang="en-GB"/>
              <a:t>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16CEC-D016-7789-77C1-427BDE09F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769" y="114798"/>
            <a:ext cx="3857626" cy="379649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A77F80-1CBF-562E-5D0C-30EFE9FA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283" y="4381571"/>
            <a:ext cx="6411463" cy="201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98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C1C7-BC3F-876B-237B-93E0F4D8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Supercells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C0FC7-DF1D-C86D-633C-647A758C1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TiledSupercell</a:t>
            </a:r>
          </a:p>
          <a:p>
            <a:r>
              <a:rPr lang="en-GB" err="1"/>
              <a:t>TransformationSupercell</a:t>
            </a:r>
            <a:endParaRPr lang="en-GB"/>
          </a:p>
          <a:p>
            <a:r>
              <a:rPr lang="en-GB" dirty="0" err="1"/>
              <a:t>SummationSupercell</a:t>
            </a:r>
          </a:p>
          <a:p>
            <a:r>
              <a:rPr lang="en-GB" dirty="0" err="1"/>
              <a:t>RotatingSupercell</a:t>
            </a:r>
          </a:p>
        </p:txBody>
      </p:sp>
    </p:spTree>
    <p:extLst>
      <p:ext uri="{BB962C8B-B14F-4D97-AF65-F5344CB8AC3E}">
        <p14:creationId xmlns:p14="http://schemas.microsoft.com/office/powerpoint/2010/main" val="1854108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6F812-453D-E3D0-52F0-2E93EE35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TiledSupercell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AA8F4-34EF-F535-D01C-F63EF3287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552" y="1387943"/>
            <a:ext cx="5485472" cy="1650814"/>
          </a:xfrm>
        </p:spPr>
        <p:txBody>
          <a:bodyPr/>
          <a:lstStyle/>
          <a:p>
            <a:r>
              <a:rPr lang="en-GB"/>
              <a:t>Many copies... useful for sanity checks but not much else</a:t>
            </a:r>
          </a:p>
        </p:txBody>
      </p:sp>
      <p:pic>
        <p:nvPicPr>
          <p:cNvPr id="4" name="Picture 3" descr="A grid with arrows pointing up&#10;&#10;AI-generated content may be incorrect.">
            <a:extLst>
              <a:ext uri="{FF2B5EF4-FFF2-40B4-BE49-F238E27FC236}">
                <a16:creationId xmlns:a16="http://schemas.microsoft.com/office/drawing/2014/main" id="{56FD5F69-2046-1B48-E00C-0026CA22A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136" y="0"/>
            <a:ext cx="56769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99B2ED-3573-8C26-5C80-E5CD9EBED500}"/>
              </a:ext>
            </a:extLst>
          </p:cNvPr>
          <p:cNvSpPr txBox="1"/>
          <p:nvPr/>
        </p:nvSpPr>
        <p:spPr>
          <a:xfrm>
            <a:off x="973907" y="2826150"/>
            <a:ext cx="4362303" cy="183127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from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pyspinw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import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*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structure = Structure(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   [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LatticeSite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0.5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0.5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0.5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)]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UnitCell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spacegroup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A8759"/>
                </a:solidFill>
                <a:highlight>
                  <a:srgbClr val="2B2B2B"/>
                </a:highlight>
                <a:latin typeface="Consolas"/>
              </a:rPr>
              <a:t>"p1"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GB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supercell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TiledSupercell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scaling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3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6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)))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view(structure)</a:t>
            </a:r>
            <a:endParaRPr lang="en-US"/>
          </a:p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99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D7AE-6F60-43D5-467E-F3025232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4B6F-0E8D-50D2-FBDF-5F33B797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err="1"/>
              <a:t>TransformationSupercell</a:t>
            </a:r>
            <a:endParaRPr lang="en-GB" sz="3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62710-07FE-8FC3-8329-55E0459B5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790" y="1387943"/>
            <a:ext cx="5490234" cy="2793814"/>
          </a:xfrm>
        </p:spPr>
        <p:txBody>
          <a:bodyPr>
            <a:normAutofit/>
          </a:bodyPr>
          <a:lstStyle/>
          <a:p>
            <a:r>
              <a:rPr lang="en-GB"/>
              <a:t>Applies a linear transformation along a propagation vector</a:t>
            </a:r>
          </a:p>
          <a:p>
            <a:r>
              <a:rPr lang="en-GB"/>
              <a:t>Use for easy rotations</a:t>
            </a:r>
          </a:p>
          <a:p>
            <a:r>
              <a:rPr lang="en-GB"/>
              <a:t>Other uses are "advanced"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D15F7-D555-104C-A18E-828B3C9E27CD}"/>
              </a:ext>
            </a:extLst>
          </p:cNvPr>
          <p:cNvSpPr txBox="1"/>
          <p:nvPr/>
        </p:nvSpPr>
        <p:spPr>
          <a:xfrm>
            <a:off x="3583757" y="4807350"/>
            <a:ext cx="6943577" cy="115416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supercell =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TransformationSupercell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([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       (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CommensuratePropagationVector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/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3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RotationTransform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([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]))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CommensuratePropagationVector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/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2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RotationTransform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([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]))])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C124C-45FC-ABEC-C9E4-85DC2E2A0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33" y="0"/>
            <a:ext cx="5579284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85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1743-5F59-9FD6-D0F9-9C13AD04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339A-B01E-707C-532B-E7C79D2F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Summation Supercell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59F2A-3E69-C80B-528A-3BCDBC15B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941" y="1387943"/>
            <a:ext cx="5692535" cy="878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>
                <a:latin typeface="+mn-lt"/>
              </a:rPr>
              <a:t>The  spin in the unit cell at r from the origin can be expressed as: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BA21AC-E69D-E529-5C1E-9BB37070FA81}"/>
              </a:ext>
            </a:extLst>
          </p:cNvPr>
          <p:cNvSpPr/>
          <p:nvPr/>
        </p:nvSpPr>
        <p:spPr>
          <a:xfrm>
            <a:off x="4251442" y="1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 err="1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SpinW</a:t>
            </a:r>
            <a:r>
              <a:rPr lang="en-US" sz="3000" kern="12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 – Magnetic Structures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0DB9BEB-F182-100B-33B1-C79350B041C2}"/>
              </a:ext>
            </a:extLst>
          </p:cNvPr>
          <p:cNvSpPr txBox="1">
            <a:spLocks/>
          </p:cNvSpPr>
          <p:nvPr/>
        </p:nvSpPr>
        <p:spPr>
          <a:xfrm>
            <a:off x="398117" y="3519268"/>
            <a:ext cx="5692535" cy="87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  <a:defRPr sz="24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2000">
                <a:latin typeface="+mn-lt"/>
              </a:rPr>
              <a:t>Where </a:t>
            </a:r>
            <a:r>
              <a:rPr lang="en-GB" sz="2000" b="1" err="1">
                <a:latin typeface="+mn-lt"/>
              </a:rPr>
              <a:t>s</a:t>
            </a:r>
            <a:r>
              <a:rPr lang="en-GB" sz="2000" b="1" baseline="-25000" err="1">
                <a:latin typeface="+mn-lt"/>
              </a:rPr>
              <a:t>i</a:t>
            </a:r>
            <a:r>
              <a:rPr lang="en-GB" sz="2000">
                <a:latin typeface="+mn-lt"/>
              </a:rPr>
              <a:t> is contribution to each spin, specified in </a:t>
            </a:r>
            <a:r>
              <a:rPr lang="en-GB" sz="2000" err="1">
                <a:latin typeface="Courier New"/>
                <a:cs typeface="Courier New"/>
              </a:rPr>
              <a:t>supercell_spins</a:t>
            </a:r>
            <a:r>
              <a:rPr lang="en-GB" sz="2000">
                <a:latin typeface="+mn-lt"/>
              </a:rPr>
              <a:t>, </a:t>
            </a:r>
            <a:r>
              <a:rPr lang="en-GB" sz="2000" b="1">
                <a:latin typeface="+mn-lt"/>
              </a:rPr>
              <a:t>k</a:t>
            </a:r>
            <a:r>
              <a:rPr lang="en-GB" sz="2000" baseline="-25000">
                <a:latin typeface="+mn-lt"/>
              </a:rPr>
              <a:t>i</a:t>
            </a:r>
            <a:r>
              <a:rPr lang="en-GB" sz="2000">
                <a:latin typeface="+mn-lt"/>
              </a:rPr>
              <a:t> is the propagation vector and phi is phase.</a:t>
            </a:r>
            <a:endParaRPr lang="en-GB" sz="2000"/>
          </a:p>
          <a:p>
            <a:pPr marL="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34A8B1-348A-C0A8-5A18-7BCAF37EE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18" y="2398097"/>
            <a:ext cx="5200650" cy="1038225"/>
          </a:xfrm>
          <a:prstGeom prst="rect">
            <a:avLst/>
          </a:prstGeom>
        </p:spPr>
      </p:pic>
      <p:pic>
        <p:nvPicPr>
          <p:cNvPr id="14" name="Picture 13" descr="A group of arrows pointing to different directions&#10;&#10;AI-generated content may be incorrect.">
            <a:extLst>
              <a:ext uri="{FF2B5EF4-FFF2-40B4-BE49-F238E27FC236}">
                <a16:creationId xmlns:a16="http://schemas.microsoft.com/office/drawing/2014/main" id="{D62DA554-7C30-ACB3-5BB3-65C851EEB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40" y="3957495"/>
            <a:ext cx="6100122" cy="29008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D56761-2807-93B0-B688-F11B016A9F42}"/>
              </a:ext>
            </a:extLst>
          </p:cNvPr>
          <p:cNvSpPr txBox="1"/>
          <p:nvPr/>
        </p:nvSpPr>
        <p:spPr>
          <a:xfrm>
            <a:off x="6586265" y="906365"/>
            <a:ext cx="5408204" cy="25083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import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numpy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as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np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from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pyspinw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import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*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x =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LatticeSite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0.5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0.5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0.5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supercell_spins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=[[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[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]])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supercell =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SummationSupercell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([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CommensuratePropagationVector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/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3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CommensuratePropagationVector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/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3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phase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np.pi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/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2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)])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structure = Structure([x]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UnitCell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supercell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=supercell)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98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54D9-E68F-FDE7-5892-3FA3BE9C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err="1"/>
              <a:t>RotationSupercell</a:t>
            </a:r>
            <a:r>
              <a:rPr lang="en-GB"/>
              <a:t>:</a:t>
            </a:r>
            <a:br>
              <a:rPr lang="en-GB"/>
            </a:br>
            <a:r>
              <a:rPr lang="en-GB"/>
              <a:t>The Incommensurate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58FA4-B799-B26C-775E-ED4D5AA77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/>
              <a:t>Single propagation vector restriction</a:t>
            </a:r>
          </a:p>
          <a:p>
            <a:r>
              <a:rPr lang="en-GB"/>
              <a:t>Not restricted to rational entries</a:t>
            </a:r>
          </a:p>
          <a:p>
            <a:r>
              <a:rPr lang="en-GB" err="1"/>
              <a:t>generate_helical_structure</a:t>
            </a:r>
            <a:r>
              <a:rPr lang="en-GB"/>
              <a:t> helper function</a:t>
            </a:r>
          </a:p>
          <a:p>
            <a:r>
              <a:rPr lang="en-GB"/>
              <a:t>Requires a direction and perpendicular direction</a:t>
            </a:r>
            <a:endParaRPr lang="en-GB" err="1"/>
          </a:p>
          <a:p>
            <a:r>
              <a:rPr lang="en-GB"/>
              <a:t>Difference from MATLAB: never uses complex representations</a:t>
            </a:r>
          </a:p>
          <a:p>
            <a:r>
              <a:rPr lang="en-GB"/>
              <a:t>WIP: Optimisation of period</a:t>
            </a:r>
          </a:p>
        </p:txBody>
      </p:sp>
    </p:spTree>
    <p:extLst>
      <p:ext uri="{BB962C8B-B14F-4D97-AF65-F5344CB8AC3E}">
        <p14:creationId xmlns:p14="http://schemas.microsoft.com/office/powerpoint/2010/main" val="3823032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C920-37F0-2F11-C568-3CDEDA38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Magnetic Structure Optimisation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1" y="1387943"/>
            <a:ext cx="10742206" cy="1515687"/>
          </a:xfrm>
        </p:spPr>
        <p:txBody>
          <a:bodyPr>
            <a:normAutofit lnSpcReduction="10000"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</a:rPr>
              <a:t>Often the initial magnetic structure you input doesn’t quite agree with the exchange parameters you put in – this will result in a “non-Hermitian Hamiltonian” error.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GB" sz="2000" err="1">
                <a:latin typeface="+mn-lt"/>
              </a:rPr>
              <a:t>pySpinW</a:t>
            </a:r>
            <a:r>
              <a:rPr lang="en-GB" sz="2000">
                <a:latin typeface="+mn-lt"/>
              </a:rPr>
              <a:t> can optimise the magnetic structure to minimise the classical magnetic ground state energy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</p:txBody>
      </p:sp>
      <p:sp>
        <p:nvSpPr>
          <p:cNvPr id="4" name="Rectangle 1"/>
          <p:cNvSpPr/>
          <p:nvPr/>
        </p:nvSpPr>
        <p:spPr>
          <a:xfrm>
            <a:off x="4251442" y="1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Magnetic Structure </a:t>
            </a:r>
            <a:r>
              <a:rPr lang="en-US" sz="3000" kern="1200" err="1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Optimisation</a:t>
            </a:r>
            <a:endParaRPr lang="en-US" sz="3000" kern="1200">
              <a:solidFill>
                <a:srgbClr val="FFFFFF"/>
              </a:solidFill>
              <a:latin typeface="Lucida Sans" pitchFamily="34"/>
              <a:ea typeface="Arial" pitchFamily="34"/>
              <a:cs typeface="Arial" pitchFamily="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277C5-5AA6-7B5D-5CBB-E0B6BB156E09}"/>
              </a:ext>
            </a:extLst>
          </p:cNvPr>
          <p:cNvSpPr txBox="1"/>
          <p:nvPr/>
        </p:nvSpPr>
        <p:spPr>
          <a:xfrm>
            <a:off x="4561848" y="3067261"/>
            <a:ext cx="6704741" cy="318548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100">
              <a:solidFill>
                <a:srgbClr val="CC7832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GB" sz="1100" err="1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Hamiltonian.</a:t>
            </a:r>
            <a:r>
              <a:rPr lang="en-GB" sz="1100" err="1">
                <a:solidFill>
                  <a:srgbClr val="FFC66D"/>
                </a:solidFill>
                <a:highlight>
                  <a:srgbClr val="2B2B2B"/>
                </a:highlight>
                <a:latin typeface="Consolas"/>
              </a:rPr>
              <a:t>ground_state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fixed,       # list of lattice sites that do not change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planar,      # list of sites that are constrained to planes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planar_axis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, # which planes?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field,       # Magnetic field for optimisation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step_size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,   # 0.1 - tune for speed / convergence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initial_randomisation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# RANDOM / JITTER / NONE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endParaRPr lang="en-GB" sz="1100">
              <a:solidFill>
                <a:srgbClr val="CC7832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                  # Extra parameters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seed: </a:t>
            </a:r>
            <a:r>
              <a:rPr lang="en-GB" sz="1100">
                <a:solidFill>
                  <a:srgbClr val="8888C6"/>
                </a:solidFill>
                <a:highlight>
                  <a:srgbClr val="2B2B2B"/>
                </a:highlight>
                <a:latin typeface="Consolas"/>
              </a:rPr>
              <a:t>int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| 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None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 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None,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rtol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: </a:t>
            </a:r>
            <a:r>
              <a:rPr lang="en-GB" sz="1100">
                <a:solidFill>
                  <a:srgbClr val="8888C6"/>
                </a:solidFill>
                <a:highlight>
                  <a:srgbClr val="2B2B2B"/>
                </a:highlight>
                <a:latin typeface="Consolas"/>
              </a:rPr>
              <a:t>float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1e-10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atol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: </a:t>
            </a:r>
            <a:r>
              <a:rPr lang="en-GB" sz="1100">
                <a:solidFill>
                  <a:srgbClr val="8888C6"/>
                </a:solidFill>
                <a:highlight>
                  <a:srgbClr val="2B2B2B"/>
                </a:highlight>
                <a:latin typeface="Consolas"/>
              </a:rPr>
              <a:t>float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1e-12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max_iters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: </a:t>
            </a:r>
            <a:r>
              <a:rPr lang="en-GB" sz="1100">
                <a:solidFill>
                  <a:srgbClr val="8888C6"/>
                </a:solidFill>
                <a:highlight>
                  <a:srgbClr val="2B2B2B"/>
                </a:highlight>
                <a:latin typeface="Consolas"/>
              </a:rPr>
              <a:t>int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1000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              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verbose: </a:t>
            </a:r>
            <a:r>
              <a:rPr lang="en-GB" sz="1100">
                <a:solidFill>
                  <a:srgbClr val="8888C6"/>
                </a:solidFill>
                <a:highlight>
                  <a:srgbClr val="2B2B2B"/>
                </a:highlight>
                <a:latin typeface="Consolas"/>
              </a:rPr>
              <a:t>bool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True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b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endParaRPr lang="en-GB"/>
          </a:p>
          <a:p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482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80DE-A641-E450-C7EA-1D53CA5E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Parameterisation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44F43-E5E2-2068-A9EE-D8978DA05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98" y="1387943"/>
            <a:ext cx="10725276" cy="2330906"/>
          </a:xfrm>
        </p:spPr>
        <p:txBody>
          <a:bodyPr/>
          <a:lstStyle/>
          <a:p>
            <a:r>
              <a:rPr lang="en-GB"/>
              <a:t>You can parameterise the exchanges and anisotropies of a Hamiltonian using the </a:t>
            </a:r>
            <a:r>
              <a:rPr lang="en-GB">
                <a:latin typeface="Courier New"/>
                <a:cs typeface="Courier New"/>
              </a:rPr>
              <a:t>parameterized(…)</a:t>
            </a:r>
            <a:r>
              <a:rPr lang="en-GB"/>
              <a:t> method.</a:t>
            </a:r>
          </a:p>
          <a:p>
            <a:endParaRPr lang="en-GB"/>
          </a:p>
          <a:p>
            <a:r>
              <a:rPr lang="en-GB"/>
              <a:t>This will give you a Callable that gives you ground state optimised Hamiltonian if </a:t>
            </a:r>
            <a:r>
              <a:rPr lang="en-GB" err="1">
                <a:latin typeface="Courier New"/>
                <a:cs typeface="Courier New"/>
              </a:rPr>
              <a:t>find_ground_state_with</a:t>
            </a:r>
            <a:r>
              <a:rPr lang="en-GB"/>
              <a:t> is not None.</a:t>
            </a:r>
          </a:p>
          <a:p>
            <a:pPr marL="114300" indent="0">
              <a:buNone/>
            </a:pP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C9BBA-2BCA-1D1B-0150-7CC17BD314CD}"/>
              </a:ext>
            </a:extLst>
          </p:cNvPr>
          <p:cNvSpPr txBox="1"/>
          <p:nvPr/>
        </p:nvSpPr>
        <p:spPr>
          <a:xfrm>
            <a:off x="3808182" y="4098675"/>
            <a:ext cx="4812293" cy="9592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spcAft>
                <a:spcPts val="1000"/>
              </a:spcAft>
              <a:buChar char="•"/>
            </a:pPr>
            <a:endParaRPr lang="en-GB" sz="2400">
              <a:solidFill>
                <a:srgbClr val="2E2C61"/>
              </a:solidFill>
            </a:endParaRPr>
          </a:p>
          <a:p>
            <a:pPr>
              <a:spcAft>
                <a:spcPts val="1000"/>
              </a:spcAft>
            </a:pPr>
            <a:r>
              <a:rPr lang="en-GB" sz="2400">
                <a:solidFill>
                  <a:srgbClr val="626262"/>
                </a:solidFill>
              </a:rPr>
              <a:t>swapping_chain_series.py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225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E4334-B4B7-4118-5168-3EE1F128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7772-4C21-2A46-64E9-96002805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51485-70DB-823C-A6D6-6E7587A9C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72355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E929B-04E6-728C-1508-1BE759F6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9F81-77F2-999A-3BF9-2315FC84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25489-88EE-F198-4569-06200BE2E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Exercises: 02_supercells.py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517F0-2291-505E-9C02-14F4D516498D}"/>
              </a:ext>
            </a:extLst>
          </p:cNvPr>
          <p:cNvSpPr txBox="1"/>
          <p:nvPr/>
        </p:nvSpPr>
        <p:spPr>
          <a:xfrm>
            <a:off x="3594340" y="4866736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2"/>
              </a:rPr>
              <a:t>www.github.com/spinw/munich26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532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3369-E4CD-26E4-ED48-87863FF1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Rotating frame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3412C-7EBD-82D3-903B-B3B558BFB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defining feature of </a:t>
            </a:r>
            <a:r>
              <a:rPr lang="en-US" err="1"/>
              <a:t>SpinW</a:t>
            </a:r>
            <a:r>
              <a:rPr lang="en-US"/>
              <a:t> is its ability to use a rotating frame to speed up spin wave calculations of helical structure. We use it by defining a structure using the </a:t>
            </a:r>
            <a:r>
              <a:rPr lang="en-US" err="1">
                <a:latin typeface="Courier New"/>
                <a:cs typeface="Courier New"/>
              </a:rPr>
              <a:t>generate_helical_structure</a:t>
            </a:r>
            <a:r>
              <a:rPr lang="en-US"/>
              <a:t> helper function: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3F5D6-54A9-17B9-EC74-69BD8BF55429}"/>
              </a:ext>
            </a:extLst>
          </p:cNvPr>
          <p:cNvSpPr txBox="1"/>
          <p:nvPr/>
        </p:nvSpPr>
        <p:spPr>
          <a:xfrm>
            <a:off x="402745" y="2778216"/>
            <a:ext cx="7336936" cy="17081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generate_helical_structure</a:t>
            </a:r>
            <a:r>
              <a:rPr lang="en-GB" sz="1500">
                <a:latin typeface="Courier New"/>
                <a:cs typeface="Courier New"/>
              </a:rPr>
              <a:t>(UnitCell(3,3,6,gamma=120),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positions=[[0,0,0]], spins=[[1,0,0]],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</a:t>
            </a:r>
            <a:r>
              <a:rPr lang="en-GB" sz="1500" err="1">
                <a:latin typeface="Courier New"/>
                <a:cs typeface="Courier New"/>
              </a:rPr>
              <a:t>propagation_vector</a:t>
            </a:r>
            <a:r>
              <a:rPr lang="en-GB" sz="1500">
                <a:latin typeface="Courier New"/>
                <a:cs typeface="Courier New"/>
              </a:rPr>
              <a:t>=[1/3, 1/3, 0],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perpendicular=[0,0,1])</a:t>
            </a:r>
          </a:p>
          <a:p>
            <a:r>
              <a:rPr lang="en-GB" sz="1500">
                <a:latin typeface="Courier New"/>
                <a:cs typeface="Courier New"/>
              </a:rPr>
              <a:t>exchanges = </a:t>
            </a:r>
            <a:r>
              <a:rPr lang="en-GB" sz="1500" err="1">
                <a:latin typeface="Courier New"/>
                <a:cs typeface="Courier New"/>
              </a:rPr>
              <a:t>generate_exchanges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bond=1, j=1)</a:t>
            </a:r>
          </a:p>
          <a:p>
            <a:r>
              <a:rPr lang="en-GB" sz="1500">
                <a:latin typeface="Courier New"/>
                <a:cs typeface="Courier New"/>
              </a:rPr>
              <a:t>ham = Hamiltonian(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exchanges)</a:t>
            </a:r>
          </a:p>
          <a:p>
            <a:r>
              <a:rPr lang="en-GB" sz="1500">
                <a:latin typeface="Courier New"/>
                <a:cs typeface="Courier New"/>
              </a:rPr>
              <a:t>ham.spaghetti_plot(Path([[0,0,0],[1,1,1],[1,0,1]]))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40D88-67D2-1997-0292-0898ED38E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699" y="2776770"/>
            <a:ext cx="4438650" cy="322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6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3827-4307-6BB0-C06D-4BAB338B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7007-86C2-38E5-8B1C-19E928BF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Rotating frame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E1107-9C74-78EB-FD2A-640FA201E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022" y="1387943"/>
            <a:ext cx="10738044" cy="4538166"/>
          </a:xfrm>
        </p:spPr>
        <p:txBody>
          <a:bodyPr>
            <a:normAutofit/>
          </a:bodyPr>
          <a:lstStyle/>
          <a:p>
            <a:r>
              <a:rPr lang="en-US"/>
              <a:t>One defining feature of </a:t>
            </a:r>
            <a:r>
              <a:rPr lang="en-US" err="1"/>
              <a:t>SpinW</a:t>
            </a:r>
            <a:r>
              <a:rPr lang="en-US"/>
              <a:t> is its ability to use a rotating frame to speed up spin wave calculations of helical structure. We use it by defining a structure using the </a:t>
            </a:r>
            <a:r>
              <a:rPr lang="en-US" err="1">
                <a:latin typeface="Courier New"/>
                <a:cs typeface="Courier New"/>
              </a:rPr>
              <a:t>generate_helical_structure</a:t>
            </a:r>
            <a:r>
              <a:rPr lang="en-US"/>
              <a:t> helper function: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sz="1400"/>
          </a:p>
          <a:p>
            <a:r>
              <a:rPr lang="en-US"/>
              <a:t>Now try with a supercell instead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A1B32-9B97-A589-E0D4-A370299DA942}"/>
              </a:ext>
            </a:extLst>
          </p:cNvPr>
          <p:cNvSpPr txBox="1"/>
          <p:nvPr/>
        </p:nvSpPr>
        <p:spPr>
          <a:xfrm>
            <a:off x="402745" y="2778216"/>
            <a:ext cx="7336936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generate_helical_structure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UnitCell</a:t>
            </a:r>
            <a:r>
              <a:rPr lang="en-GB" sz="1500">
                <a:latin typeface="Courier New"/>
                <a:cs typeface="Courier New"/>
              </a:rPr>
              <a:t>(3,3,6,gamma=120),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positions=[[0,0,0]], spins=[[1,0,0]],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</a:t>
            </a:r>
            <a:r>
              <a:rPr lang="en-GB" sz="1500" err="1">
                <a:latin typeface="Courier New"/>
                <a:cs typeface="Courier New"/>
              </a:rPr>
              <a:t>propagation_vector</a:t>
            </a:r>
            <a:r>
              <a:rPr lang="en-GB" sz="1500">
                <a:latin typeface="Courier New"/>
                <a:cs typeface="Courier New"/>
              </a:rPr>
              <a:t>=[1/3, 1/3, 0],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perpendicular=[0,0,1])</a:t>
            </a:r>
          </a:p>
          <a:p>
            <a:r>
              <a:rPr lang="en-GB" sz="1500">
                <a:latin typeface="Courier New"/>
                <a:cs typeface="Courier New"/>
              </a:rPr>
              <a:t>exchanges = </a:t>
            </a:r>
            <a:r>
              <a:rPr lang="en-GB" sz="1500" err="1">
                <a:latin typeface="Courier New"/>
                <a:cs typeface="Courier New"/>
              </a:rPr>
              <a:t>generate_exchanges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bond=1, j=1)</a:t>
            </a:r>
          </a:p>
          <a:p>
            <a:r>
              <a:rPr lang="en-GB" sz="1500">
                <a:latin typeface="Courier New"/>
                <a:cs typeface="Courier New"/>
              </a:rPr>
              <a:t>ham = Hamiltonian(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exchanges)</a:t>
            </a:r>
          </a:p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(Path([[0,0,0],[1,1,1],[1,0,1]]),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       </a:t>
            </a:r>
            <a:r>
              <a:rPr lang="en-GB" sz="1500" err="1">
                <a:latin typeface="Courier New"/>
                <a:cs typeface="Courier New"/>
              </a:rPr>
              <a:t>use_rotating</a:t>
            </a:r>
            <a:r>
              <a:rPr lang="en-GB" sz="1500">
                <a:latin typeface="Courier New"/>
                <a:cs typeface="Courier New"/>
              </a:rPr>
              <a:t>=False)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D481D0-02A7-4B0E-EA55-15CA5C9D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276" y="2787394"/>
            <a:ext cx="4363520" cy="322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9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4AC73-FCBB-4AAC-5217-1EFDC784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1858-0BCF-074D-B3C6-237DC0C7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Rotating frame with anisotropy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93567-5F2B-50B7-D3DB-6D3A3A07C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022" y="1387943"/>
            <a:ext cx="10738044" cy="4538166"/>
          </a:xfrm>
        </p:spPr>
        <p:txBody>
          <a:bodyPr>
            <a:normAutofit/>
          </a:bodyPr>
          <a:lstStyle/>
          <a:p>
            <a:r>
              <a:rPr lang="en-US"/>
              <a:t>We now introduce some anisotropy into the Hamiltonian.</a:t>
            </a:r>
          </a:p>
          <a:p>
            <a:r>
              <a:rPr lang="en-US"/>
              <a:t>First, a planar anisotropy: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3F9CA-2942-6B19-A2AD-8480370E05BE}"/>
              </a:ext>
            </a:extLst>
          </p:cNvPr>
          <p:cNvSpPr txBox="1"/>
          <p:nvPr/>
        </p:nvSpPr>
        <p:spPr>
          <a:xfrm>
            <a:off x="402745" y="2778216"/>
            <a:ext cx="7336936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generate_helical_structure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UnitCell</a:t>
            </a:r>
            <a:r>
              <a:rPr lang="en-GB" sz="1500">
                <a:latin typeface="Courier New"/>
                <a:cs typeface="Courier New"/>
              </a:rPr>
              <a:t>(3,3,6,gamma=120),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positions=[[0,0,0]], spins=[[1,0,0]],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</a:t>
            </a:r>
            <a:r>
              <a:rPr lang="en-GB" sz="1500" err="1">
                <a:latin typeface="Courier New"/>
                <a:cs typeface="Courier New"/>
              </a:rPr>
              <a:t>propagation_vector</a:t>
            </a:r>
            <a:r>
              <a:rPr lang="en-GB" sz="1500">
                <a:latin typeface="Courier New"/>
                <a:cs typeface="Courier New"/>
              </a:rPr>
              <a:t>=[1/3, 1/3, 0],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perpendicular=[0,0,1])</a:t>
            </a:r>
          </a:p>
          <a:p>
            <a:r>
              <a:rPr lang="en-GB" sz="1500">
                <a:latin typeface="Courier New"/>
                <a:cs typeface="Courier New"/>
              </a:rPr>
              <a:t>exchanges = </a:t>
            </a:r>
            <a:r>
              <a:rPr lang="en-GB" sz="1500" err="1">
                <a:latin typeface="Courier New"/>
                <a:cs typeface="Courier New"/>
              </a:rPr>
              <a:t>generate_exchanges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bond=1, j=1)</a:t>
            </a:r>
          </a:p>
          <a:p>
            <a:r>
              <a:rPr lang="en-GB" sz="1500" err="1">
                <a:latin typeface="Courier New"/>
                <a:cs typeface="Courier New"/>
              </a:rPr>
              <a:t>sia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axis_anisotopies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0.2)</a:t>
            </a:r>
          </a:p>
          <a:p>
            <a:r>
              <a:rPr lang="en-GB" sz="1500">
                <a:latin typeface="Courier New"/>
                <a:cs typeface="Courier New"/>
              </a:rPr>
              <a:t>ham = Hamiltonian(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exchanges, </a:t>
            </a:r>
            <a:r>
              <a:rPr lang="en-GB" sz="1500" err="1">
                <a:latin typeface="Courier New"/>
                <a:cs typeface="Courier New"/>
              </a:rPr>
              <a:t>sia</a:t>
            </a:r>
            <a:r>
              <a:rPr lang="en-GB" sz="1500">
                <a:latin typeface="Courier New"/>
                <a:cs typeface="Courier New"/>
              </a:rPr>
              <a:t>)</a:t>
            </a:r>
          </a:p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(Path([[0,0,0],[1,1,1],[1,0,1]]))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511EED-EB35-07A1-6877-0628CA1EF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582" y="2624022"/>
            <a:ext cx="4076700" cy="3000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86E088-8DDC-747F-EE14-9DE2522B5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980" y="2628552"/>
            <a:ext cx="3997016" cy="3004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3D34EE-258E-463F-6041-CCB0BC502352}"/>
              </a:ext>
            </a:extLst>
          </p:cNvPr>
          <p:cNvSpPr/>
          <p:nvPr/>
        </p:nvSpPr>
        <p:spPr>
          <a:xfrm>
            <a:off x="304800" y="3992880"/>
            <a:ext cx="4348480" cy="2133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3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606E4-5F6D-F399-ABA9-E96B41AB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B1BB-A255-0D82-15DD-2D073DD4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Rotating frame with anisotropy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9D227-F8D4-44A1-CE0E-7290F05B6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022" y="1387943"/>
            <a:ext cx="8498507" cy="519794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We now introduce some anisotropy into the Hamiltonian.</a:t>
            </a:r>
          </a:p>
          <a:p>
            <a:r>
              <a:rPr lang="en-US"/>
              <a:t>Second, we change it to an axial anisotropy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Now we have red dots on the plots – these indicate imaginary magnon energies because the magnetic structure no longer agrees with the Hamiltonian.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1AC6A-73B0-B2DE-E59F-CF6B0273BD24}"/>
              </a:ext>
            </a:extLst>
          </p:cNvPr>
          <p:cNvSpPr txBox="1"/>
          <p:nvPr/>
        </p:nvSpPr>
        <p:spPr>
          <a:xfrm>
            <a:off x="402745" y="2778216"/>
            <a:ext cx="7336936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generate_helical_structure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UnitCell</a:t>
            </a:r>
            <a:r>
              <a:rPr lang="en-GB" sz="1500">
                <a:latin typeface="Courier New"/>
                <a:cs typeface="Courier New"/>
              </a:rPr>
              <a:t>(3,3,6,gamma=120),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positions=[[0,0,0]], spins=[[1,0,0]],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</a:t>
            </a:r>
            <a:r>
              <a:rPr lang="en-GB" sz="1500" err="1">
                <a:latin typeface="Courier New"/>
                <a:cs typeface="Courier New"/>
              </a:rPr>
              <a:t>propagation_vector</a:t>
            </a:r>
            <a:r>
              <a:rPr lang="en-GB" sz="1500">
                <a:latin typeface="Courier New"/>
                <a:cs typeface="Courier New"/>
              </a:rPr>
              <a:t>=[1/3, 1/3, 0],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perpendicular=[0,0,1])</a:t>
            </a:r>
          </a:p>
          <a:p>
            <a:r>
              <a:rPr lang="en-GB" sz="1500">
                <a:latin typeface="Courier New"/>
                <a:cs typeface="Courier New"/>
              </a:rPr>
              <a:t>exchanges = </a:t>
            </a:r>
            <a:r>
              <a:rPr lang="en-GB" sz="1500" err="1">
                <a:latin typeface="Courier New"/>
                <a:cs typeface="Courier New"/>
              </a:rPr>
              <a:t>generate_exchanges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bond=1, j=1)</a:t>
            </a:r>
          </a:p>
          <a:p>
            <a:r>
              <a:rPr lang="en-GB" sz="1500" err="1">
                <a:latin typeface="Courier New"/>
                <a:cs typeface="Courier New"/>
              </a:rPr>
              <a:t>sia</a:t>
            </a:r>
            <a:r>
              <a:rPr lang="en-GB" sz="1500">
                <a:latin typeface="Courier New"/>
                <a:cs typeface="Courier New"/>
              </a:rPr>
              <a:t> = </a:t>
            </a:r>
            <a:r>
              <a:rPr lang="en-GB" sz="1500" err="1">
                <a:latin typeface="Courier New"/>
                <a:cs typeface="Courier New"/>
              </a:rPr>
              <a:t>axis_anisotopies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-0.2)</a:t>
            </a:r>
          </a:p>
          <a:p>
            <a:r>
              <a:rPr lang="en-GB" sz="1500">
                <a:latin typeface="Courier New"/>
                <a:cs typeface="Courier New"/>
              </a:rPr>
              <a:t>ham = Hamiltonian(</a:t>
            </a:r>
            <a:r>
              <a:rPr lang="en-GB" sz="1500" err="1">
                <a:latin typeface="Courier New"/>
                <a:cs typeface="Courier New"/>
              </a:rPr>
              <a:t>struc</a:t>
            </a:r>
            <a:r>
              <a:rPr lang="en-GB" sz="1500">
                <a:latin typeface="Courier New"/>
                <a:cs typeface="Courier New"/>
              </a:rPr>
              <a:t>, exchanges, </a:t>
            </a:r>
            <a:r>
              <a:rPr lang="en-GB" sz="1500" err="1">
                <a:latin typeface="Courier New"/>
                <a:cs typeface="Courier New"/>
              </a:rPr>
              <a:t>sia</a:t>
            </a:r>
            <a:r>
              <a:rPr lang="en-GB" sz="1500">
                <a:latin typeface="Courier New"/>
                <a:cs typeface="Courier New"/>
              </a:rPr>
              <a:t>)</a:t>
            </a:r>
          </a:p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(Path([[0,0,0],[1,1,1],[1,0,1]]))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E42371-3870-1434-28B2-BEE932702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582" y="2624022"/>
            <a:ext cx="4076700" cy="3000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26A6E7-6948-B406-C61E-F44FEA10FE54}"/>
              </a:ext>
            </a:extLst>
          </p:cNvPr>
          <p:cNvSpPr/>
          <p:nvPr/>
        </p:nvSpPr>
        <p:spPr>
          <a:xfrm>
            <a:off x="3870960" y="3891280"/>
            <a:ext cx="629920" cy="396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3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F498-C2C7-2F90-C2F1-2C99BC01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22EB-8B0D-4FA3-C369-37D2E3EB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63486-F939-44CF-C667-4CE181CC6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3975563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44C7-48C7-68FD-9A1F-7F114F24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49D7-B23C-837B-45B8-99DB83DB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60CCE-289E-E50F-956B-BFA272B4C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Exercises: 03_rotating_frame.py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5AB8D-8863-9BEF-83B1-D6DB7FDBDDE0}"/>
              </a:ext>
            </a:extLst>
          </p:cNvPr>
          <p:cNvSpPr txBox="1"/>
          <p:nvPr/>
        </p:nvSpPr>
        <p:spPr>
          <a:xfrm>
            <a:off x="3594340" y="4866736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2"/>
              </a:rPr>
              <a:t>www.github.com/spinw/munich26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542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6356-4DD3-850D-E20D-17DBAE61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GB" sz="2400">
                <a:latin typeface="+mn-lt"/>
                <a:cs typeface="Courier New" panose="02070309020205020404" pitchFamily="49" charset="0"/>
              </a:rPr>
              <a:t>Linear spin wave theory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  <a:cs typeface="Courier New" panose="02070309020205020404" pitchFamily="49" charset="0"/>
              </a:rPr>
              <a:t>Strictly only valid for large 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  <a:cs typeface="Courier New" panose="02070309020205020404" pitchFamily="49" charset="0"/>
              </a:rPr>
              <a:t>Requires an ordered magnetic state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GB" sz="2400" err="1">
                <a:latin typeface="+mn-lt"/>
                <a:cs typeface="Courier New" panose="02070309020205020404" pitchFamily="49" charset="0"/>
              </a:rPr>
              <a:t>SpinW</a:t>
            </a:r>
            <a:endParaRPr lang="en-GB" sz="2400">
              <a:latin typeface="+mn-lt"/>
              <a:cs typeface="Courier New" panose="02070309020205020404" pitchFamily="49" charset="0"/>
            </a:endParaRP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  <a:cs typeface="Courier New" panose="02070309020205020404" pitchFamily="49" charset="0"/>
              </a:rPr>
              <a:t>Uses a rotating frame description which can calculate certain single-</a:t>
            </a:r>
            <a:r>
              <a:rPr lang="en-GB" sz="2000" i="1">
                <a:latin typeface="+mn-lt"/>
                <a:cs typeface="Courier New" panose="02070309020205020404" pitchFamily="49" charset="0"/>
              </a:rPr>
              <a:t>k </a:t>
            </a:r>
            <a:r>
              <a:rPr lang="en-GB" sz="2000">
                <a:latin typeface="+mn-lt"/>
                <a:cs typeface="Courier New" panose="02070309020205020404" pitchFamily="49" charset="0"/>
              </a:rPr>
              <a:t>magnetic structure dispersion efficiently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  <a:cs typeface="Courier New" panose="02070309020205020404" pitchFamily="49" charset="0"/>
              </a:rPr>
              <a:t>Need to define the Hamiltonian and magnetic structure before can calculate dispersion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  <a:cs typeface="Courier New" panose="02070309020205020404" pitchFamily="49" charset="0"/>
              </a:rPr>
              <a:t>Can optimise the input magnetic structure to better agree with the Hamiltonian.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GB" sz="2000">
                <a:latin typeface="+mn-lt"/>
                <a:cs typeface="Courier New" panose="02070309020205020404" pitchFamily="49" charset="0"/>
              </a:rPr>
              <a:t>Lots of examples / tutorials on </a:t>
            </a:r>
            <a:r>
              <a:rPr lang="en-GB" sz="2000">
                <a:latin typeface="+mn-lt"/>
                <a:cs typeface="Courier New" panose="02070309020205020404" pitchFamily="49" charset="0"/>
                <a:hlinkClick r:id="rId2"/>
              </a:rPr>
              <a:t>spinw.org</a:t>
            </a:r>
            <a:endParaRPr lang="en-GB" sz="2000">
              <a:latin typeface="+mn-lt"/>
              <a:cs typeface="Courier New" panose="02070309020205020404" pitchFamily="49" charset="0"/>
            </a:endParaRP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GB" sz="2000">
              <a:latin typeface="+mn-lt"/>
              <a:cs typeface="Courier New" panose="02070309020205020404" pitchFamily="49" charset="0"/>
            </a:endParaRPr>
          </a:p>
          <a:p>
            <a:pPr indent="-457200">
              <a:buFont typeface="Arial" panose="020B0604020202020204" pitchFamily="34" charset="0"/>
              <a:buChar char="•"/>
            </a:pPr>
            <a:endParaRPr lang="en-GB" sz="2400">
              <a:latin typeface="+mn-lt"/>
              <a:cs typeface="Courier New" panose="02070309020205020404" pitchFamily="49" charset="0"/>
            </a:endParaRPr>
          </a:p>
          <a:p>
            <a:pPr lvl="1" indent="0">
              <a:buNone/>
            </a:pPr>
            <a:endParaRPr lang="en-GB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5" name="Rectangle 1"/>
          <p:cNvSpPr/>
          <p:nvPr/>
        </p:nvSpPr>
        <p:spPr>
          <a:xfrm>
            <a:off x="4224361" y="1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47366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196F-B03D-F235-A192-CD4FC155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8494-641E-F249-5831-406CEB8B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89C68-7EC6-9419-7F79-311C19991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Short break!</a:t>
            </a:r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7035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F272-933C-3EE8-AFEE-3B9CA022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Spin-spin correlation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CFA1B-0158-A167-EFA4-49CBA00D1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default </a:t>
            </a:r>
            <a:r>
              <a:rPr lang="en-US" err="1"/>
              <a:t>SpinW</a:t>
            </a:r>
            <a:r>
              <a:rPr lang="en-US"/>
              <a:t> just outputs the </a:t>
            </a:r>
            <a:r>
              <a:rPr lang="en-US" err="1"/>
              <a:t>unpolarised</a:t>
            </a:r>
            <a:r>
              <a:rPr lang="en-US"/>
              <a:t> neutron intensities (called </a:t>
            </a:r>
            <a:r>
              <a:rPr lang="en-US" err="1">
                <a:latin typeface="Courier New"/>
                <a:cs typeface="Courier New"/>
              </a:rPr>
              <a:t>Sperp</a:t>
            </a:r>
            <a:r>
              <a:rPr lang="en-US"/>
              <a:t>) but the calculation itself has to first compute a 3x3 matrix S</a:t>
            </a:r>
            <a:r>
              <a:rPr lang="en-US" baseline="30000"/>
              <a:t>αβ</a:t>
            </a:r>
            <a:r>
              <a:rPr lang="en-US"/>
              <a:t> for each magnon energy at each Q-point.</a:t>
            </a:r>
          </a:p>
          <a:p>
            <a:r>
              <a:rPr lang="en-US"/>
              <a:t>With </a:t>
            </a:r>
            <a:r>
              <a:rPr lang="en-US" err="1"/>
              <a:t>polarised</a:t>
            </a:r>
            <a:r>
              <a:rPr lang="en-US"/>
              <a:t> neutrons we can measure some components of this spin-spin correlation tensor, and this can be computed in </a:t>
            </a:r>
            <a:r>
              <a:rPr lang="en-US" err="1"/>
              <a:t>SpinW</a:t>
            </a:r>
            <a:r>
              <a:rPr lang="en-US"/>
              <a:t>, using the </a:t>
            </a:r>
            <a:r>
              <a:rPr lang="en-US">
                <a:latin typeface="Courier New"/>
                <a:cs typeface="Courier New"/>
              </a:rPr>
              <a:t>components </a:t>
            </a:r>
            <a:r>
              <a:rPr lang="en-US"/>
              <a:t>keyword.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358DC-8A06-F8A0-2F26-6AE4208A2341}"/>
              </a:ext>
            </a:extLst>
          </p:cNvPr>
          <p:cNvSpPr txBox="1"/>
          <p:nvPr/>
        </p:nvSpPr>
        <p:spPr>
          <a:xfrm>
            <a:off x="2424585" y="4017736"/>
            <a:ext cx="7336936" cy="12464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(Path([[0,0,0],[1,1,1],[1,0,1]]),</a:t>
            </a:r>
            <a:endParaRPr lang="en-GB"/>
          </a:p>
          <a:p>
            <a:r>
              <a:rPr lang="en-GB" sz="1500">
                <a:latin typeface="Courier New"/>
                <a:cs typeface="Courier New"/>
              </a:rPr>
              <a:t>                   components='</a:t>
            </a:r>
            <a:r>
              <a:rPr lang="en-GB" sz="1500" err="1">
                <a:latin typeface="Courier New"/>
                <a:cs typeface="Courier New"/>
              </a:rPr>
              <a:t>Sperp</a:t>
            </a:r>
            <a:r>
              <a:rPr lang="en-GB" sz="1500">
                <a:latin typeface="Courier New"/>
                <a:cs typeface="Courier New"/>
              </a:rPr>
              <a:t>')</a:t>
            </a:r>
          </a:p>
          <a:p>
            <a:endParaRPr lang="en-GB" sz="1500">
              <a:latin typeface="Courier New"/>
              <a:cs typeface="Courier New"/>
            </a:endParaRPr>
          </a:p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(Path([[0,0,0],[1,1,1],[1,0,1]]),</a:t>
            </a:r>
          </a:p>
          <a:p>
            <a:r>
              <a:rPr lang="en-GB" sz="1500">
                <a:latin typeface="Courier New"/>
                <a:cs typeface="Courier New"/>
              </a:rPr>
              <a:t>                   components='</a:t>
            </a:r>
            <a:r>
              <a:rPr lang="en-GB" sz="1500" err="1">
                <a:latin typeface="Courier New"/>
                <a:cs typeface="Courier New"/>
              </a:rPr>
              <a:t>Pxy+Pzx</a:t>
            </a:r>
            <a:r>
              <a:rPr lang="en-GB" sz="1500">
                <a:latin typeface="Courier New"/>
                <a:cs typeface="Courier New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416353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7C1C-9F41-176F-3BB0-59796921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Blume-</a:t>
            </a:r>
            <a:r>
              <a:rPr lang="en-US" err="1"/>
              <a:t>Maleev</a:t>
            </a:r>
            <a:r>
              <a:rPr lang="en-US"/>
              <a:t> coordinates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DB9D0-E69B-D037-2531-C2DE6B042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022" y="1387943"/>
            <a:ext cx="10738044" cy="5467433"/>
          </a:xfrm>
        </p:spPr>
        <p:txBody>
          <a:bodyPr>
            <a:normAutofit/>
          </a:bodyPr>
          <a:lstStyle/>
          <a:p>
            <a:r>
              <a:rPr lang="en-US" sz="2000"/>
              <a:t>The spin-spin correlation tensor S</a:t>
            </a:r>
            <a:r>
              <a:rPr lang="en-US" sz="2000" baseline="30000"/>
              <a:t>αβ</a:t>
            </a:r>
            <a:r>
              <a:rPr lang="en-US" sz="2000"/>
              <a:t> is defined in the crystal-Cartesian coordinate system which </a:t>
            </a:r>
            <a:r>
              <a:rPr lang="en-US" sz="2000" err="1"/>
              <a:t>SpinW</a:t>
            </a:r>
            <a:r>
              <a:rPr lang="en-US" sz="2000"/>
              <a:t> uses: x||a, z⊥(</a:t>
            </a:r>
            <a:r>
              <a:rPr lang="en-US" sz="2000" err="1"/>
              <a:t>a,b</a:t>
            </a:r>
            <a:r>
              <a:rPr lang="en-US" sz="2000"/>
              <a:t>) and y⊥(</a:t>
            </a:r>
            <a:r>
              <a:rPr lang="en-US" sz="2000" err="1"/>
              <a:t>x,z</a:t>
            </a:r>
            <a:r>
              <a:rPr lang="en-US" sz="2000"/>
              <a:t>).</a:t>
            </a:r>
          </a:p>
          <a:p>
            <a:r>
              <a:rPr lang="en-US" sz="2000" err="1"/>
              <a:t>Polarised</a:t>
            </a:r>
            <a:r>
              <a:rPr lang="en-US" sz="2000"/>
              <a:t> neutron components, however, uses the Blume-</a:t>
            </a:r>
            <a:r>
              <a:rPr lang="en-US" sz="2000" err="1"/>
              <a:t>Maleev</a:t>
            </a:r>
            <a:r>
              <a:rPr lang="en-US" sz="2000"/>
              <a:t> coordinate system, where x||</a:t>
            </a:r>
            <a:r>
              <a:rPr lang="en-US" sz="2000" b="1"/>
              <a:t>Q</a:t>
            </a:r>
            <a:r>
              <a:rPr lang="en-US" sz="2000"/>
              <a:t>, </a:t>
            </a:r>
            <a:r>
              <a:rPr lang="en-US" sz="2000" err="1"/>
              <a:t>y⊥x</a:t>
            </a:r>
            <a:r>
              <a:rPr lang="en-US" sz="2000"/>
              <a:t> in the horizontal plane, z is vertical</a:t>
            </a:r>
          </a:p>
          <a:p>
            <a:pPr>
              <a:spcAft>
                <a:spcPts val="0"/>
              </a:spcAft>
            </a:pPr>
            <a:r>
              <a:rPr lang="en-US" sz="2000"/>
              <a:t>There are three options:</a:t>
            </a:r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r>
              <a:rPr lang="en-US" sz="1800">
                <a:latin typeface="Courier New"/>
                <a:cs typeface="Courier New"/>
              </a:rPr>
              <a:t>'Pa'</a:t>
            </a:r>
            <a:r>
              <a:rPr lang="en-US" sz="1800"/>
              <a:t> – a=</a:t>
            </a:r>
            <a:r>
              <a:rPr lang="en-US" sz="1800" err="1"/>
              <a:t>x,y,z</a:t>
            </a:r>
            <a:r>
              <a:rPr lang="en-US" sz="1800"/>
              <a:t> – half </a:t>
            </a:r>
            <a:r>
              <a:rPr lang="en-US" sz="1800" err="1"/>
              <a:t>polarised</a:t>
            </a:r>
            <a:r>
              <a:rPr lang="en-GB" sz="1800">
                <a:solidFill>
                  <a:srgbClr val="616161"/>
                </a:solidFill>
              </a:rPr>
              <a:t> intensity with incident beam polarised along direction a</a:t>
            </a:r>
            <a:endParaRPr lang="en-US" sz="1800"/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endParaRPr lang="en-GB" sz="1800"/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r>
              <a:rPr lang="en-GB" sz="1800">
                <a:solidFill>
                  <a:srgbClr val="616161"/>
                </a:solidFill>
                <a:latin typeface="Courier New"/>
                <a:cs typeface="Courier New"/>
              </a:rPr>
              <a:t>'</a:t>
            </a:r>
            <a:r>
              <a:rPr lang="en-GB" sz="1800" err="1">
                <a:solidFill>
                  <a:srgbClr val="616161"/>
                </a:solidFill>
                <a:latin typeface="Courier New"/>
                <a:cs typeface="Courier New"/>
              </a:rPr>
              <a:t>Pab</a:t>
            </a:r>
            <a:r>
              <a:rPr lang="en-GB" sz="1800">
                <a:solidFill>
                  <a:srgbClr val="616161"/>
                </a:solidFill>
                <a:latin typeface="Courier New"/>
                <a:cs typeface="Courier New"/>
              </a:rPr>
              <a:t>'</a:t>
            </a:r>
            <a:r>
              <a:rPr lang="en-GB" sz="1800">
                <a:solidFill>
                  <a:srgbClr val="616161"/>
                </a:solidFill>
              </a:rPr>
              <a:t> – </a:t>
            </a:r>
            <a:r>
              <a:rPr lang="en-GB" sz="1800" err="1">
                <a:solidFill>
                  <a:srgbClr val="616161"/>
                </a:solidFill>
              </a:rPr>
              <a:t>a,b</a:t>
            </a:r>
            <a:r>
              <a:rPr lang="en-GB" sz="1800">
                <a:solidFill>
                  <a:srgbClr val="616161"/>
                </a:solidFill>
              </a:rPr>
              <a:t>=</a:t>
            </a:r>
            <a:r>
              <a:rPr lang="en-GB" sz="1800" err="1">
                <a:solidFill>
                  <a:srgbClr val="616161"/>
                </a:solidFill>
              </a:rPr>
              <a:t>x,y,z</a:t>
            </a:r>
            <a:r>
              <a:rPr lang="en-GB" sz="1800">
                <a:solidFill>
                  <a:srgbClr val="616161"/>
                </a:solidFill>
              </a:rPr>
              <a:t> – </a:t>
            </a:r>
            <a:r>
              <a:rPr lang="en-GB" sz="1800" err="1">
                <a:solidFill>
                  <a:srgbClr val="616161"/>
                </a:solidFill>
              </a:rPr>
              <a:t>xyz</a:t>
            </a:r>
            <a:r>
              <a:rPr lang="en-GB" sz="1800">
                <a:solidFill>
                  <a:srgbClr val="616161"/>
                </a:solidFill>
              </a:rPr>
              <a:t> polarized intensity </a:t>
            </a:r>
            <a:r>
              <a:rPr lang="el-GR" sz="1800" i="1">
                <a:solidFill>
                  <a:srgbClr val="616161"/>
                </a:solidFill>
              </a:rPr>
              <a:t>σ</a:t>
            </a:r>
            <a:r>
              <a:rPr lang="el-GR" sz="1800" baseline="30000">
                <a:solidFill>
                  <a:srgbClr val="616161"/>
                </a:solidFill>
              </a:rPr>
              <a:t>αβ</a:t>
            </a:r>
            <a:r>
              <a:rPr lang="en-GB" sz="1800">
                <a:solidFill>
                  <a:srgbClr val="616161"/>
                </a:solidFill>
              </a:rPr>
              <a:t> with incident and scattered beam polarized along the specified direction</a:t>
            </a:r>
            <a:endParaRPr lang="en-US" sz="1800"/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endParaRPr lang="en-GB" sz="1800"/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r>
              <a:rPr lang="en-GB" sz="1800">
                <a:solidFill>
                  <a:srgbClr val="616161"/>
                </a:solidFill>
                <a:latin typeface="Courier New"/>
                <a:cs typeface="Courier New"/>
              </a:rPr>
              <a:t>'Mab'</a:t>
            </a:r>
            <a:r>
              <a:rPr lang="en-GB" sz="1800">
                <a:solidFill>
                  <a:srgbClr val="616161"/>
                </a:solidFill>
              </a:rPr>
              <a:t> – </a:t>
            </a:r>
            <a:r>
              <a:rPr lang="en-GB" sz="1800" err="1">
                <a:solidFill>
                  <a:srgbClr val="616161"/>
                </a:solidFill>
              </a:rPr>
              <a:t>a,b</a:t>
            </a:r>
            <a:r>
              <a:rPr lang="en-GB" sz="1800">
                <a:solidFill>
                  <a:srgbClr val="616161"/>
                </a:solidFill>
              </a:rPr>
              <a:t>=</a:t>
            </a:r>
            <a:r>
              <a:rPr lang="en-GB" sz="1800" err="1">
                <a:solidFill>
                  <a:srgbClr val="616161"/>
                </a:solidFill>
              </a:rPr>
              <a:t>x,y,z</a:t>
            </a:r>
            <a:r>
              <a:rPr lang="en-GB" sz="1800">
                <a:solidFill>
                  <a:srgbClr val="616161"/>
                </a:solidFill>
              </a:rPr>
              <a:t> – projection of S</a:t>
            </a:r>
            <a:r>
              <a:rPr lang="en-US" sz="2000" baseline="30000">
                <a:solidFill>
                  <a:srgbClr val="626262"/>
                </a:solidFill>
              </a:rPr>
              <a:t>αβ</a:t>
            </a:r>
            <a:r>
              <a:rPr lang="en-GB" sz="1800">
                <a:solidFill>
                  <a:srgbClr val="616161"/>
                </a:solidFill>
              </a:rPr>
              <a:t> along the specified direction.</a:t>
            </a:r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endParaRPr lang="en-GB">
              <a:solidFill>
                <a:srgbClr val="616161"/>
              </a:solidFill>
            </a:endParaRPr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r>
              <a:rPr lang="en-GB" sz="1800">
                <a:solidFill>
                  <a:srgbClr val="616161"/>
                </a:solidFill>
              </a:rPr>
              <a:t>             In all cases you need to specify the horizontal plane or use the default </a:t>
            </a:r>
            <a:r>
              <a:rPr lang="en-GB" sz="1800" i="1">
                <a:solidFill>
                  <a:srgbClr val="616161"/>
                </a:solidFill>
              </a:rPr>
              <a:t>a-b</a:t>
            </a:r>
            <a:r>
              <a:rPr lang="en-GB" sz="1800">
                <a:solidFill>
                  <a:srgbClr val="616161"/>
                </a:solidFill>
              </a:rPr>
              <a:t> plane.</a:t>
            </a:r>
          </a:p>
          <a:p>
            <a:pPr marL="1143000" lvl="1" indent="-457200">
              <a:buFont typeface="Arial,Sans-Serif" panose="02070309020205020404" pitchFamily="49" charset="0"/>
              <a:buChar char="•"/>
            </a:pPr>
            <a:r>
              <a:rPr lang="en-GB" sz="1800">
                <a:solidFill>
                  <a:srgbClr val="616161"/>
                </a:solidFill>
              </a:rPr>
              <a:t>             This is specified by a comma after the components and two reciprocal lattice vectors</a:t>
            </a:r>
            <a:endParaRPr lang="en-GB" sz="1800" err="1">
              <a:solidFill>
                <a:srgbClr val="61616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0CE3B-EEB2-C915-5E92-88704AB71AAB}"/>
              </a:ext>
            </a:extLst>
          </p:cNvPr>
          <p:cNvSpPr txBox="1"/>
          <p:nvPr/>
        </p:nvSpPr>
        <p:spPr>
          <a:xfrm>
            <a:off x="2424585" y="3553101"/>
            <a:ext cx="7336936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(path, components='</a:t>
            </a:r>
            <a:r>
              <a:rPr lang="en-GB" sz="1500" err="1">
                <a:latin typeface="Courier New"/>
                <a:cs typeface="Courier New"/>
              </a:rPr>
              <a:t>Pz</a:t>
            </a:r>
            <a:r>
              <a:rPr lang="en-GB" sz="1500">
                <a:latin typeface="Courier New"/>
                <a:cs typeface="Courier New"/>
              </a:rPr>
              <a:t>')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275A0-D767-E05C-3D67-D65EEF3DA0AD}"/>
              </a:ext>
            </a:extLst>
          </p:cNvPr>
          <p:cNvSpPr txBox="1"/>
          <p:nvPr/>
        </p:nvSpPr>
        <p:spPr>
          <a:xfrm>
            <a:off x="2437595" y="4421039"/>
            <a:ext cx="7336936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(path, components='</a:t>
            </a:r>
            <a:r>
              <a:rPr lang="en-GB" sz="1500" err="1">
                <a:latin typeface="Courier New"/>
                <a:cs typeface="Courier New"/>
              </a:rPr>
              <a:t>Pxy+Pzx</a:t>
            </a:r>
            <a:r>
              <a:rPr lang="en-GB" sz="1500">
                <a:latin typeface="Courier New"/>
                <a:cs typeface="Courier New"/>
              </a:rPr>
              <a:t>')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4979F-07A0-FC1F-A472-95B4225C6345}"/>
              </a:ext>
            </a:extLst>
          </p:cNvPr>
          <p:cNvSpPr txBox="1"/>
          <p:nvPr/>
        </p:nvSpPr>
        <p:spPr>
          <a:xfrm>
            <a:off x="2424585" y="5104980"/>
            <a:ext cx="7336936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(path, components='</a:t>
            </a:r>
            <a:r>
              <a:rPr lang="en-GB" sz="1500" err="1">
                <a:latin typeface="Courier New"/>
                <a:cs typeface="Courier New"/>
              </a:rPr>
              <a:t>Myz</a:t>
            </a:r>
            <a:r>
              <a:rPr lang="en-GB" sz="1500">
                <a:latin typeface="Courier New"/>
                <a:cs typeface="Courier New"/>
              </a:rPr>
              <a:t>-Mzy')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EA6C4-5D45-2BBF-7DFB-BC1C5BCD792D}"/>
              </a:ext>
            </a:extLst>
          </p:cNvPr>
          <p:cNvSpPr txBox="1"/>
          <p:nvPr/>
        </p:nvSpPr>
        <p:spPr>
          <a:xfrm>
            <a:off x="2419009" y="6112307"/>
            <a:ext cx="7336936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500" err="1">
                <a:latin typeface="Courier New"/>
                <a:cs typeface="Courier New"/>
              </a:rPr>
              <a:t>ham.spaghetti_plot</a:t>
            </a:r>
            <a:r>
              <a:rPr lang="en-GB" sz="1500">
                <a:latin typeface="Courier New"/>
                <a:cs typeface="Courier New"/>
              </a:rPr>
              <a:t>(path, components='</a:t>
            </a:r>
            <a:r>
              <a:rPr lang="en-GB" sz="1500" err="1">
                <a:latin typeface="Courier New"/>
                <a:cs typeface="Courier New"/>
              </a:rPr>
              <a:t>Pzz</a:t>
            </a:r>
            <a:r>
              <a:rPr lang="en-GB" sz="1500">
                <a:latin typeface="Courier New"/>
                <a:cs typeface="Courier New"/>
              </a:rPr>
              <a:t>,[1 1 0]-[0 0 1]')</a:t>
            </a:r>
          </a:p>
        </p:txBody>
      </p:sp>
    </p:spTree>
    <p:extLst>
      <p:ext uri="{BB962C8B-B14F-4D97-AF65-F5344CB8AC3E}">
        <p14:creationId xmlns:p14="http://schemas.microsoft.com/office/powerpoint/2010/main" val="276237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D0A3-8101-9B8F-0F79-FF49BAB4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Polarised</a:t>
            </a:r>
            <a:r>
              <a:rPr lang="en-US"/>
              <a:t> neutron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69671-E645-4D41-2737-DB438F418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Using the triangular lattice with planar anisotropy from before: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6E55E-BAC2-AA10-9B22-C5B04E5D6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75" y="1737731"/>
            <a:ext cx="6096000" cy="457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D69640-F43D-800E-2390-5EDD23771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597" y="1733085"/>
            <a:ext cx="6096000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61B46B-1EAA-5234-3250-417F5F49A03C}"/>
              </a:ext>
            </a:extLst>
          </p:cNvPr>
          <p:cNvSpPr txBox="1"/>
          <p:nvPr/>
        </p:nvSpPr>
        <p:spPr>
          <a:xfrm>
            <a:off x="2833525" y="1959145"/>
            <a:ext cx="7518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latin typeface="Courier New"/>
                <a:cs typeface="Courier New"/>
              </a:rPr>
              <a:t>Pzz</a:t>
            </a:r>
            <a:endParaRPr lang="en-US">
              <a:latin typeface="Courier New"/>
              <a:cs typeface="Courier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44F0B-36C0-8CAB-C5BA-55AB3CF33F6A}"/>
              </a:ext>
            </a:extLst>
          </p:cNvPr>
          <p:cNvSpPr txBox="1"/>
          <p:nvPr/>
        </p:nvSpPr>
        <p:spPr>
          <a:xfrm>
            <a:off x="8334793" y="1959145"/>
            <a:ext cx="7518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latin typeface="Courier New"/>
                <a:cs typeface="Courier New"/>
              </a:rPr>
              <a:t>Pyy</a:t>
            </a:r>
          </a:p>
        </p:txBody>
      </p:sp>
    </p:spTree>
    <p:extLst>
      <p:ext uri="{BB962C8B-B14F-4D97-AF65-F5344CB8AC3E}">
        <p14:creationId xmlns:p14="http://schemas.microsoft.com/office/powerpoint/2010/main" val="21329458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ABEF-7E15-989D-B43A-1AA174D3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465E-8E6A-4345-314F-5878F242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77B40-04AB-5C73-89D9-CA7112F5A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13055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45530-2916-6FF9-D9FD-57ADDE85B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B9CEA-D329-7770-E891-52C62987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37F7A-FBC8-8B42-90AE-937366662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Exercises: 04_polarised.py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F0337-EF12-7B49-106C-2462BAFBAFF2}"/>
              </a:ext>
            </a:extLst>
          </p:cNvPr>
          <p:cNvSpPr txBox="1"/>
          <p:nvPr/>
        </p:nvSpPr>
        <p:spPr>
          <a:xfrm>
            <a:off x="3594340" y="4866736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2"/>
              </a:rPr>
              <a:t>www.github.com/spinw/munich26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0799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75AAD-62EB-A55F-88EB-6214DDE2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Sample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B0448-9C49-37E2-BBE5-4E7BB87E1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SingleCrystal</a:t>
            </a:r>
          </a:p>
          <a:p>
            <a:r>
              <a:rPr lang="en-GB"/>
              <a:t>Twin</a:t>
            </a:r>
          </a:p>
          <a:p>
            <a:r>
              <a:rPr lang="en-GB"/>
              <a:t>Multidomain</a:t>
            </a:r>
          </a:p>
          <a:p>
            <a:r>
              <a:rPr lang="en-GB"/>
              <a:t>Powder</a:t>
            </a:r>
          </a:p>
        </p:txBody>
      </p:sp>
    </p:spTree>
    <p:extLst>
      <p:ext uri="{BB962C8B-B14F-4D97-AF65-F5344CB8AC3E}">
        <p14:creationId xmlns:p14="http://schemas.microsoft.com/office/powerpoint/2010/main" val="14067143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BE2F-D596-1862-7526-C5EF9602D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08" y="3003457"/>
            <a:ext cx="10732602" cy="749497"/>
          </a:xfrm>
        </p:spPr>
        <p:txBody>
          <a:bodyPr/>
          <a:lstStyle/>
          <a:p>
            <a:r>
              <a:rPr lang="en-GB"/>
              <a:t>Twin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1F463-4686-1BD0-1661-BBACC8920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018" y="4046218"/>
            <a:ext cx="10754359" cy="1685242"/>
          </a:xfrm>
        </p:spPr>
        <p:txBody>
          <a:bodyPr>
            <a:normAutofit/>
          </a:bodyPr>
          <a:lstStyle/>
          <a:p>
            <a:r>
              <a:rPr lang="en-GB"/>
              <a:t>Give a relative transform and a weight</a:t>
            </a:r>
          </a:p>
          <a:p>
            <a:r>
              <a:rPr lang="en-GB"/>
              <a:t>2 components, 1 weight, 1 transform</a:t>
            </a:r>
          </a:p>
          <a:p>
            <a:r>
              <a:rPr lang="en-GB"/>
              <a:t>Easier to specify than multidomain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7FE8FD-A3BC-248C-83FA-49039D3D7642}"/>
              </a:ext>
            </a:extLst>
          </p:cNvPr>
          <p:cNvSpPr txBox="1">
            <a:spLocks/>
          </p:cNvSpPr>
          <p:nvPr/>
        </p:nvSpPr>
        <p:spPr>
          <a:xfrm>
            <a:off x="538122" y="497582"/>
            <a:ext cx="10732602" cy="74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/>
              <a:t>Multidomain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5F35B2D-7319-59FC-B046-FDE078EF59DD}"/>
              </a:ext>
            </a:extLst>
          </p:cNvPr>
          <p:cNvSpPr txBox="1">
            <a:spLocks/>
          </p:cNvSpPr>
          <p:nvPr/>
        </p:nvSpPr>
        <p:spPr>
          <a:xfrm>
            <a:off x="539632" y="1534526"/>
            <a:ext cx="10713642" cy="187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  <a:defRPr sz="24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/>
              <a:t>Multiple components, each with a different and weight</a:t>
            </a:r>
          </a:p>
          <a:p>
            <a:r>
              <a:rPr lang="en-GB"/>
              <a:t>n components, n weights, n transforms</a:t>
            </a:r>
          </a:p>
        </p:txBody>
      </p:sp>
    </p:spTree>
    <p:extLst>
      <p:ext uri="{BB962C8B-B14F-4D97-AF65-F5344CB8AC3E}">
        <p14:creationId xmlns:p14="http://schemas.microsoft.com/office/powerpoint/2010/main" val="26082535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2243-592B-8D97-E0BD-84FD5BA8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Twin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4DFCA-2297-1D3A-4F8B-9BCA55B64CC4}"/>
              </a:ext>
            </a:extLst>
          </p:cNvPr>
          <p:cNvSpPr txBox="1"/>
          <p:nvPr/>
        </p:nvSpPr>
        <p:spPr>
          <a:xfrm>
            <a:off x="3479924" y="4544727"/>
            <a:ext cx="6704741" cy="98488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/>
            </a:b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twin = Twin(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hamiltonian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endParaRPr lang="en-US"/>
          </a:p>
          <a:p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            </a:t>
            </a:r>
            <a:r>
              <a:rPr lang="en-GB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np.array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([[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[-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[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]]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dtype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GB" sz="1100">
                <a:solidFill>
                  <a:srgbClr val="8888C6"/>
                </a:solidFill>
                <a:highlight>
                  <a:srgbClr val="2B2B2B"/>
                </a:highlight>
                <a:latin typeface="Consolas"/>
              </a:rPr>
              <a:t>float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r>
              <a:rPr lang="en-GB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GB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0.2</a:t>
            </a:r>
            <a:r>
              <a:rPr lang="en-GB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</a:p>
          <a:p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27FB2-D2F4-ECFE-B26C-86233F5C61DA}"/>
              </a:ext>
            </a:extLst>
          </p:cNvPr>
          <p:cNvSpPr txBox="1"/>
          <p:nvPr/>
        </p:nvSpPr>
        <p:spPr>
          <a:xfrm>
            <a:off x="8539248" y="6006097"/>
            <a:ext cx="32931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200"/>
              <a:t>twin_example.py</a:t>
            </a:r>
          </a:p>
        </p:txBody>
      </p:sp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81AF94DE-7A4E-D96A-01D3-52920321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04" y="1064472"/>
            <a:ext cx="3526023" cy="2669912"/>
          </a:xfrm>
          <a:prstGeom prst="rect">
            <a:avLst/>
          </a:prstGeom>
        </p:spPr>
      </p:pic>
      <p:pic>
        <p:nvPicPr>
          <p:cNvPr id="9" name="Picture 8" descr="A diagram of a function&#10;&#10;AI-generated content may be incorrect.">
            <a:extLst>
              <a:ext uri="{FF2B5EF4-FFF2-40B4-BE49-F238E27FC236}">
                <a16:creationId xmlns:a16="http://schemas.microsoft.com/office/drawing/2014/main" id="{125FFF43-C79D-FD47-81FE-7FA34A361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482" y="343190"/>
            <a:ext cx="4441982" cy="3205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69D570-907C-FD63-A18D-50C9DFD7D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100" y="1198259"/>
            <a:ext cx="3337693" cy="2541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1D7958-7B2C-0B3B-7F6A-B5F37EA7413E}"/>
              </a:ext>
            </a:extLst>
          </p:cNvPr>
          <p:cNvSpPr txBox="1"/>
          <p:nvPr/>
        </p:nvSpPr>
        <p:spPr>
          <a:xfrm>
            <a:off x="1366489" y="3918562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X direction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11456-0AC1-1FF1-0192-051CFED7B42A}"/>
              </a:ext>
            </a:extLst>
          </p:cNvPr>
          <p:cNvSpPr txBox="1"/>
          <p:nvPr/>
        </p:nvSpPr>
        <p:spPr>
          <a:xfrm>
            <a:off x="4862382" y="3918561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Y direction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F4B38-DA59-20F2-DF63-851CE7C60454}"/>
              </a:ext>
            </a:extLst>
          </p:cNvPr>
          <p:cNvSpPr txBox="1"/>
          <p:nvPr/>
        </p:nvSpPr>
        <p:spPr>
          <a:xfrm>
            <a:off x="9340634" y="3686015"/>
            <a:ext cx="8469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/>
              <a:t>Twin</a:t>
            </a:r>
          </a:p>
        </p:txBody>
      </p:sp>
    </p:spTree>
    <p:extLst>
      <p:ext uri="{BB962C8B-B14F-4D97-AF65-F5344CB8AC3E}">
        <p14:creationId xmlns:p14="http://schemas.microsoft.com/office/powerpoint/2010/main" val="22116384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01CA16B-71E3-F2E2-DE68-3B645AB5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Twinned Crystal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>
                <a:latin typeface="+mn-lt"/>
              </a:rPr>
              <a:t>Example for a cut integrating over energy, with a model of </a:t>
            </a:r>
            <a:r>
              <a:rPr lang="en-GB" sz="2000" err="1">
                <a:latin typeface="+mn-lt"/>
                <a:hlinkClick r:id="rId2"/>
              </a:rPr>
              <a:t>Pr</a:t>
            </a:r>
            <a:r>
              <a:rPr lang="en-GB" sz="2000">
                <a:latin typeface="+mn-lt"/>
                <a:hlinkClick r:id="rId2"/>
              </a:rPr>
              <a:t>(</a:t>
            </a:r>
            <a:r>
              <a:rPr lang="en-GB" sz="2000" err="1">
                <a:latin typeface="+mn-lt"/>
                <a:hlinkClick r:id="rId2"/>
              </a:rPr>
              <a:t>Ca,Sr</a:t>
            </a:r>
            <a:r>
              <a:rPr lang="en-GB" sz="2000">
                <a:latin typeface="+mn-lt"/>
                <a:hlinkClick r:id="rId2"/>
              </a:rPr>
              <a:t>)Mn</a:t>
            </a:r>
            <a:r>
              <a:rPr lang="en-GB" sz="2000" baseline="-25000">
                <a:latin typeface="+mn-lt"/>
                <a:hlinkClick r:id="rId2"/>
              </a:rPr>
              <a:t>2</a:t>
            </a:r>
            <a:r>
              <a:rPr lang="en-GB" sz="2000">
                <a:latin typeface="+mn-lt"/>
                <a:hlinkClick r:id="rId2"/>
              </a:rPr>
              <a:t>O</a:t>
            </a:r>
            <a:r>
              <a:rPr lang="en-GB" sz="2000" baseline="-25000">
                <a:latin typeface="+mn-lt"/>
                <a:hlinkClick r:id="rId2"/>
              </a:rPr>
              <a:t>7</a:t>
            </a:r>
            <a:endParaRPr lang="en-GB" sz="2000" baseline="-25000">
              <a:latin typeface="+mn-lt"/>
            </a:endParaRPr>
          </a:p>
        </p:txBody>
      </p:sp>
      <p:sp>
        <p:nvSpPr>
          <p:cNvPr id="4" name="Rectangle 1"/>
          <p:cNvSpPr/>
          <p:nvPr/>
        </p:nvSpPr>
        <p:spPr>
          <a:xfrm>
            <a:off x="4224361" y="23757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kern="12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Twinned Crystals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772" y="2359353"/>
            <a:ext cx="4084300" cy="3063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313" y="2359353"/>
            <a:ext cx="4084300" cy="3063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1638" y="5458843"/>
            <a:ext cx="2056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Without twin 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2747" y="5458843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Twin calculation</a:t>
            </a:r>
          </a:p>
        </p:txBody>
      </p:sp>
    </p:spTree>
    <p:extLst>
      <p:ext uri="{BB962C8B-B14F-4D97-AF65-F5344CB8AC3E}">
        <p14:creationId xmlns:p14="http://schemas.microsoft.com/office/powerpoint/2010/main" val="161835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8CE2F4-4964-9B05-97DE-1A77DF05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Powder average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+mn-lt"/>
            </a:endParaRPr>
          </a:p>
        </p:txBody>
      </p:sp>
      <p:sp>
        <p:nvSpPr>
          <p:cNvPr id="4" name="Rectangle 1"/>
          <p:cNvSpPr/>
          <p:nvPr/>
        </p:nvSpPr>
        <p:spPr>
          <a:xfrm>
            <a:off x="4251442" y="1"/>
            <a:ext cx="6335639" cy="557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ctr" anchorCtr="0" compatLnSpc="1">
            <a:normAutofit/>
          </a:bodyPr>
          <a:lstStyle/>
          <a:p>
            <a:pPr algn="r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>
                <a:solidFill>
                  <a:srgbClr val="FFFFFF"/>
                </a:solidFill>
                <a:latin typeface="Lucida Sans" pitchFamily="34"/>
                <a:ea typeface="Arial" pitchFamily="34"/>
                <a:cs typeface="Arial" pitchFamily="34"/>
              </a:rPr>
              <a:t>Powder average</a:t>
            </a:r>
            <a:endParaRPr lang="en-US" sz="3000" kern="1200">
              <a:solidFill>
                <a:srgbClr val="FFFFFF"/>
              </a:solidFill>
              <a:latin typeface="Lucida Sans" pitchFamily="34"/>
              <a:ea typeface="Arial" pitchFamily="34"/>
              <a:cs typeface="Arial" pitchFamily="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7D1FA-372C-5EA0-761C-57C544A7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227" y="319088"/>
            <a:ext cx="5706361" cy="4562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A9AA80-DB77-487A-CD37-E4347AF13DD0}"/>
              </a:ext>
            </a:extLst>
          </p:cNvPr>
          <p:cNvSpPr txBox="1"/>
          <p:nvPr/>
        </p:nvSpPr>
        <p:spPr>
          <a:xfrm>
            <a:off x="555749" y="1387190"/>
            <a:ext cx="5304566" cy="247760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8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sample = Powder(</a:t>
            </a:r>
            <a:r>
              <a:rPr lang="en-US" sz="18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hamiltonian</a:t>
            </a: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br>
              <a:rPr lang="en-US" sz="1800">
                <a:highlight>
                  <a:srgbClr val="2B2B2B"/>
                </a:highlight>
                <a:latin typeface="Consolas"/>
              </a:rPr>
            </a:br>
            <a:br>
              <a:rPr lang="en-US" sz="1800">
                <a:highlight>
                  <a:srgbClr val="2B2B2B"/>
                </a:highlight>
                <a:latin typeface="Consolas"/>
              </a:rPr>
            </a:b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path1D = Path1D(</a:t>
            </a:r>
            <a:r>
              <a:rPr lang="en-US" sz="18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0.01</a:t>
            </a:r>
            <a:r>
              <a:rPr lang="en-US" sz="18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US" sz="18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br>
              <a:rPr lang="en-US" sz="1800">
                <a:highlight>
                  <a:srgbClr val="2B2B2B"/>
                </a:highlight>
                <a:latin typeface="Consolas"/>
              </a:rPr>
            </a:br>
            <a:r>
              <a:rPr lang="en-US" sz="18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sample.show_spectrum</a:t>
            </a: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(path1D</a:t>
            </a:r>
            <a:r>
              <a:rPr lang="en-US" sz="18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</a:p>
          <a:p>
            <a:r>
              <a:rPr lang="en-US" sz="18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                     </a:t>
            </a:r>
            <a:r>
              <a:rPr lang="en-US" sz="18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n_energy_bins</a:t>
            </a: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8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100</a:t>
            </a:r>
            <a:r>
              <a:rPr lang="en-US" sz="18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</a:p>
          <a:p>
            <a:r>
              <a:rPr lang="en-US" sz="18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                     </a:t>
            </a:r>
            <a:r>
              <a:rPr lang="en-US" sz="18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n_samples</a:t>
            </a: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8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500</a:t>
            </a:r>
            <a:r>
              <a:rPr lang="en-US" sz="18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</a:p>
          <a:p>
            <a:r>
              <a:rPr lang="en-US" sz="18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                     </a:t>
            </a:r>
            <a:r>
              <a:rPr lang="en-US" sz="18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energy_stddev</a:t>
            </a: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8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0.4</a:t>
            </a:r>
            <a:r>
              <a:rPr lang="en-US" sz="18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endParaRPr lang="en-US" sz="1800"/>
          </a:p>
          <a:p>
            <a:endParaRPr lang="en-GB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0A287-3E45-CF59-86A3-9A936D1CF993}"/>
              </a:ext>
            </a:extLst>
          </p:cNvPr>
          <p:cNvSpPr txBox="1"/>
          <p:nvPr/>
        </p:nvSpPr>
        <p:spPr>
          <a:xfrm>
            <a:off x="7419975" y="5929312"/>
            <a:ext cx="49101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/>
              <a:t>powder_spectrum.py</a:t>
            </a:r>
          </a:p>
        </p:txBody>
      </p:sp>
    </p:spTree>
    <p:extLst>
      <p:ext uri="{BB962C8B-B14F-4D97-AF65-F5344CB8AC3E}">
        <p14:creationId xmlns:p14="http://schemas.microsoft.com/office/powerpoint/2010/main" val="369728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91CE-999C-D384-3857-771CDDBB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Powder Fitting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7BB56-902D-1634-D258-258C5862D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552" y="1387943"/>
            <a:ext cx="10724222" cy="517339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GB"/>
              <a:t>Parameterise the Power class spectrum...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EEE115E-AE1D-A71C-86BF-9FDDFDCD23A9}"/>
              </a:ext>
            </a:extLst>
          </p:cNvPr>
          <p:cNvSpPr txBox="1">
            <a:spLocks/>
          </p:cNvSpPr>
          <p:nvPr/>
        </p:nvSpPr>
        <p:spPr>
          <a:xfrm>
            <a:off x="406790" y="3650130"/>
            <a:ext cx="5180672" cy="51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  <a:defRPr sz="24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GB"/>
              <a:t>Create an objective function from it...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A08E6-046A-2693-36CD-A9619D91F3AB}"/>
              </a:ext>
            </a:extLst>
          </p:cNvPr>
          <p:cNvSpPr txBox="1"/>
          <p:nvPr/>
        </p:nvSpPr>
        <p:spPr>
          <a:xfrm>
            <a:off x="3179886" y="1906302"/>
            <a:ext cx="4995004" cy="161582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spectrum = </a:t>
            </a:r>
            <a:r>
              <a:rPr lang="en-US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sample.parameterized_spectrum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</a:t>
            </a:r>
            <a:b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US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parameters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=[</a:t>
            </a:r>
            <a:r>
              <a:rPr lang="en-US" sz="1100">
                <a:solidFill>
                  <a:srgbClr val="6A8759"/>
                </a:solidFill>
                <a:highlight>
                  <a:srgbClr val="2B2B2B"/>
                </a:highlight>
                <a:latin typeface="Consolas"/>
              </a:rPr>
              <a:t>"</a:t>
            </a:r>
            <a:r>
              <a:rPr lang="en-US" sz="1100" err="1">
                <a:solidFill>
                  <a:srgbClr val="6A8759"/>
                </a:solidFill>
                <a:highlight>
                  <a:srgbClr val="2B2B2B"/>
                </a:highlight>
                <a:latin typeface="Consolas"/>
              </a:rPr>
              <a:t>J.j</a:t>
            </a:r>
            <a:r>
              <a:rPr lang="en-US" sz="1100">
                <a:solidFill>
                  <a:srgbClr val="6A8759"/>
                </a:solidFill>
                <a:highlight>
                  <a:srgbClr val="2B2B2B"/>
                </a:highlight>
                <a:latin typeface="Consolas"/>
              </a:rPr>
              <a:t>"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US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path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=path1D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US" sz="11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n_energy_bins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n_energy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US" sz="11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n_samples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n_samples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US" sz="11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energy_stddev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0.4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</a:t>
            </a:r>
            <a:b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</a:b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US" sz="11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find_ground_state_with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={</a:t>
            </a:r>
            <a:r>
              <a:rPr lang="en-US" sz="1100">
                <a:solidFill>
                  <a:srgbClr val="6A8759"/>
                </a:solidFill>
                <a:highlight>
                  <a:srgbClr val="2B2B2B"/>
                </a:highlight>
                <a:latin typeface="Consolas"/>
              </a:rPr>
              <a:t>"fixed"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: [x]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US" sz="1100">
                <a:solidFill>
                  <a:srgbClr val="6A8759"/>
                </a:solidFill>
                <a:highlight>
                  <a:srgbClr val="2B2B2B"/>
                </a:highlight>
                <a:latin typeface="Consolas"/>
              </a:rPr>
              <a:t>"verbose"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: 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False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})</a:t>
            </a:r>
          </a:p>
          <a:p>
            <a:endParaRPr lang="en-US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B7091-1DB4-25FA-6BF4-6A0C57F76272}"/>
              </a:ext>
            </a:extLst>
          </p:cNvPr>
          <p:cNvSpPr txBox="1">
            <a:spLocks/>
          </p:cNvSpPr>
          <p:nvPr/>
        </p:nvSpPr>
        <p:spPr>
          <a:xfrm>
            <a:off x="2445139" y="5212230"/>
            <a:ext cx="5180672" cy="51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  <a:defRPr sz="24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GB"/>
              <a:t>Minimise...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070399-7A99-1B57-9D7C-A9981E1D8CA0}"/>
              </a:ext>
            </a:extLst>
          </p:cNvPr>
          <p:cNvSpPr txBox="1"/>
          <p:nvPr/>
        </p:nvSpPr>
        <p:spPr>
          <a:xfrm>
            <a:off x="2217861" y="4168490"/>
            <a:ext cx="4995004" cy="76944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def </a:t>
            </a:r>
            <a:r>
              <a:rPr lang="en-US" sz="1100">
                <a:solidFill>
                  <a:srgbClr val="FFC66D"/>
                </a:solidFill>
                <a:highlight>
                  <a:srgbClr val="2B2B2B"/>
                </a:highlight>
                <a:latin typeface="Consolas"/>
              </a:rPr>
              <a:t>objective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(x):</a:t>
            </a:r>
            <a:b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</a:b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    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return 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(target - spectrum(x)).reshape(-</a:t>
            </a:r>
            <a:r>
              <a:rPr lang="en-US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endParaRPr lang="en-US"/>
          </a:p>
          <a:p>
            <a:endParaRPr lang="en-US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641967-5717-DE2A-C31B-EA45CA31EF4C}"/>
              </a:ext>
            </a:extLst>
          </p:cNvPr>
          <p:cNvSpPr txBox="1"/>
          <p:nvPr/>
        </p:nvSpPr>
        <p:spPr>
          <a:xfrm>
            <a:off x="3937124" y="5602002"/>
            <a:ext cx="7942991" cy="76944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  <a:p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bounds = Bounds([</a:t>
            </a:r>
            <a:r>
              <a:rPr lang="en-US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0.5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[</a:t>
            </a:r>
            <a:r>
              <a:rPr lang="en-US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1.5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])</a:t>
            </a:r>
            <a:endParaRPr lang="en-US"/>
          </a:p>
          <a:p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solution = </a:t>
            </a:r>
            <a:r>
              <a:rPr lang="en-US" sz="1100" err="1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least_squares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(objective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US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x0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1.0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US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bounds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=bounds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US" sz="1100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callback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=callback</a:t>
            </a:r>
            <a:r>
              <a:rPr lang="en-US" sz="1100">
                <a:solidFill>
                  <a:srgbClr val="CC7832"/>
                </a:solidFill>
                <a:highlight>
                  <a:srgbClr val="2B2B2B"/>
                </a:highlight>
                <a:latin typeface="Consolas"/>
              </a:rPr>
              <a:t>, </a:t>
            </a:r>
            <a:r>
              <a:rPr lang="en-US" sz="1100" err="1">
                <a:solidFill>
                  <a:srgbClr val="AA4926"/>
                </a:solidFill>
                <a:highlight>
                  <a:srgbClr val="2B2B2B"/>
                </a:highlight>
                <a:latin typeface="Consolas"/>
              </a:rPr>
              <a:t>diff_step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=</a:t>
            </a:r>
            <a:r>
              <a:rPr lang="en-US" sz="1100">
                <a:solidFill>
                  <a:srgbClr val="6897BB"/>
                </a:solidFill>
                <a:highlight>
                  <a:srgbClr val="2B2B2B"/>
                </a:highlight>
                <a:latin typeface="Consolas"/>
              </a:rPr>
              <a:t>1e-2</a:t>
            </a:r>
            <a:r>
              <a:rPr lang="en-US" sz="1100">
                <a:solidFill>
                  <a:srgbClr val="A9B7C6"/>
                </a:solidFill>
                <a:highlight>
                  <a:srgbClr val="2B2B2B"/>
                </a:highlight>
                <a:latin typeface="Consolas"/>
              </a:rPr>
              <a:t>)</a:t>
            </a:r>
            <a:endParaRPr lang="en-US"/>
          </a:p>
          <a:p>
            <a:endParaRPr lang="en-US" sz="1100">
              <a:solidFill>
                <a:srgbClr val="A9B7C6"/>
              </a:solidFill>
              <a:highlight>
                <a:srgbClr val="2B2B2B"/>
              </a:highlight>
              <a:latin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69A36-C62D-7114-9E2E-0655840562BA}"/>
              </a:ext>
            </a:extLst>
          </p:cNvPr>
          <p:cNvSpPr txBox="1"/>
          <p:nvPr/>
        </p:nvSpPr>
        <p:spPr>
          <a:xfrm>
            <a:off x="8943975" y="566737"/>
            <a:ext cx="28194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/>
              <a:t>powder_fitting.py</a:t>
            </a:r>
          </a:p>
        </p:txBody>
      </p:sp>
    </p:spTree>
    <p:extLst>
      <p:ext uri="{BB962C8B-B14F-4D97-AF65-F5344CB8AC3E}">
        <p14:creationId xmlns:p14="http://schemas.microsoft.com/office/powerpoint/2010/main" val="22597841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F498-C2C7-2F90-C2F1-2C99BC01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22EB-8B0D-4FA3-C369-37D2E3EB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63486-F939-44CF-C667-4CE181CC6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8516797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7ED2-0260-1FC8-5AA4-894C08FA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2DAB-2209-5720-CA70-3D7F02A4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8DD70-411B-F7F8-7005-040B028FD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endParaRPr lang="en-GB" sz="3200" b="1">
              <a:solidFill>
                <a:schemeClr val="accent2"/>
              </a:solidFill>
            </a:endParaRPr>
          </a:p>
          <a:p>
            <a:pPr marL="114300" indent="0" algn="ctr">
              <a:buNone/>
            </a:pPr>
            <a:r>
              <a:rPr lang="en-GB" sz="4800" b="1">
                <a:solidFill>
                  <a:schemeClr val="accent2"/>
                </a:solidFill>
              </a:rPr>
              <a:t>Exercises: 05_samples.py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3DAFF-847E-A989-BA1B-8DF432214579}"/>
              </a:ext>
            </a:extLst>
          </p:cNvPr>
          <p:cNvSpPr txBox="1"/>
          <p:nvPr/>
        </p:nvSpPr>
        <p:spPr>
          <a:xfrm>
            <a:off x="3594340" y="4866736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2"/>
              </a:rPr>
              <a:t>www.github.com/spinw/munich26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0939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08900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575304" y="-9144"/>
            <a:ext cx="8622792" cy="6867144"/>
          </a:xfrm>
          <a:custGeom>
            <a:avLst/>
            <a:gdLst>
              <a:gd name="connsiteX0" fmla="*/ 0 w 8622792"/>
              <a:gd name="connsiteY0" fmla="*/ 0 h 6867144"/>
              <a:gd name="connsiteX1" fmla="*/ 5276088 w 8622792"/>
              <a:gd name="connsiteY1" fmla="*/ 6867144 h 6867144"/>
              <a:gd name="connsiteX2" fmla="*/ 7708392 w 8622792"/>
              <a:gd name="connsiteY2" fmla="*/ 6848856 h 6867144"/>
              <a:gd name="connsiteX3" fmla="*/ 7690104 w 8622792"/>
              <a:gd name="connsiteY3" fmla="*/ 1289304 h 6867144"/>
              <a:gd name="connsiteX4" fmla="*/ 8622792 w 8622792"/>
              <a:gd name="connsiteY4" fmla="*/ 1280160 h 6867144"/>
              <a:gd name="connsiteX5" fmla="*/ 8613648 w 8622792"/>
              <a:gd name="connsiteY5" fmla="*/ 9144 h 6867144"/>
              <a:gd name="connsiteX6" fmla="*/ 0 w 8622792"/>
              <a:gd name="connsiteY6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22792" h="6867144">
                <a:moveTo>
                  <a:pt x="0" y="0"/>
                </a:moveTo>
                <a:lnTo>
                  <a:pt x="5276088" y="6867144"/>
                </a:lnTo>
                <a:lnTo>
                  <a:pt x="7708392" y="6848856"/>
                </a:lnTo>
                <a:lnTo>
                  <a:pt x="7690104" y="1289304"/>
                </a:lnTo>
                <a:lnTo>
                  <a:pt x="8622792" y="1280160"/>
                </a:lnTo>
                <a:lnTo>
                  <a:pt x="8613648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3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0" name="Google Shape;41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3800" y="5912400"/>
            <a:ext cx="394693" cy="3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446" y="1750741"/>
            <a:ext cx="12192000" cy="510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4356" y="2813050"/>
            <a:ext cx="74422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1"/>
          <p:cNvSpPr/>
          <p:nvPr/>
        </p:nvSpPr>
        <p:spPr>
          <a:xfrm>
            <a:off x="2448506" y="5904254"/>
            <a:ext cx="20753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@ISISNeutronMuon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278393" y="5904254"/>
            <a:ext cx="14694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isis.stfc.ac.uk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5263239" y="5904000"/>
            <a:ext cx="25333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STFC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1" descr="A close-up of a person's face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5166" y="5994000"/>
            <a:ext cx="236330" cy="1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00" y="138900"/>
            <a:ext cx="3626894" cy="18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0147"/>
      </p:ext>
    </p:extLst>
  </p:cSld>
  <p:clrMapOvr>
    <a:masterClrMapping/>
  </p:clrMapOvr>
</p:sld>
</file>

<file path=ppt/theme/theme1.xml><?xml version="1.0" encoding="utf-8"?>
<a:theme xmlns:a="http://schemas.openxmlformats.org/drawingml/2006/main" name="Font and logo master">
  <a:themeElements>
    <a:clrScheme name="STF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1E5DF8"/>
      </a:accent1>
      <a:accent2>
        <a:srgbClr val="003088"/>
      </a:accent2>
      <a:accent3>
        <a:srgbClr val="F08900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8DED1542C1943A1290884108DB0E9" ma:contentTypeVersion="2" ma:contentTypeDescription="Create a new document." ma:contentTypeScope="" ma:versionID="75948dd912159fd788ffcd9de450d66e">
  <xsd:schema xmlns:xsd="http://www.w3.org/2001/XMLSchema" xmlns:xs="http://www.w3.org/2001/XMLSchema" xmlns:p="http://schemas.microsoft.com/office/2006/metadata/properties" xmlns:ns2="84978530-c7a6-42d8-babd-8b8d2b751aa6" targetNamespace="http://schemas.microsoft.com/office/2006/metadata/properties" ma:root="true" ma:fieldsID="c49709bdc75a7754cac99811eaeb298a" ns2:_="">
    <xsd:import namespace="84978530-c7a6-42d8-babd-8b8d2b751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978530-c7a6-42d8-babd-8b8d2b751a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4A9CD3-1715-40A4-A7ED-40D8563902F1}">
  <ds:schemaRefs>
    <ds:schemaRef ds:uri="84978530-c7a6-42d8-babd-8b8d2b751a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640F081-B534-46A2-819D-E57C6B0793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BFA9FD-3FBA-4858-A828-8FC9E7876A58}">
  <ds:schemaRefs>
    <ds:schemaRef ds:uri="84978530-c7a6-42d8-babd-8b8d2b751a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Font and logo master</vt:lpstr>
      <vt:lpstr>PowerPoint Presentation</vt:lpstr>
      <vt:lpstr>Before we begin</vt:lpstr>
      <vt:lpstr>Contents</vt:lpstr>
      <vt:lpstr>Hamiltonian</vt:lpstr>
      <vt:lpstr>Steps in a Spin Wave Calculation</vt:lpstr>
      <vt:lpstr>Holstein-Primakoff Transformation</vt:lpstr>
      <vt:lpstr>Hamiltonian</vt:lpstr>
      <vt:lpstr>Hamiltonian</vt:lpstr>
      <vt:lpstr>Incommensurate structure</vt:lpstr>
      <vt:lpstr>PowerPoint Presentation</vt:lpstr>
      <vt:lpstr>Some History of the SpinW Organisation</vt:lpstr>
      <vt:lpstr>PySpinW vs SpinW Design</vt:lpstr>
      <vt:lpstr>PySpinW Object Construction</vt:lpstr>
      <vt:lpstr>Documentation</vt:lpstr>
      <vt:lpstr>Github Issues</vt:lpstr>
      <vt:lpstr>PowerPoint Presentation</vt:lpstr>
      <vt:lpstr>PySpinW Coordinates</vt:lpstr>
      <vt:lpstr>Magnetic Structure</vt:lpstr>
      <vt:lpstr>Magnetic Structure</vt:lpstr>
      <vt:lpstr>Exchanges</vt:lpstr>
      <vt:lpstr>Exchange Classes</vt:lpstr>
      <vt:lpstr>Filters</vt:lpstr>
      <vt:lpstr>Hamiltonian</vt:lpstr>
      <vt:lpstr>Anisotropies</vt:lpstr>
      <vt:lpstr>Viewer</vt:lpstr>
      <vt:lpstr>PowerPoint Presentation</vt:lpstr>
      <vt:lpstr>PowerPoint Presentation</vt:lpstr>
      <vt:lpstr>Space Groups</vt:lpstr>
      <vt:lpstr>Spacegroup Example</vt:lpstr>
      <vt:lpstr>Supercells</vt:lpstr>
      <vt:lpstr>TiledSupercell</vt:lpstr>
      <vt:lpstr>TransformationSupercell</vt:lpstr>
      <vt:lpstr>Summation Supercell</vt:lpstr>
      <vt:lpstr>RotationSupercell: The Incommensurate One</vt:lpstr>
      <vt:lpstr>Magnetic Structure Optimisation</vt:lpstr>
      <vt:lpstr>Parameterisation</vt:lpstr>
      <vt:lpstr>PowerPoint Presentation</vt:lpstr>
      <vt:lpstr>PowerPoint Presentation</vt:lpstr>
      <vt:lpstr>Rotating frame example</vt:lpstr>
      <vt:lpstr>Rotating frame example</vt:lpstr>
      <vt:lpstr>Rotating frame with anisotropy</vt:lpstr>
      <vt:lpstr>Rotating frame with anisotropy</vt:lpstr>
      <vt:lpstr>PowerPoint Presentation</vt:lpstr>
      <vt:lpstr>PowerPoint Presentation</vt:lpstr>
      <vt:lpstr>Summary</vt:lpstr>
      <vt:lpstr>PowerPoint Presentation</vt:lpstr>
      <vt:lpstr>Spin-spin correlation function</vt:lpstr>
      <vt:lpstr>Blume-Maleev coordinates</vt:lpstr>
      <vt:lpstr>Polarised neutron example</vt:lpstr>
      <vt:lpstr>PowerPoint Presentation</vt:lpstr>
      <vt:lpstr>PowerPoint Presentation</vt:lpstr>
      <vt:lpstr>Sample Classes</vt:lpstr>
      <vt:lpstr>Twin</vt:lpstr>
      <vt:lpstr>Twin Example</vt:lpstr>
      <vt:lpstr>Twinned Crystal</vt:lpstr>
      <vt:lpstr>Powder average</vt:lpstr>
      <vt:lpstr>Powder Fitting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 Millard</dc:creator>
  <cp:revision>6</cp:revision>
  <dcterms:created xsi:type="dcterms:W3CDTF">2019-09-17T08:04:08Z</dcterms:created>
  <dcterms:modified xsi:type="dcterms:W3CDTF">2026-04-15T09:11:58Z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0x0101005038DED1542C1943A1290884108DB0E9</vt:lpwstr>
  </property>
  <property fmtid="{D5CDD505-2E9C-101B-9397-08002B2CF9AE}" pid="3" name="_dlc_DocIdItemGuid">
    <vt:lpwstr>7d6dd9f8-2757-4d2f-b6c5-c8fdb553a0d1</vt:lpwstr>
  </property>
</Properties>
</file>